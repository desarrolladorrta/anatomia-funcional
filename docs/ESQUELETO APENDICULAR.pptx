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9" r:id="rId3"/>
    <p:sldId id="257" r:id="rId4"/>
    <p:sldId id="333" r:id="rId5"/>
    <p:sldId id="266" r:id="rId6"/>
    <p:sldId id="334" r:id="rId7"/>
    <p:sldId id="335" r:id="rId8"/>
    <p:sldId id="336" r:id="rId9"/>
    <p:sldId id="337" r:id="rId10"/>
    <p:sldId id="331" r:id="rId11"/>
    <p:sldId id="271" r:id="rId12"/>
    <p:sldId id="342" r:id="rId13"/>
    <p:sldId id="343" r:id="rId14"/>
    <p:sldId id="344" r:id="rId15"/>
    <p:sldId id="345" r:id="rId16"/>
    <p:sldId id="366" r:id="rId17"/>
    <p:sldId id="274" r:id="rId18"/>
    <p:sldId id="346" r:id="rId19"/>
    <p:sldId id="367" r:id="rId20"/>
    <p:sldId id="348" r:id="rId21"/>
    <p:sldId id="368" r:id="rId22"/>
    <p:sldId id="349" r:id="rId23"/>
    <p:sldId id="369" r:id="rId24"/>
    <p:sldId id="352" r:id="rId25"/>
    <p:sldId id="370" r:id="rId26"/>
    <p:sldId id="313" r:id="rId27"/>
    <p:sldId id="371" r:id="rId28"/>
    <p:sldId id="372" r:id="rId29"/>
    <p:sldId id="374" r:id="rId30"/>
    <p:sldId id="375" r:id="rId31"/>
    <p:sldId id="353" r:id="rId32"/>
    <p:sldId id="355" r:id="rId33"/>
    <p:sldId id="376" r:id="rId34"/>
    <p:sldId id="377" r:id="rId35"/>
    <p:sldId id="357" r:id="rId36"/>
    <p:sldId id="358" r:id="rId37"/>
    <p:sldId id="360" r:id="rId38"/>
    <p:sldId id="378" r:id="rId39"/>
    <p:sldId id="379" r:id="rId40"/>
    <p:sldId id="380" r:id="rId41"/>
    <p:sldId id="362" r:id="rId42"/>
    <p:sldId id="364" r:id="rId43"/>
    <p:sldId id="381" r:id="rId44"/>
    <p:sldId id="382" r:id="rId45"/>
    <p:sldId id="383" r:id="rId46"/>
    <p:sldId id="384" r:id="rId47"/>
    <p:sldId id="363" r:id="rId48"/>
    <p:sldId id="314" r:id="rId49"/>
    <p:sldId id="259" r:id="rId50"/>
    <p:sldId id="338" r:id="rId51"/>
    <p:sldId id="385" r:id="rId52"/>
    <p:sldId id="339" r:id="rId53"/>
    <p:sldId id="340" r:id="rId54"/>
    <p:sldId id="341" r:id="rId55"/>
    <p:sldId id="386" r:id="rId56"/>
    <p:sldId id="332" r:id="rId57"/>
    <p:sldId id="387" r:id="rId58"/>
    <p:sldId id="404" r:id="rId59"/>
    <p:sldId id="405" r:id="rId60"/>
    <p:sldId id="406" r:id="rId61"/>
    <p:sldId id="315" r:id="rId62"/>
    <p:sldId id="389" r:id="rId63"/>
    <p:sldId id="390" r:id="rId64"/>
    <p:sldId id="392" r:id="rId65"/>
    <p:sldId id="316" r:id="rId66"/>
    <p:sldId id="393" r:id="rId67"/>
    <p:sldId id="394" r:id="rId68"/>
    <p:sldId id="407" r:id="rId69"/>
    <p:sldId id="408" r:id="rId70"/>
    <p:sldId id="409" r:id="rId71"/>
    <p:sldId id="396" r:id="rId72"/>
    <p:sldId id="397" r:id="rId73"/>
    <p:sldId id="398" r:id="rId74"/>
    <p:sldId id="399" r:id="rId75"/>
    <p:sldId id="410" r:id="rId76"/>
    <p:sldId id="400" r:id="rId77"/>
    <p:sldId id="401" r:id="rId78"/>
    <p:sldId id="402" r:id="rId79"/>
    <p:sldId id="318" r:id="rId80"/>
    <p:sldId id="403" r:id="rId81"/>
    <p:sldId id="319" r:id="rId82"/>
    <p:sldId id="320" r:id="rId83"/>
    <p:sldId id="261" r:id="rId84"/>
    <p:sldId id="411" r:id="rId85"/>
    <p:sldId id="412" r:id="rId86"/>
    <p:sldId id="413" r:id="rId87"/>
    <p:sldId id="414" r:id="rId88"/>
    <p:sldId id="415" r:id="rId89"/>
    <p:sldId id="416" r:id="rId90"/>
    <p:sldId id="424" r:id="rId91"/>
    <p:sldId id="425" r:id="rId92"/>
    <p:sldId id="426" r:id="rId93"/>
    <p:sldId id="417" r:id="rId94"/>
    <p:sldId id="418" r:id="rId95"/>
    <p:sldId id="419" r:id="rId96"/>
    <p:sldId id="420" r:id="rId97"/>
    <p:sldId id="421" r:id="rId98"/>
    <p:sldId id="422" r:id="rId99"/>
    <p:sldId id="428" r:id="rId100"/>
    <p:sldId id="423" r:id="rId101"/>
    <p:sldId id="429" r:id="rId102"/>
    <p:sldId id="430" r:id="rId103"/>
    <p:sldId id="431" r:id="rId104"/>
    <p:sldId id="433" r:id="rId105"/>
    <p:sldId id="434" r:id="rId106"/>
    <p:sldId id="435" r:id="rId107"/>
    <p:sldId id="436" r:id="rId108"/>
    <p:sldId id="459" r:id="rId109"/>
    <p:sldId id="437" r:id="rId110"/>
    <p:sldId id="460" r:id="rId111"/>
    <p:sldId id="438" r:id="rId112"/>
    <p:sldId id="439" r:id="rId113"/>
    <p:sldId id="440" r:id="rId114"/>
    <p:sldId id="441" r:id="rId115"/>
    <p:sldId id="442" r:id="rId116"/>
    <p:sldId id="443" r:id="rId117"/>
    <p:sldId id="444" r:id="rId118"/>
    <p:sldId id="445" r:id="rId119"/>
    <p:sldId id="446" r:id="rId120"/>
    <p:sldId id="447" r:id="rId121"/>
    <p:sldId id="448" r:id="rId122"/>
    <p:sldId id="449" r:id="rId123"/>
    <p:sldId id="450" r:id="rId124"/>
    <p:sldId id="451" r:id="rId125"/>
    <p:sldId id="452" r:id="rId126"/>
    <p:sldId id="453" r:id="rId127"/>
    <p:sldId id="461" r:id="rId128"/>
    <p:sldId id="455" r:id="rId129"/>
    <p:sldId id="456" r:id="rId130"/>
    <p:sldId id="457" r:id="rId131"/>
    <p:sldId id="458" r:id="rId132"/>
    <p:sldId id="262" r:id="rId133"/>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809" autoAdjust="0"/>
    <p:restoredTop sz="94660"/>
  </p:normalViewPr>
  <p:slideViewPr>
    <p:cSldViewPr snapToGrid="0">
      <p:cViewPr varScale="1">
        <p:scale>
          <a:sx n="73" d="100"/>
          <a:sy n="73" d="100"/>
        </p:scale>
        <p:origin x="58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iapositiva de título">
    <p:spTree>
      <p:nvGrpSpPr>
        <p:cNvPr id="1" name=""/>
        <p:cNvGrpSpPr/>
        <p:nvPr/>
      </p:nvGrpSpPr>
      <p:grpSpPr>
        <a:xfrm>
          <a:off x="0" y="0"/>
          <a:ext cx="0" cy="0"/>
          <a:chOff x="0" y="0"/>
          <a:chExt cx="0" cy="0"/>
        </a:xfrm>
      </p:grpSpPr>
      <p:sp>
        <p:nvSpPr>
          <p:cNvPr id="6" name="Marcador de número de diapositiva 5"/>
          <p:cNvSpPr>
            <a:spLocks noGrp="1"/>
          </p:cNvSpPr>
          <p:nvPr>
            <p:ph type="sldNum" sz="quarter" idx="12"/>
          </p:nvPr>
        </p:nvSpPr>
        <p:spPr>
          <a:xfrm>
            <a:off x="8686800" y="5661025"/>
            <a:ext cx="2743200" cy="365125"/>
          </a:xfrm>
          <a:prstGeom prst="rect">
            <a:avLst/>
          </a:prstGeom>
        </p:spPr>
        <p:txBody>
          <a:bodyPr/>
          <a:lstStyle>
            <a:lvl1pPr>
              <a:defRPr>
                <a:solidFill>
                  <a:schemeClr val="bg1"/>
                </a:solidFill>
              </a:defRPr>
            </a:lvl1pPr>
          </a:lstStyle>
          <a:p>
            <a:fld id="{FE609833-A38D-4EB6-901E-6156D1A180FF}" type="slidenum">
              <a:rPr lang="es-CO" smtClean="0"/>
              <a:pPr/>
              <a:t>‹Nº›</a:t>
            </a:fld>
            <a:endParaRPr lang="es-CO" dirty="0"/>
          </a:p>
        </p:txBody>
      </p:sp>
      <p:sp>
        <p:nvSpPr>
          <p:cNvPr id="7" name="Marcador de título 1"/>
          <p:cNvSpPr>
            <a:spLocks noGrp="1"/>
          </p:cNvSpPr>
          <p:nvPr>
            <p:ph type="title"/>
          </p:nvPr>
        </p:nvSpPr>
        <p:spPr>
          <a:xfrm>
            <a:off x="1257300" y="2095500"/>
            <a:ext cx="7067550" cy="2747963"/>
          </a:xfrm>
          <a:prstGeom prst="rect">
            <a:avLst/>
          </a:prstGeom>
        </p:spPr>
        <p:txBody>
          <a:bodyPr vert="horz" lIns="91440" tIns="45720" rIns="91440" bIns="45720" rtlCol="0" anchor="ctr">
            <a:noAutofit/>
          </a:bodyPr>
          <a:lstStyle/>
          <a:p>
            <a:r>
              <a:rPr lang="es-ES" smtClean="0"/>
              <a:t>Haga clic para modificar el estilo de título del patrón</a:t>
            </a:r>
            <a:endParaRPr lang="es-CO" dirty="0"/>
          </a:p>
        </p:txBody>
      </p:sp>
    </p:spTree>
    <p:extLst>
      <p:ext uri="{BB962C8B-B14F-4D97-AF65-F5344CB8AC3E}">
        <p14:creationId xmlns:p14="http://schemas.microsoft.com/office/powerpoint/2010/main" val="17446620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ítulo y objeto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Marcador de número de diapositiva 5"/>
          <p:cNvSpPr>
            <a:spLocks noGrp="1"/>
          </p:cNvSpPr>
          <p:nvPr>
            <p:ph type="sldNum" sz="quarter" idx="12"/>
          </p:nvPr>
        </p:nvSpPr>
        <p:spPr>
          <a:xfrm>
            <a:off x="506413" y="5721351"/>
            <a:ext cx="2743200" cy="365125"/>
          </a:xfrm>
          <a:prstGeom prst="rect">
            <a:avLst/>
          </a:prstGeom>
        </p:spPr>
        <p:txBody>
          <a:bodyPr/>
          <a:lstStyle>
            <a:lvl1pPr algn="l">
              <a:defRPr>
                <a:solidFill>
                  <a:schemeClr val="tx1"/>
                </a:solidFill>
              </a:defRPr>
            </a:lvl1pPr>
          </a:lstStyle>
          <a:p>
            <a:fld id="{FE609833-A38D-4EB6-901E-6156D1A180FF}" type="slidenum">
              <a:rPr lang="es-CO" smtClean="0"/>
              <a:pPr/>
              <a:t>‹Nº›</a:t>
            </a:fld>
            <a:endParaRPr lang="es-CO"/>
          </a:p>
        </p:txBody>
      </p:sp>
      <p:sp>
        <p:nvSpPr>
          <p:cNvPr id="8" name="Marcador de texto 2"/>
          <p:cNvSpPr>
            <a:spLocks noGrp="1"/>
          </p:cNvSpPr>
          <p:nvPr>
            <p:ph type="body" idx="1" hasCustomPrompt="1"/>
          </p:nvPr>
        </p:nvSpPr>
        <p:spPr>
          <a:xfrm>
            <a:off x="506413" y="1962150"/>
            <a:ext cx="5551487" cy="3543300"/>
          </a:xfrm>
          <a:prstGeom prst="rect">
            <a:avLst/>
          </a:prstGeom>
        </p:spPr>
        <p:txBody>
          <a:bodyPr anchor="t"/>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dirty="0" smtClean="0"/>
              <a:t>Editar el texto del contenido</a:t>
            </a:r>
          </a:p>
        </p:txBody>
      </p:sp>
    </p:spTree>
    <p:extLst>
      <p:ext uri="{BB962C8B-B14F-4D97-AF65-F5344CB8AC3E}">
        <p14:creationId xmlns:p14="http://schemas.microsoft.com/office/powerpoint/2010/main" val="14537962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ncabezado de secció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Marcador de número de diapositiva 5"/>
          <p:cNvSpPr>
            <a:spLocks noGrp="1"/>
          </p:cNvSpPr>
          <p:nvPr>
            <p:ph type="sldNum" sz="quarter" idx="12"/>
          </p:nvPr>
        </p:nvSpPr>
        <p:spPr>
          <a:xfrm>
            <a:off x="496888" y="6022974"/>
            <a:ext cx="2743200" cy="365125"/>
          </a:xfrm>
          <a:prstGeom prst="rect">
            <a:avLst/>
          </a:prstGeom>
        </p:spPr>
        <p:txBody>
          <a:bodyPr/>
          <a:lstStyle>
            <a:lvl1pPr algn="l">
              <a:defRPr>
                <a:solidFill>
                  <a:schemeClr val="tx1"/>
                </a:solidFill>
              </a:defRPr>
            </a:lvl1pPr>
          </a:lstStyle>
          <a:p>
            <a:fld id="{FE609833-A38D-4EB6-901E-6156D1A180FF}" type="slidenum">
              <a:rPr lang="es-CO" smtClean="0"/>
              <a:pPr/>
              <a:t>‹Nº›</a:t>
            </a:fld>
            <a:endParaRPr lang="es-CO"/>
          </a:p>
        </p:txBody>
      </p:sp>
      <p:sp>
        <p:nvSpPr>
          <p:cNvPr id="7" name="Marcador de texto 2"/>
          <p:cNvSpPr>
            <a:spLocks noGrp="1"/>
          </p:cNvSpPr>
          <p:nvPr>
            <p:ph type="body" idx="1" hasCustomPrompt="1"/>
          </p:nvPr>
        </p:nvSpPr>
        <p:spPr>
          <a:xfrm>
            <a:off x="496888" y="1962150"/>
            <a:ext cx="11199812" cy="3543300"/>
          </a:xfrm>
          <a:prstGeom prst="rect">
            <a:avLst/>
          </a:prstGeom>
        </p:spPr>
        <p:txBody>
          <a:bodyPr anchor="t"/>
          <a:lstStyle>
            <a:lvl1pPr marL="0" indent="0">
              <a:buNone/>
              <a:defRPr sz="2800" b="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dirty="0" smtClean="0"/>
              <a:t>Editar el texto del contenido</a:t>
            </a:r>
          </a:p>
          <a:p>
            <a:pPr lvl="0"/>
            <a:endParaRPr lang="es-ES" dirty="0" smtClean="0"/>
          </a:p>
        </p:txBody>
      </p:sp>
    </p:spTree>
    <p:extLst>
      <p:ext uri="{BB962C8B-B14F-4D97-AF65-F5344CB8AC3E}">
        <p14:creationId xmlns:p14="http://schemas.microsoft.com/office/powerpoint/2010/main" val="3755204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os objeto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Marcador de texto 2"/>
          <p:cNvSpPr>
            <a:spLocks noGrp="1"/>
          </p:cNvSpPr>
          <p:nvPr>
            <p:ph type="body" idx="1" hasCustomPrompt="1"/>
          </p:nvPr>
        </p:nvSpPr>
        <p:spPr>
          <a:xfrm>
            <a:off x="4792663" y="1800225"/>
            <a:ext cx="6886575" cy="3543300"/>
          </a:xfrm>
          <a:prstGeom prst="rect">
            <a:avLst/>
          </a:prstGeom>
        </p:spPr>
        <p:txBody>
          <a:bodyPr anchor="t"/>
          <a:lstStyle>
            <a:lvl1pPr marL="0" indent="0">
              <a:buNone/>
              <a:defRPr sz="2400" b="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dirty="0" smtClean="0"/>
              <a:t>Editar el texto del contenido</a:t>
            </a:r>
          </a:p>
        </p:txBody>
      </p:sp>
      <p:sp>
        <p:nvSpPr>
          <p:cNvPr id="9" name="Marcador de número de diapositiva 5"/>
          <p:cNvSpPr>
            <a:spLocks noGrp="1"/>
          </p:cNvSpPr>
          <p:nvPr>
            <p:ph type="sldNum" sz="quarter" idx="12"/>
          </p:nvPr>
        </p:nvSpPr>
        <p:spPr>
          <a:xfrm>
            <a:off x="8936038" y="5683251"/>
            <a:ext cx="2743200" cy="365125"/>
          </a:xfrm>
          <a:prstGeom prst="rect">
            <a:avLst/>
          </a:prstGeom>
        </p:spPr>
        <p:txBody>
          <a:bodyPr/>
          <a:lstStyle>
            <a:lvl1pPr algn="r">
              <a:defRPr>
                <a:solidFill>
                  <a:schemeClr val="tx1"/>
                </a:solidFill>
              </a:defRPr>
            </a:lvl1pPr>
          </a:lstStyle>
          <a:p>
            <a:fld id="{FE609833-A38D-4EB6-901E-6156D1A180FF}" type="slidenum">
              <a:rPr lang="es-CO" smtClean="0"/>
              <a:pPr/>
              <a:t>‹Nº›</a:t>
            </a:fld>
            <a:endParaRPr lang="es-CO"/>
          </a:p>
        </p:txBody>
      </p:sp>
    </p:spTree>
    <p:extLst>
      <p:ext uri="{BB962C8B-B14F-4D97-AF65-F5344CB8AC3E}">
        <p14:creationId xmlns:p14="http://schemas.microsoft.com/office/powerpoint/2010/main" val="619680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ació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Marcador de texto 2"/>
          <p:cNvSpPr>
            <a:spLocks noGrp="1"/>
          </p:cNvSpPr>
          <p:nvPr>
            <p:ph type="body" idx="1" hasCustomPrompt="1"/>
          </p:nvPr>
        </p:nvSpPr>
        <p:spPr>
          <a:xfrm>
            <a:off x="4030663" y="1809750"/>
            <a:ext cx="7580312" cy="3543300"/>
          </a:xfrm>
          <a:prstGeom prst="rect">
            <a:avLst/>
          </a:prstGeom>
        </p:spPr>
        <p:txBody>
          <a:bodyPr anchor="t"/>
          <a:lstStyle>
            <a:lvl1pPr marL="0" indent="0">
              <a:buNone/>
              <a:defRPr sz="2400" b="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dirty="0" smtClean="0"/>
              <a:t>Editar el texto del contenido</a:t>
            </a:r>
          </a:p>
        </p:txBody>
      </p:sp>
      <p:sp>
        <p:nvSpPr>
          <p:cNvPr id="11" name="Marcador de número de diapositiva 5"/>
          <p:cNvSpPr>
            <a:spLocks noGrp="1"/>
          </p:cNvSpPr>
          <p:nvPr>
            <p:ph type="sldNum" sz="quarter" idx="12"/>
          </p:nvPr>
        </p:nvSpPr>
        <p:spPr>
          <a:xfrm>
            <a:off x="477838" y="5635626"/>
            <a:ext cx="2036762" cy="365125"/>
          </a:xfrm>
          <a:prstGeom prst="rect">
            <a:avLst/>
          </a:prstGeom>
        </p:spPr>
        <p:txBody>
          <a:bodyPr/>
          <a:lstStyle>
            <a:lvl1pPr algn="l">
              <a:defRPr>
                <a:solidFill>
                  <a:schemeClr val="tx1"/>
                </a:solidFill>
              </a:defRPr>
            </a:lvl1pPr>
          </a:lstStyle>
          <a:p>
            <a:fld id="{FE609833-A38D-4EB6-901E-6156D1A180FF}" type="slidenum">
              <a:rPr lang="es-CO" smtClean="0"/>
              <a:pPr/>
              <a:t>‹Nº›</a:t>
            </a:fld>
            <a:endParaRPr lang="es-CO"/>
          </a:p>
        </p:txBody>
      </p:sp>
      <p:sp>
        <p:nvSpPr>
          <p:cNvPr id="12" name="Marcador de texto 2"/>
          <p:cNvSpPr>
            <a:spLocks noGrp="1"/>
          </p:cNvSpPr>
          <p:nvPr>
            <p:ph type="body" idx="13" hasCustomPrompt="1"/>
          </p:nvPr>
        </p:nvSpPr>
        <p:spPr>
          <a:xfrm>
            <a:off x="477838" y="1809750"/>
            <a:ext cx="2808287" cy="3543300"/>
          </a:xfrm>
          <a:prstGeom prst="rect">
            <a:avLst/>
          </a:prstGeom>
        </p:spPr>
        <p:txBody>
          <a:bodyPr anchor="t"/>
          <a:lstStyle>
            <a:lvl1pPr marL="0" indent="0">
              <a:buNone/>
              <a:defRPr sz="2400" b="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dirty="0" smtClean="0"/>
              <a:t>Editar el texto del subtítulo</a:t>
            </a:r>
          </a:p>
        </p:txBody>
      </p:sp>
    </p:spTree>
    <p:extLst>
      <p:ext uri="{BB962C8B-B14F-4D97-AF65-F5344CB8AC3E}">
        <p14:creationId xmlns:p14="http://schemas.microsoft.com/office/powerpoint/2010/main" val="3923951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olo el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Marcador de texto 2"/>
          <p:cNvSpPr>
            <a:spLocks noGrp="1"/>
          </p:cNvSpPr>
          <p:nvPr>
            <p:ph type="body" idx="1" hasCustomPrompt="1"/>
          </p:nvPr>
        </p:nvSpPr>
        <p:spPr>
          <a:xfrm>
            <a:off x="496888" y="1905000"/>
            <a:ext cx="5741987" cy="3543300"/>
          </a:xfrm>
          <a:prstGeom prst="rect">
            <a:avLst/>
          </a:prstGeom>
        </p:spPr>
        <p:txBody>
          <a:bodyPr anchor="t"/>
          <a:lstStyle>
            <a:lvl1pPr marL="0" indent="0">
              <a:buNone/>
              <a:defRPr sz="2400" b="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dirty="0" smtClean="0"/>
              <a:t>Editar el texto del contenido</a:t>
            </a:r>
          </a:p>
        </p:txBody>
      </p:sp>
      <p:sp>
        <p:nvSpPr>
          <p:cNvPr id="7" name="Marcador de número de diapositiva 5"/>
          <p:cNvSpPr>
            <a:spLocks noGrp="1"/>
          </p:cNvSpPr>
          <p:nvPr>
            <p:ph type="sldNum" sz="quarter" idx="12"/>
          </p:nvPr>
        </p:nvSpPr>
        <p:spPr>
          <a:xfrm>
            <a:off x="496888" y="5673726"/>
            <a:ext cx="2036762" cy="365125"/>
          </a:xfrm>
          <a:prstGeom prst="rect">
            <a:avLst/>
          </a:prstGeom>
        </p:spPr>
        <p:txBody>
          <a:bodyPr/>
          <a:lstStyle>
            <a:lvl1pPr algn="l">
              <a:defRPr>
                <a:solidFill>
                  <a:schemeClr val="tx1"/>
                </a:solidFill>
              </a:defRPr>
            </a:lvl1pPr>
          </a:lstStyle>
          <a:p>
            <a:fld id="{FE609833-A38D-4EB6-901E-6156D1A180FF}" type="slidenum">
              <a:rPr lang="es-CO" smtClean="0"/>
              <a:pPr/>
              <a:t>‹Nº›</a:t>
            </a:fld>
            <a:endParaRPr lang="es-CO"/>
          </a:p>
        </p:txBody>
      </p:sp>
    </p:spTree>
    <p:extLst>
      <p:ext uri="{BB962C8B-B14F-4D97-AF65-F5344CB8AC3E}">
        <p14:creationId xmlns:p14="http://schemas.microsoft.com/office/powerpoint/2010/main" val="12251726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1727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9">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1257300" y="2095500"/>
            <a:ext cx="7067550" cy="2747963"/>
          </a:xfrm>
          <a:prstGeom prst="rect">
            <a:avLst/>
          </a:prstGeom>
        </p:spPr>
        <p:txBody>
          <a:bodyPr vert="horz" lIns="91440" tIns="45720" rIns="91440" bIns="45720" rtlCol="0" anchor="ctr">
            <a:noAutofit/>
          </a:bodyPr>
          <a:lstStyle/>
          <a:p>
            <a:r>
              <a:rPr lang="es-ES" dirty="0" smtClean="0"/>
              <a:t>Haga clic para modificar el título</a:t>
            </a:r>
            <a:endParaRPr lang="es-CO" dirty="0"/>
          </a:p>
        </p:txBody>
      </p:sp>
      <p:sp>
        <p:nvSpPr>
          <p:cNvPr id="7" name="Marcador de número de diapositiva 5"/>
          <p:cNvSpPr>
            <a:spLocks noGrp="1"/>
          </p:cNvSpPr>
          <p:nvPr>
            <p:ph type="sldNum" sz="quarter" idx="4"/>
          </p:nvPr>
        </p:nvSpPr>
        <p:spPr>
          <a:xfrm>
            <a:off x="8686800" y="5661025"/>
            <a:ext cx="2743200" cy="365125"/>
          </a:xfrm>
          <a:prstGeom prst="rect">
            <a:avLst/>
          </a:prstGeom>
        </p:spPr>
        <p:txBody>
          <a:bodyPr/>
          <a:lstStyle>
            <a:lvl1pPr algn="r">
              <a:defRPr>
                <a:solidFill>
                  <a:schemeClr val="bg1"/>
                </a:solidFill>
              </a:defRPr>
            </a:lvl1pPr>
          </a:lstStyle>
          <a:p>
            <a:fld id="{FE609833-A38D-4EB6-901E-6156D1A180FF}" type="slidenum">
              <a:rPr lang="es-CO" smtClean="0"/>
              <a:pPr/>
              <a:t>‹Nº›</a:t>
            </a:fld>
            <a:endParaRPr lang="es-CO" dirty="0"/>
          </a:p>
        </p:txBody>
      </p:sp>
    </p:spTree>
    <p:extLst>
      <p:ext uri="{BB962C8B-B14F-4D97-AF65-F5344CB8AC3E}">
        <p14:creationId xmlns:p14="http://schemas.microsoft.com/office/powerpoint/2010/main" val="18025575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defTabSz="914400" rtl="0" eaLnBrk="1" latinLnBrk="0" hangingPunct="1">
        <a:lnSpc>
          <a:spcPct val="90000"/>
        </a:lnSpc>
        <a:spcBef>
          <a:spcPct val="0"/>
        </a:spcBef>
        <a:buNone/>
        <a:defRPr sz="66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www.fisioterapia-online.com/glosario/epicondilo-o-epicondilo-lateral-del-humero" TargetMode="External"/><Relationship Id="rId2" Type="http://schemas.openxmlformats.org/officeDocument/2006/relationships/hyperlink" Target="https://www.fisioterapia-online.com/glosario/epitroclea-o-epicondilo-medial-del-humero" TargetMode="Externa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hyperlink" Target="https://www.fisioterapia-online.com/glosario/articulacion-radiocubital-superior-e-inferior-o-distal-y-proximal" TargetMode="External"/><Relationship Id="rId2" Type="http://schemas.openxmlformats.org/officeDocument/2006/relationships/hyperlink" Target="https://www.fisioterapia-online.com/glosario/articulacion-humerocubital" TargetMode="Externa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hyperlink" Target="https://www.fisioterapia-online.com/glosario/cabeza-del-radio-o-cupula-radial" TargetMode="Externa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hyperlink" Target="https://www.fisioterapia-online.com/glosario/hueso-cubito" TargetMode="Externa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hyperlink" Target="https://www.fisioterapia-online.com/glosario/articulacion-radiocubital-superior-e-inferior-o-distal-y-proximal" TargetMode="External"/><Relationship Id="rId2" Type="http://schemas.openxmlformats.org/officeDocument/2006/relationships/hyperlink" Target="https://www.fisioterapia-online.com/glosario/pronacion-del-antebrazo" TargetMode="Externa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hyperlink" Target="https://www.fisioterapia-online.com/glosario/articulaciones-carpianas" TargetMode="Externa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hyperlink" Target="https://www.fisioterapia-online.com/glosario/huesos-del-carpo" TargetMode="Externa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hyperlink" Target="https://www.fisioterapia-online.com/glosario/musculos-radial-corto-o-segundo-radial" TargetMode="Externa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hyperlink" Target="https://www.fisioterapia-online.com/glosario/huesos-del-metacarpo" TargetMode="Externa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hyperlink" Target="https://www.fisioterapia-online.com/glosario/trocanter-menor" TargetMode="External"/><Relationship Id="rId2" Type="http://schemas.openxmlformats.org/officeDocument/2006/relationships/hyperlink" Target="https://www.fisioterapia-online.com/glosario/trocanter-mayor" TargetMode="Externa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hyperlink" Target="https://www.fisioterapia-online.com/glosario/musculo-cuadriceps" TargetMode="External"/><Relationship Id="rId2" Type="http://schemas.openxmlformats.org/officeDocument/2006/relationships/hyperlink" Target="https://www.fisioterapia-online.com/glosario/huesos-sesamoideos" TargetMode="Externa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hyperlink" Target="https://www.fisioterapia-online.com/glosario/maleolo-tibial-o-interno" TargetMode="External"/><Relationship Id="rId2" Type="http://schemas.openxmlformats.org/officeDocument/2006/relationships/hyperlink" Target="https://www.fisioterapia-online.com/glosario/meseta-tibial" TargetMode="Externa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hyperlink" Target="https://www.fisioterapia-online.com/glosario/hueso-tibia" TargetMode="Externa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hyperlink" Target="https://www.fisioterapia-online.com/glosario/articulacion-tibiotarsiana" TargetMode="Externa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hyperlink" Target="https://www.fisioterapia-online.com/glosario/huesos-metatarsianos" TargetMode="Externa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1.xml.rels><?xml version="1.0" encoding="UTF-8" standalone="yes"?>
<Relationships xmlns="http://schemas.openxmlformats.org/package/2006/relationships"><Relationship Id="rId2" Type="http://schemas.openxmlformats.org/officeDocument/2006/relationships/image" Target="../media/image33.gif"/><Relationship Id="rId1" Type="http://schemas.openxmlformats.org/officeDocument/2006/relationships/slideLayout" Target="../slideLayouts/slideLayout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HUESOS</a:t>
            </a:r>
            <a:endParaRPr lang="es-CO" dirty="0"/>
          </a:p>
        </p:txBody>
      </p:sp>
    </p:spTree>
    <p:extLst>
      <p:ext uri="{BB962C8B-B14F-4D97-AF65-F5344CB8AC3E}">
        <p14:creationId xmlns:p14="http://schemas.microsoft.com/office/powerpoint/2010/main" val="35513905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endParaRPr lang="es-ES" sz="5400" dirty="0" smtClean="0"/>
          </a:p>
          <a:p>
            <a:pPr algn="ctr"/>
            <a:r>
              <a:rPr lang="es-ES" sz="5400" dirty="0" smtClean="0"/>
              <a:t>ESQUELETO APENDICULAR</a:t>
            </a:r>
            <a:endParaRPr lang="es-CO" sz="5400" dirty="0"/>
          </a:p>
        </p:txBody>
      </p:sp>
    </p:spTree>
    <p:extLst>
      <p:ext uri="{BB962C8B-B14F-4D97-AF65-F5344CB8AC3E}">
        <p14:creationId xmlns:p14="http://schemas.microsoft.com/office/powerpoint/2010/main" val="3607309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506413" y="1962150"/>
            <a:ext cx="5659256" cy="4438650"/>
          </a:xfrm>
        </p:spPr>
        <p:txBody>
          <a:bodyPr/>
          <a:lstStyle/>
          <a:p>
            <a:pPr algn="just"/>
            <a:r>
              <a:rPr lang="es-CO" b="0" dirty="0"/>
              <a:t>Los huesos del esqueleto apendicular forman el resto del esqueleto, y se los llama así porque son apéndices del esqueleto axial. </a:t>
            </a:r>
            <a:endParaRPr lang="es-CO" b="0" dirty="0" smtClean="0"/>
          </a:p>
          <a:p>
            <a:pPr algn="just"/>
            <a:r>
              <a:rPr lang="es-CO" b="0" dirty="0" smtClean="0"/>
              <a:t>Incluye </a:t>
            </a:r>
            <a:r>
              <a:rPr lang="es-CO" b="0" dirty="0"/>
              <a:t>los </a:t>
            </a:r>
            <a:r>
              <a:rPr lang="es-CO" b="0" dirty="0" smtClean="0"/>
              <a:t>huesos:</a:t>
            </a:r>
          </a:p>
          <a:p>
            <a:pPr algn="just"/>
            <a:r>
              <a:rPr lang="es-CO" b="0" dirty="0" smtClean="0"/>
              <a:t>Cintura escapular</a:t>
            </a:r>
          </a:p>
          <a:p>
            <a:pPr algn="just"/>
            <a:r>
              <a:rPr lang="es-CO" b="0" dirty="0" smtClean="0"/>
              <a:t>MMSS</a:t>
            </a:r>
          </a:p>
          <a:p>
            <a:pPr algn="just"/>
            <a:r>
              <a:rPr lang="es-CO" b="0" dirty="0" smtClean="0"/>
              <a:t>Cintura pelviana</a:t>
            </a:r>
          </a:p>
          <a:p>
            <a:pPr algn="just"/>
            <a:r>
              <a:rPr lang="es-CO" b="0" dirty="0" smtClean="0"/>
              <a:t>MMII</a:t>
            </a:r>
            <a:endParaRPr lang="es-CO" b="0" dirty="0"/>
          </a:p>
        </p:txBody>
      </p:sp>
    </p:spTree>
    <p:extLst>
      <p:ext uri="{BB962C8B-B14F-4D97-AF65-F5344CB8AC3E}">
        <p14:creationId xmlns:p14="http://schemas.microsoft.com/office/powerpoint/2010/main" val="1701548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r>
              <a:rPr lang="es-ES" dirty="0" smtClean="0"/>
              <a:t>FUNCION: </a:t>
            </a:r>
          </a:p>
          <a:p>
            <a:endParaRPr lang="es-ES" dirty="0" smtClean="0"/>
          </a:p>
          <a:p>
            <a:endParaRPr lang="es-ES" dirty="0"/>
          </a:p>
          <a:p>
            <a:r>
              <a:rPr lang="es-ES" dirty="0" smtClean="0"/>
              <a:t>MOVIMIENTO</a:t>
            </a:r>
            <a:endParaRPr lang="es-CO" dirty="0"/>
          </a:p>
        </p:txBody>
      </p:sp>
    </p:spTree>
    <p:extLst>
      <p:ext uri="{BB962C8B-B14F-4D97-AF65-F5344CB8AC3E}">
        <p14:creationId xmlns:p14="http://schemas.microsoft.com/office/powerpoint/2010/main" val="6883048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algn="ctr"/>
            <a:endParaRPr lang="es-ES" sz="4000" dirty="0" smtClean="0"/>
          </a:p>
          <a:p>
            <a:pPr algn="ctr"/>
            <a:endParaRPr lang="es-ES" sz="4000" dirty="0"/>
          </a:p>
          <a:p>
            <a:pPr algn="ctr"/>
            <a:r>
              <a:rPr lang="es-ES" sz="9600" dirty="0" smtClean="0"/>
              <a:t>MMSS</a:t>
            </a:r>
            <a:endParaRPr lang="es-CO" sz="9600" dirty="0"/>
          </a:p>
        </p:txBody>
      </p:sp>
    </p:spTree>
    <p:extLst>
      <p:ext uri="{BB962C8B-B14F-4D97-AF65-F5344CB8AC3E}">
        <p14:creationId xmlns:p14="http://schemas.microsoft.com/office/powerpoint/2010/main" val="675531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506413" y="1962149"/>
            <a:ext cx="5551487" cy="4608467"/>
          </a:xfrm>
        </p:spPr>
        <p:txBody>
          <a:bodyPr/>
          <a:lstStyle/>
          <a:p>
            <a:pPr algn="just"/>
            <a:r>
              <a:rPr lang="es-CO" b="0" dirty="0" smtClean="0"/>
              <a:t>Incluyen </a:t>
            </a:r>
            <a:r>
              <a:rPr lang="es-CO" b="0" dirty="0"/>
              <a:t>los huesos del brazo (húmero), antebrazo (radio y cúbito), muñeca y mano. </a:t>
            </a:r>
            <a:endParaRPr lang="es-CO" b="0" dirty="0" smtClean="0"/>
          </a:p>
          <a:p>
            <a:pPr algn="just"/>
            <a:r>
              <a:rPr lang="es-CO" b="0" dirty="0" smtClean="0"/>
              <a:t>El </a:t>
            </a:r>
            <a:r>
              <a:rPr lang="es-CO" b="0" dirty="0"/>
              <a:t>único hueso del brazo es el húmero, que se articula con los huesos del antebrazo, el radio y el cúbito, en la articulación del codo. </a:t>
            </a:r>
            <a:endParaRPr lang="es-CO" b="0" dirty="0" smtClean="0"/>
          </a:p>
          <a:p>
            <a:pPr algn="just"/>
            <a:r>
              <a:rPr lang="es-CO" b="0" dirty="0" smtClean="0"/>
              <a:t>El </a:t>
            </a:r>
            <a:r>
              <a:rPr lang="es-CO" b="0" dirty="0"/>
              <a:t>cúbito es el más largo de los dos huesos del antebrazo.</a:t>
            </a:r>
            <a:endParaRPr lang="es-CO" dirty="0"/>
          </a:p>
        </p:txBody>
      </p:sp>
    </p:spTree>
    <p:extLst>
      <p:ext uri="{BB962C8B-B14F-4D97-AF65-F5344CB8AC3E}">
        <p14:creationId xmlns:p14="http://schemas.microsoft.com/office/powerpoint/2010/main" val="13930290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506413" y="1962150"/>
            <a:ext cx="5551487" cy="4530090"/>
          </a:xfrm>
        </p:spPr>
        <p:txBody>
          <a:bodyPr/>
          <a:lstStyle/>
          <a:p>
            <a:pPr algn="just"/>
            <a:r>
              <a:rPr lang="es-CO" dirty="0" smtClean="0"/>
              <a:t>HUESOS DE LA MUÑECA. </a:t>
            </a:r>
          </a:p>
          <a:p>
            <a:pPr algn="just"/>
            <a:r>
              <a:rPr lang="es-CO" b="0" dirty="0" smtClean="0"/>
              <a:t>La </a:t>
            </a:r>
            <a:r>
              <a:rPr lang="es-CO" b="0" dirty="0"/>
              <a:t>muñeca, o carpo, consta de ocho huesos carpianos. </a:t>
            </a:r>
            <a:endParaRPr lang="es-CO" b="0" dirty="0" smtClean="0"/>
          </a:p>
          <a:p>
            <a:pPr algn="just"/>
            <a:r>
              <a:rPr lang="es-CO" b="0" dirty="0" smtClean="0"/>
              <a:t>Los </a:t>
            </a:r>
            <a:r>
              <a:rPr lang="es-CO" b="0" dirty="0"/>
              <a:t>ocho huesos carpianos de la muñeca son el escafoides, semilunar, piramidal, pisiforme, trapezoide, trapecio, hueso grande, ganchoso.</a:t>
            </a:r>
            <a:endParaRPr lang="es-CO" dirty="0"/>
          </a:p>
        </p:txBody>
      </p:sp>
    </p:spTree>
    <p:extLst>
      <p:ext uri="{BB962C8B-B14F-4D97-AF65-F5344CB8AC3E}">
        <p14:creationId xmlns:p14="http://schemas.microsoft.com/office/powerpoint/2010/main" val="10958457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506413" y="1962149"/>
            <a:ext cx="5551487" cy="4556217"/>
          </a:xfrm>
        </p:spPr>
        <p:txBody>
          <a:bodyPr/>
          <a:lstStyle/>
          <a:p>
            <a:r>
              <a:rPr lang="es-CO" dirty="0" smtClean="0"/>
              <a:t>HUESOS DE LA MANO.</a:t>
            </a:r>
            <a:r>
              <a:rPr lang="es-CO" b="0" dirty="0"/>
              <a:t> </a:t>
            </a:r>
            <a:endParaRPr lang="es-CO" b="0" dirty="0" smtClean="0"/>
          </a:p>
          <a:p>
            <a:pPr algn="just"/>
            <a:r>
              <a:rPr lang="es-CO" b="0" dirty="0" smtClean="0"/>
              <a:t>La </a:t>
            </a:r>
            <a:r>
              <a:rPr lang="es-CO" b="0" dirty="0"/>
              <a:t>mano </a:t>
            </a:r>
            <a:r>
              <a:rPr lang="es-CO" b="0" dirty="0" smtClean="0"/>
              <a:t>incluye:</a:t>
            </a:r>
          </a:p>
          <a:p>
            <a:pPr algn="just"/>
            <a:r>
              <a:rPr lang="es-CO" b="0" dirty="0" smtClean="0"/>
              <a:t>8 </a:t>
            </a:r>
            <a:r>
              <a:rPr lang="es-CO" b="0" dirty="0"/>
              <a:t>huesos de la </a:t>
            </a:r>
            <a:r>
              <a:rPr lang="es-CO" b="0" dirty="0" smtClean="0"/>
              <a:t>muñeca</a:t>
            </a:r>
          </a:p>
          <a:p>
            <a:pPr algn="just"/>
            <a:r>
              <a:rPr lang="es-CO" b="0" dirty="0" smtClean="0"/>
              <a:t>5 </a:t>
            </a:r>
            <a:r>
              <a:rPr lang="es-CO" b="0" dirty="0"/>
              <a:t>huesos que forman la </a:t>
            </a:r>
            <a:r>
              <a:rPr lang="es-CO" b="0" dirty="0" smtClean="0"/>
              <a:t>palma</a:t>
            </a:r>
          </a:p>
          <a:p>
            <a:pPr algn="just"/>
            <a:r>
              <a:rPr lang="es-CO" b="0" dirty="0" smtClean="0"/>
              <a:t>14 </a:t>
            </a:r>
            <a:r>
              <a:rPr lang="es-CO" b="0" dirty="0"/>
              <a:t>huesos que forman los dedos y el pulgar</a:t>
            </a:r>
            <a:r>
              <a:rPr lang="es-CO" b="0" dirty="0" smtClean="0"/>
              <a:t>.</a:t>
            </a:r>
          </a:p>
          <a:p>
            <a:pPr algn="just"/>
            <a:r>
              <a:rPr lang="es-CO" b="0" dirty="0" smtClean="0"/>
              <a:t>.</a:t>
            </a:r>
            <a:endParaRPr lang="es-CO" dirty="0"/>
          </a:p>
        </p:txBody>
      </p:sp>
    </p:spTree>
    <p:extLst>
      <p:ext uri="{BB962C8B-B14F-4D97-AF65-F5344CB8AC3E}">
        <p14:creationId xmlns:p14="http://schemas.microsoft.com/office/powerpoint/2010/main" val="1373013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algn="just"/>
            <a:r>
              <a:rPr lang="es-CO" b="0" dirty="0"/>
              <a:t>Los huesos de la muñeca se denominan </a:t>
            </a:r>
            <a:r>
              <a:rPr lang="es-CO" dirty="0"/>
              <a:t>carpianos</a:t>
            </a:r>
            <a:r>
              <a:rPr lang="es-CO" b="0" dirty="0" smtClean="0"/>
              <a:t>.</a:t>
            </a:r>
          </a:p>
          <a:p>
            <a:pPr algn="just"/>
            <a:r>
              <a:rPr lang="es-CO" b="0" dirty="0" smtClean="0"/>
              <a:t>Los </a:t>
            </a:r>
            <a:r>
              <a:rPr lang="es-CO" b="0" dirty="0"/>
              <a:t>huesos que forman la palma de la mano se denominan </a:t>
            </a:r>
            <a:r>
              <a:rPr lang="es-CO" dirty="0"/>
              <a:t>metacarpianos</a:t>
            </a:r>
            <a:r>
              <a:rPr lang="es-CO" b="0" dirty="0"/>
              <a:t>. </a:t>
            </a:r>
            <a:endParaRPr lang="es-CO" b="0" dirty="0" smtClean="0"/>
          </a:p>
          <a:p>
            <a:pPr algn="just"/>
            <a:r>
              <a:rPr lang="es-CO" b="0" dirty="0" smtClean="0"/>
              <a:t>Las</a:t>
            </a:r>
            <a:r>
              <a:rPr lang="es-CO" b="0" dirty="0"/>
              <a:t> </a:t>
            </a:r>
            <a:r>
              <a:rPr lang="es-CO" dirty="0"/>
              <a:t>falanges</a:t>
            </a:r>
            <a:r>
              <a:rPr lang="es-CO" b="0" dirty="0"/>
              <a:t> son los huesos de los dedos de la mano</a:t>
            </a:r>
            <a:endParaRPr lang="es-CO" dirty="0"/>
          </a:p>
        </p:txBody>
      </p:sp>
    </p:spTree>
    <p:extLst>
      <p:ext uri="{BB962C8B-B14F-4D97-AF65-F5344CB8AC3E}">
        <p14:creationId xmlns:p14="http://schemas.microsoft.com/office/powerpoint/2010/main" val="35985701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371600"/>
            <a:ext cx="11199812" cy="5238206"/>
          </a:xfrm>
        </p:spPr>
        <p:txBody>
          <a:bodyPr/>
          <a:lstStyle/>
          <a:p>
            <a:endParaRPr lang="es-ES" dirty="0" smtClean="0"/>
          </a:p>
          <a:p>
            <a:endParaRPr lang="es-ES" dirty="0"/>
          </a:p>
          <a:p>
            <a:r>
              <a:rPr lang="es-ES" dirty="0" smtClean="0"/>
              <a:t>Humero</a:t>
            </a:r>
            <a:br>
              <a:rPr lang="es-ES" dirty="0" smtClean="0"/>
            </a:br>
            <a:r>
              <a:rPr lang="es-ES" dirty="0" smtClean="0"/>
              <a:t>Cubito</a:t>
            </a:r>
            <a:br>
              <a:rPr lang="es-ES" dirty="0" smtClean="0"/>
            </a:br>
            <a:r>
              <a:rPr lang="es-ES" dirty="0" smtClean="0"/>
              <a:t>Radio</a:t>
            </a:r>
            <a:br>
              <a:rPr lang="es-ES" dirty="0" smtClean="0"/>
            </a:br>
            <a:r>
              <a:rPr lang="es-ES" dirty="0" smtClean="0"/>
              <a:t>Carpo</a:t>
            </a:r>
            <a:br>
              <a:rPr lang="es-ES" dirty="0" smtClean="0"/>
            </a:br>
            <a:r>
              <a:rPr lang="es-ES" dirty="0" smtClean="0"/>
              <a:t>Huesos metacarpianos</a:t>
            </a:r>
            <a:br>
              <a:rPr lang="es-ES" dirty="0" smtClean="0"/>
            </a:br>
            <a:r>
              <a:rPr lang="es-ES" dirty="0" smtClean="0"/>
              <a:t>Falanges</a:t>
            </a:r>
            <a:br>
              <a:rPr lang="es-ES" dirty="0" smtClean="0"/>
            </a:br>
            <a:endParaRPr lang="es-CO" dirty="0" smtClean="0"/>
          </a:p>
          <a:p>
            <a:endParaRPr lang="es-ES" dirty="0" smtClean="0"/>
          </a:p>
        </p:txBody>
      </p:sp>
      <p:pic>
        <p:nvPicPr>
          <p:cNvPr id="5" name="Imagen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64331" y="1515291"/>
            <a:ext cx="5133704" cy="4950823"/>
          </a:xfrm>
          <a:prstGeom prst="rect">
            <a:avLst/>
          </a:prstGeom>
        </p:spPr>
      </p:pic>
    </p:spTree>
    <p:extLst>
      <p:ext uri="{BB962C8B-B14F-4D97-AF65-F5344CB8AC3E}">
        <p14:creationId xmlns:p14="http://schemas.microsoft.com/office/powerpoint/2010/main" val="194719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algn="just"/>
            <a:r>
              <a:rPr lang="es-ES" dirty="0" smtClean="0">
                <a:latin typeface="Arial" panose="020B0604020202020204" pitchFamily="34" charset="0"/>
                <a:cs typeface="Arial" panose="020B0604020202020204" pitchFamily="34" charset="0"/>
              </a:rPr>
              <a:t>HUMERO</a:t>
            </a:r>
          </a:p>
          <a:p>
            <a:pPr algn="just"/>
            <a:r>
              <a:rPr lang="es-CO" b="0" dirty="0" smtClean="0"/>
              <a:t>El</a:t>
            </a:r>
            <a:r>
              <a:rPr lang="es-CO" b="0" dirty="0"/>
              <a:t> </a:t>
            </a:r>
            <a:r>
              <a:rPr lang="es-CO" dirty="0"/>
              <a:t>único hueso del brazo</a:t>
            </a:r>
            <a:r>
              <a:rPr lang="es-CO" b="0" dirty="0"/>
              <a:t>, que se encuentra</a:t>
            </a:r>
            <a:r>
              <a:rPr lang="es-CO" dirty="0"/>
              <a:t> </a:t>
            </a:r>
            <a:r>
              <a:rPr lang="es-CO" b="0" dirty="0"/>
              <a:t>entre el </a:t>
            </a:r>
            <a:r>
              <a:rPr lang="es-CO" dirty="0"/>
              <a:t>hombro y el codo</a:t>
            </a:r>
            <a:r>
              <a:rPr lang="es-CO" b="0" dirty="0" smtClean="0"/>
              <a:t>.</a:t>
            </a:r>
          </a:p>
          <a:p>
            <a:pPr algn="just"/>
            <a:r>
              <a:rPr lang="es-CO" b="0" dirty="0" smtClean="0"/>
              <a:t>Sus </a:t>
            </a:r>
            <a:r>
              <a:rPr lang="es-CO" b="0" dirty="0"/>
              <a:t>principales características, es que tiene un gran </a:t>
            </a:r>
            <a:r>
              <a:rPr lang="es-CO" b="0" dirty="0" smtClean="0"/>
              <a:t>tamaño</a:t>
            </a:r>
          </a:p>
          <a:p>
            <a:pPr algn="just"/>
            <a:r>
              <a:rPr lang="es-CO" b="0" dirty="0" smtClean="0"/>
              <a:t>Se divide </a:t>
            </a:r>
            <a:r>
              <a:rPr lang="es-CO" b="0" dirty="0"/>
              <a:t>en 3 perfiles localizados en la zona trasera, área interna y externa; 3 costados ubicados anteriormente, por dentro y por fuera; y dos superficies situadas arriba y por debajo del húmero. </a:t>
            </a:r>
            <a:endParaRPr lang="es-CO" b="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416099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algn="just"/>
            <a:r>
              <a:rPr lang="es-CO" b="0" dirty="0" smtClean="0"/>
              <a:t>El</a:t>
            </a:r>
            <a:r>
              <a:rPr lang="es-CO" b="0" dirty="0"/>
              <a:t> </a:t>
            </a:r>
            <a:r>
              <a:rPr lang="es-CO" dirty="0"/>
              <a:t>hueso húmero</a:t>
            </a:r>
            <a:r>
              <a:rPr lang="es-CO" b="0" dirty="0"/>
              <a:t> se describe anatómicamente con diferentes zonas:</a:t>
            </a:r>
          </a:p>
          <a:p>
            <a:pPr algn="just"/>
            <a:r>
              <a:rPr lang="es-CO" b="0" dirty="0"/>
              <a:t>La principal es el </a:t>
            </a:r>
            <a:r>
              <a:rPr lang="es-CO" dirty="0"/>
              <a:t>cuerpo</a:t>
            </a:r>
            <a:r>
              <a:rPr lang="es-CO" b="0" dirty="0"/>
              <a:t> que también es conocido como la </a:t>
            </a:r>
            <a:r>
              <a:rPr lang="es-CO" dirty="0"/>
              <a:t>diáfisis</a:t>
            </a:r>
            <a:r>
              <a:rPr lang="es-CO" b="0" dirty="0"/>
              <a:t>, en la cual se ubican los perfiles y los costados.</a:t>
            </a:r>
          </a:p>
          <a:p>
            <a:pPr algn="just"/>
            <a:r>
              <a:rPr lang="es-CO" b="0" dirty="0"/>
              <a:t>La siguiente es la zona superior compuesta por la </a:t>
            </a:r>
            <a:r>
              <a:rPr lang="es-CO" dirty="0"/>
              <a:t>cabeza del húmero</a:t>
            </a:r>
            <a:r>
              <a:rPr lang="es-CO" b="0" dirty="0"/>
              <a:t>, la </a:t>
            </a:r>
            <a:r>
              <a:rPr lang="es-CO" dirty="0"/>
              <a:t>tuberosidad mayor y la tuberosidad menor.</a:t>
            </a:r>
            <a:endParaRPr lang="es-CO" b="0" dirty="0"/>
          </a:p>
          <a:p>
            <a:pPr algn="just"/>
            <a:r>
              <a:rPr lang="es-CO" b="0" dirty="0"/>
              <a:t>Y por último pero no menos importante, es la zona inferior en la cual se pueden encontrar la </a:t>
            </a:r>
            <a:r>
              <a:rPr lang="es-CO" dirty="0"/>
              <a:t>tróclea del húmero</a:t>
            </a:r>
            <a:r>
              <a:rPr lang="es-CO" b="0" dirty="0"/>
              <a:t>, la </a:t>
            </a:r>
            <a:r>
              <a:rPr lang="es-CO" dirty="0"/>
              <a:t>fosa</a:t>
            </a:r>
            <a:r>
              <a:rPr lang="es-CO" b="0" dirty="0"/>
              <a:t> supratroclear, el </a:t>
            </a:r>
            <a:r>
              <a:rPr lang="es-CO" dirty="0"/>
              <a:t>cóndilo</a:t>
            </a:r>
            <a:r>
              <a:rPr lang="es-CO" b="0" dirty="0"/>
              <a:t>, la </a:t>
            </a:r>
            <a:r>
              <a:rPr lang="es-CO" u="sng" dirty="0">
                <a:hlinkClick r:id="rId2"/>
              </a:rPr>
              <a:t>epitróclea</a:t>
            </a:r>
            <a:r>
              <a:rPr lang="es-CO" b="0" dirty="0"/>
              <a:t> y el </a:t>
            </a:r>
            <a:r>
              <a:rPr lang="es-CO" u="sng" dirty="0">
                <a:hlinkClick r:id="rId3"/>
              </a:rPr>
              <a:t>epicóndilo</a:t>
            </a:r>
            <a:r>
              <a:rPr lang="es-CO" b="0" dirty="0"/>
              <a:t>.</a:t>
            </a:r>
          </a:p>
          <a:p>
            <a:endParaRPr lang="es-CO" dirty="0"/>
          </a:p>
        </p:txBody>
      </p:sp>
    </p:spTree>
    <p:extLst>
      <p:ext uri="{BB962C8B-B14F-4D97-AF65-F5344CB8AC3E}">
        <p14:creationId xmlns:p14="http://schemas.microsoft.com/office/powerpoint/2010/main" val="17740639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r>
              <a:rPr lang="es-CO" dirty="0" smtClean="0"/>
              <a:t>UBICADO</a:t>
            </a:r>
            <a:endParaRPr lang="es-CO" dirty="0"/>
          </a:p>
          <a:p>
            <a:pPr algn="just"/>
            <a:r>
              <a:rPr lang="es-CO" b="0" dirty="0"/>
              <a:t>El húmero está localizado en las extremidades superiores, justamente </a:t>
            </a:r>
            <a:r>
              <a:rPr lang="es-CO" dirty="0"/>
              <a:t>entre</a:t>
            </a:r>
            <a:r>
              <a:rPr lang="es-CO" b="0" dirty="0"/>
              <a:t> la zona del </a:t>
            </a:r>
            <a:r>
              <a:rPr lang="es-CO" dirty="0"/>
              <a:t>hombro y del codo</a:t>
            </a:r>
            <a:r>
              <a:rPr lang="es-CO" b="0" dirty="0"/>
              <a:t>. </a:t>
            </a:r>
            <a:endParaRPr lang="es-CO" b="0" dirty="0" smtClean="0"/>
          </a:p>
          <a:p>
            <a:pPr algn="just"/>
            <a:r>
              <a:rPr lang="es-CO" b="0" dirty="0" smtClean="0"/>
              <a:t>Se </a:t>
            </a:r>
            <a:r>
              <a:rPr lang="es-CO" b="0" dirty="0"/>
              <a:t>conecta con la cavidad glenoidea de la escápula para formar la </a:t>
            </a:r>
            <a:r>
              <a:rPr lang="es-CO" dirty="0"/>
              <a:t>articulación glenohumeral</a:t>
            </a:r>
            <a:r>
              <a:rPr lang="es-CO" b="0" dirty="0"/>
              <a:t>, que permite la realización de todos los movimientos del hombro, y con los huesos del antebrazo, cúbito y radio, para formar la articulación humerocubital y humeroradial. </a:t>
            </a:r>
          </a:p>
          <a:p>
            <a:pPr algn="just"/>
            <a:endParaRPr lang="es-CO" b="0" dirty="0"/>
          </a:p>
          <a:p>
            <a:endParaRPr lang="es-CO" dirty="0"/>
          </a:p>
        </p:txBody>
      </p:sp>
    </p:spTree>
    <p:extLst>
      <p:ext uri="{BB962C8B-B14F-4D97-AF65-F5344CB8AC3E}">
        <p14:creationId xmlns:p14="http://schemas.microsoft.com/office/powerpoint/2010/main" val="20091007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r>
              <a:rPr lang="es-ES" dirty="0" smtClean="0"/>
              <a:t>FUNCION</a:t>
            </a:r>
            <a:endParaRPr lang="es-CO" dirty="0"/>
          </a:p>
          <a:p>
            <a:pPr algn="just"/>
            <a:r>
              <a:rPr lang="es-CO" b="0" dirty="0" smtClean="0"/>
              <a:t>Inserción </a:t>
            </a:r>
            <a:r>
              <a:rPr lang="es-CO" b="0" dirty="0"/>
              <a:t>y originan diversos </a:t>
            </a:r>
            <a:r>
              <a:rPr lang="es-CO" dirty="0"/>
              <a:t>músculos</a:t>
            </a:r>
            <a:r>
              <a:rPr lang="es-CO" b="0" dirty="0"/>
              <a:t>, entre los más conocidos tenemos a los extensores y flexores del carpo y de las falanges; al redondo mayor y menor; al deltoides; coracobraquial; bíceps braquial y finalmente el tríceps. </a:t>
            </a:r>
            <a:endParaRPr lang="es-CO" b="0" dirty="0" smtClean="0"/>
          </a:p>
          <a:p>
            <a:pPr algn="just"/>
            <a:r>
              <a:rPr lang="es-CO" b="0" dirty="0" smtClean="0"/>
              <a:t>Es </a:t>
            </a:r>
            <a:r>
              <a:rPr lang="es-CO" b="0" dirty="0"/>
              <a:t>por esa razón, que el húmero interviene en los movimientos que realizamos con nuestros brazos, y que cualquier traumatismo fuerte puede ocasionar </a:t>
            </a:r>
            <a:r>
              <a:rPr lang="es-CO" dirty="0"/>
              <a:t>fracturas</a:t>
            </a:r>
            <a:r>
              <a:rPr lang="es-CO" b="0" dirty="0"/>
              <a:t> tanto en el área proximal como en la distal</a:t>
            </a:r>
            <a:endParaRPr lang="es-CO" dirty="0"/>
          </a:p>
        </p:txBody>
      </p:sp>
    </p:spTree>
    <p:extLst>
      <p:ext uri="{BB962C8B-B14F-4D97-AF65-F5344CB8AC3E}">
        <p14:creationId xmlns:p14="http://schemas.microsoft.com/office/powerpoint/2010/main" val="32990818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algn="just"/>
            <a:r>
              <a:rPr lang="es-CO" b="0" dirty="0"/>
              <a:t>Además, a través de los distintos conductos que posee el húmero, </a:t>
            </a:r>
            <a:r>
              <a:rPr lang="es-CO" dirty="0"/>
              <a:t>pasan arterias, venas y nervios</a:t>
            </a:r>
            <a:r>
              <a:rPr lang="es-CO" b="0" dirty="0"/>
              <a:t>, encargados de la inervación e irrigación de todo el brazo, codo, antebrazo, muñeca y mano. </a:t>
            </a:r>
            <a:endParaRPr lang="es-CO" dirty="0"/>
          </a:p>
        </p:txBody>
      </p:sp>
    </p:spTree>
    <p:extLst>
      <p:ext uri="{BB962C8B-B14F-4D97-AF65-F5344CB8AC3E}">
        <p14:creationId xmlns:p14="http://schemas.microsoft.com/office/powerpoint/2010/main" val="219468126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6024" y="2251709"/>
            <a:ext cx="4611188" cy="3913959"/>
          </a:xfrm>
          <a:prstGeom prst="rect">
            <a:avLst/>
          </a:prstGeom>
        </p:spPr>
      </p:pic>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3599" y="2251709"/>
            <a:ext cx="5264331" cy="3913960"/>
          </a:xfrm>
          <a:prstGeom prst="rect">
            <a:avLst/>
          </a:prstGeom>
        </p:spPr>
      </p:pic>
    </p:spTree>
    <p:extLst>
      <p:ext uri="{BB962C8B-B14F-4D97-AF65-F5344CB8AC3E}">
        <p14:creationId xmlns:p14="http://schemas.microsoft.com/office/powerpoint/2010/main" val="382155000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50"/>
            <a:ext cx="11199812" cy="4595404"/>
          </a:xfrm>
        </p:spPr>
        <p:txBody>
          <a:bodyPr/>
          <a:lstStyle/>
          <a:p>
            <a:pPr algn="just"/>
            <a:r>
              <a:rPr lang="es-ES" dirty="0" smtClean="0"/>
              <a:t>CUBITO</a:t>
            </a:r>
          </a:p>
          <a:p>
            <a:pPr algn="just"/>
            <a:r>
              <a:rPr lang="es-CO" b="0" dirty="0"/>
              <a:t>Es un </a:t>
            </a:r>
            <a:r>
              <a:rPr lang="es-CO" dirty="0"/>
              <a:t>elemento óseo</a:t>
            </a:r>
            <a:r>
              <a:rPr lang="es-CO" b="0" dirty="0"/>
              <a:t>, de gran longitud, que se encuentra </a:t>
            </a:r>
            <a:r>
              <a:rPr lang="es-CO" dirty="0"/>
              <a:t>situado al lado del radio</a:t>
            </a:r>
            <a:r>
              <a:rPr lang="es-CO" b="0" dirty="0"/>
              <a:t>, y que en comparación a este, es de mayor tamaño</a:t>
            </a:r>
            <a:r>
              <a:rPr lang="es-CO" b="0" dirty="0" smtClean="0"/>
              <a:t>.</a:t>
            </a:r>
          </a:p>
          <a:p>
            <a:pPr algn="just"/>
            <a:r>
              <a:rPr lang="es-CO" b="0" dirty="0" smtClean="0"/>
              <a:t>Está </a:t>
            </a:r>
            <a:r>
              <a:rPr lang="es-CO" b="0" dirty="0"/>
              <a:t>descrito por diferentes partes importantes, estas son el cuerpo, conformado por 3 perfiles o caras (parte o cara anterior, por detrás o cara posterior y cara interna) y 3 costados o bordes (por al frente o anterior, en su parte trasera o posterior y externamente).</a:t>
            </a:r>
            <a:endParaRPr lang="es-CO" dirty="0"/>
          </a:p>
        </p:txBody>
      </p:sp>
    </p:spTree>
    <p:extLst>
      <p:ext uri="{BB962C8B-B14F-4D97-AF65-F5344CB8AC3E}">
        <p14:creationId xmlns:p14="http://schemas.microsoft.com/office/powerpoint/2010/main" val="16464581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algn="just"/>
            <a:r>
              <a:rPr lang="es-CO" b="0" dirty="0" smtClean="0"/>
              <a:t>Cuando </a:t>
            </a:r>
            <a:r>
              <a:rPr lang="es-CO" b="0" dirty="0"/>
              <a:t>describimos al cuerpo del hueso cúbito, nos damos cuenta que:</a:t>
            </a:r>
          </a:p>
          <a:p>
            <a:pPr algn="just"/>
            <a:r>
              <a:rPr lang="es-CO" b="0" dirty="0"/>
              <a:t>Presenta una pequeña curvatura, que se ensancha en su parte inferior.</a:t>
            </a:r>
          </a:p>
          <a:p>
            <a:pPr algn="just"/>
            <a:r>
              <a:rPr lang="es-CO" b="0" dirty="0"/>
              <a:t>Con respecto a sus perfiles se puede observar la llegada del músculo flexor común profundo de los dedos, del pronador cuadrado, del abductor largo del pulgar y del extensor de todas las falanges.</a:t>
            </a:r>
          </a:p>
          <a:p>
            <a:pPr algn="just"/>
            <a:r>
              <a:rPr lang="es-CO" b="0" dirty="0"/>
              <a:t>Y en cuanto a sus costados, nos encontramos con la </a:t>
            </a:r>
            <a:r>
              <a:rPr lang="es-CO" dirty="0"/>
              <a:t>cresta interósea </a:t>
            </a:r>
            <a:r>
              <a:rPr lang="es-CO" b="0" dirty="0"/>
              <a:t>y con la</a:t>
            </a:r>
            <a:r>
              <a:rPr lang="es-CO" dirty="0"/>
              <a:t> superficie subsigmoidea</a:t>
            </a:r>
            <a:r>
              <a:rPr lang="es-CO" b="0" dirty="0"/>
              <a:t>. </a:t>
            </a:r>
          </a:p>
        </p:txBody>
      </p:sp>
    </p:spTree>
    <p:extLst>
      <p:ext uri="{BB962C8B-B14F-4D97-AF65-F5344CB8AC3E}">
        <p14:creationId xmlns:p14="http://schemas.microsoft.com/office/powerpoint/2010/main" val="42770652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algn="just"/>
            <a:r>
              <a:rPr lang="es-CO" b="0" dirty="0"/>
              <a:t>Otras de las zonas del cúbito, son las superficies que se ubican superior e inferiormente, en las cuales se encuentran el olécranon, la apófisis coronoides, la </a:t>
            </a:r>
            <a:r>
              <a:rPr lang="es-CO" dirty="0"/>
              <a:t>cavidad sigmoidea</a:t>
            </a:r>
            <a:r>
              <a:rPr lang="es-CO" b="0" dirty="0"/>
              <a:t> mayor en su parte de arriba; la </a:t>
            </a:r>
            <a:r>
              <a:rPr lang="es-CO" dirty="0"/>
              <a:t>apófisis estiloides</a:t>
            </a:r>
            <a:r>
              <a:rPr lang="es-CO" b="0" dirty="0"/>
              <a:t> y la cabeza del cúbito en su zona inferior. </a:t>
            </a:r>
            <a:endParaRPr lang="es-CO" b="0" dirty="0" smtClean="0"/>
          </a:p>
          <a:p>
            <a:pPr algn="just"/>
            <a:r>
              <a:rPr lang="es-CO" b="0" dirty="0"/>
              <a:t>En el caso de la cavidad sigmoidea, esta es importante ya que está conformada por la cara del olécranon y por la apófisis coronoides, para ser parte de la tróclea del húmero.</a:t>
            </a:r>
          </a:p>
          <a:p>
            <a:pPr algn="just"/>
            <a:endParaRPr lang="es-CO" b="0" dirty="0"/>
          </a:p>
          <a:p>
            <a:pPr algn="just"/>
            <a:endParaRPr lang="es-CO" dirty="0"/>
          </a:p>
          <a:p>
            <a:pPr algn="just"/>
            <a:endParaRPr lang="es-CO" dirty="0"/>
          </a:p>
        </p:txBody>
      </p:sp>
    </p:spTree>
    <p:extLst>
      <p:ext uri="{BB962C8B-B14F-4D97-AF65-F5344CB8AC3E}">
        <p14:creationId xmlns:p14="http://schemas.microsoft.com/office/powerpoint/2010/main" val="21755728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49"/>
            <a:ext cx="11199812" cy="4451713"/>
          </a:xfrm>
        </p:spPr>
        <p:txBody>
          <a:bodyPr/>
          <a:lstStyle/>
          <a:p>
            <a:r>
              <a:rPr lang="es-CO" dirty="0" smtClean="0"/>
              <a:t>UBICACION</a:t>
            </a:r>
            <a:endParaRPr lang="es-CO" dirty="0"/>
          </a:p>
          <a:p>
            <a:pPr algn="just"/>
            <a:r>
              <a:rPr lang="es-CO" b="0" dirty="0"/>
              <a:t>Este hueso es una estructura ósea, que se encuentra ubicada en el antebrazo, al lado del radio, específicamente entre la tróclea del húmero (codo) y los huesos del carpo (muñeca).</a:t>
            </a:r>
          </a:p>
          <a:p>
            <a:pPr algn="just"/>
            <a:r>
              <a:rPr lang="es-CO" dirty="0" smtClean="0"/>
              <a:t>FUNCION</a:t>
            </a:r>
            <a:endParaRPr lang="es-CO" dirty="0"/>
          </a:p>
          <a:p>
            <a:pPr algn="just"/>
            <a:r>
              <a:rPr lang="es-CO" b="0" dirty="0"/>
              <a:t>Al unirse con el húmero por su parte superior, conforma la </a:t>
            </a:r>
            <a:r>
              <a:rPr lang="es-CO" u="sng" dirty="0">
                <a:hlinkClick r:id="rId2"/>
              </a:rPr>
              <a:t>articulación humerocubital</a:t>
            </a:r>
            <a:r>
              <a:rPr lang="es-CO" b="0" dirty="0"/>
              <a:t>, y cuando se articula con el hueso contiguo a él (radio), forma dos </a:t>
            </a:r>
            <a:r>
              <a:rPr lang="es-CO" u="sng" dirty="0">
                <a:hlinkClick r:id="rId3"/>
              </a:rPr>
              <a:t>articulaciones</a:t>
            </a:r>
            <a:r>
              <a:rPr lang="es-CO" b="0" dirty="0"/>
              <a:t> (</a:t>
            </a:r>
            <a:r>
              <a:rPr lang="es-CO" dirty="0"/>
              <a:t>radiocubital</a:t>
            </a:r>
            <a:r>
              <a:rPr lang="es-CO" b="0" dirty="0"/>
              <a:t> distal y proximal), gracias a estas uniones el antebrazo se puede mantener estable y se pueden producir los diferentes movimientos de flexión y extensión del codo.</a:t>
            </a:r>
          </a:p>
          <a:p>
            <a:endParaRPr lang="es-CO" dirty="0"/>
          </a:p>
          <a:p>
            <a:endParaRPr lang="es-CO" dirty="0"/>
          </a:p>
        </p:txBody>
      </p:sp>
    </p:spTree>
    <p:extLst>
      <p:ext uri="{BB962C8B-B14F-4D97-AF65-F5344CB8AC3E}">
        <p14:creationId xmlns:p14="http://schemas.microsoft.com/office/powerpoint/2010/main" val="15094780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5212" y="1959429"/>
            <a:ext cx="10306594" cy="3240243"/>
          </a:xfrm>
          <a:prstGeom prst="rect">
            <a:avLst/>
          </a:prstGeom>
        </p:spPr>
      </p:pic>
    </p:spTree>
    <p:extLst>
      <p:ext uri="{BB962C8B-B14F-4D97-AF65-F5344CB8AC3E}">
        <p14:creationId xmlns:p14="http://schemas.microsoft.com/office/powerpoint/2010/main" val="5005015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50"/>
            <a:ext cx="11199812" cy="4556216"/>
          </a:xfrm>
        </p:spPr>
        <p:txBody>
          <a:bodyPr/>
          <a:lstStyle/>
          <a:p>
            <a:r>
              <a:rPr lang="es-ES" dirty="0" smtClean="0"/>
              <a:t>RADIO</a:t>
            </a:r>
          </a:p>
          <a:p>
            <a:pPr algn="just"/>
            <a:r>
              <a:rPr lang="es-CO" b="0" dirty="0"/>
              <a:t>Es un </a:t>
            </a:r>
            <a:r>
              <a:rPr lang="es-CO" dirty="0"/>
              <a:t>hueso de gran longitud</a:t>
            </a:r>
            <a:r>
              <a:rPr lang="es-CO" b="0" dirty="0"/>
              <a:t>, que está en el </a:t>
            </a:r>
            <a:r>
              <a:rPr lang="es-CO" b="0" dirty="0" smtClean="0"/>
              <a:t>antebrazo</a:t>
            </a:r>
          </a:p>
          <a:p>
            <a:pPr algn="just"/>
            <a:r>
              <a:rPr lang="es-CO" b="0" dirty="0" smtClean="0"/>
              <a:t>Está </a:t>
            </a:r>
            <a:r>
              <a:rPr lang="es-CO" b="0" dirty="0"/>
              <a:t>conformado anatómicamente por una zona amplia llamada </a:t>
            </a:r>
            <a:r>
              <a:rPr lang="es-CO" dirty="0"/>
              <a:t>cuerpo</a:t>
            </a:r>
            <a:r>
              <a:rPr lang="es-CO" b="0" dirty="0"/>
              <a:t>, que posee 3 perfiles y 3 costados, ubicados en la parte delantera, por detrás, en la zona interna y externamente. </a:t>
            </a:r>
            <a:endParaRPr lang="es-CO" b="0" dirty="0" smtClean="0"/>
          </a:p>
          <a:p>
            <a:pPr algn="just"/>
            <a:r>
              <a:rPr lang="es-CO" b="0" dirty="0" smtClean="0"/>
              <a:t>Además </a:t>
            </a:r>
            <a:r>
              <a:rPr lang="es-CO" b="0" dirty="0"/>
              <a:t>posee dos superficies, ubicadas en el área superior (cercano al húmero) y en la parte inferior (adyacente a la muñeca), en cuanto a los tamaños de estas zonas podemos encontrarnos, con que la superficie localizada inferiormente es más prominente con respecto a la otra. </a:t>
            </a:r>
            <a:endParaRPr lang="es-CO" dirty="0"/>
          </a:p>
        </p:txBody>
      </p:sp>
    </p:spTree>
    <p:extLst>
      <p:ext uri="{BB962C8B-B14F-4D97-AF65-F5344CB8AC3E}">
        <p14:creationId xmlns:p14="http://schemas.microsoft.com/office/powerpoint/2010/main" val="15103085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49"/>
            <a:ext cx="11199812" cy="4490901"/>
          </a:xfrm>
        </p:spPr>
        <p:txBody>
          <a:bodyPr/>
          <a:lstStyle/>
          <a:p>
            <a:pPr lvl="0" algn="just" eaLnBrk="0" fontAlgn="base" hangingPunct="0">
              <a:spcBef>
                <a:spcPct val="0"/>
              </a:spcBef>
              <a:spcAft>
                <a:spcPct val="0"/>
              </a:spcAft>
            </a:pPr>
            <a:r>
              <a:rPr lang="es-CO" altLang="es-CO" b="0" dirty="0">
                <a:solidFill>
                  <a:srgbClr val="010101"/>
                </a:solidFill>
                <a:latin typeface="Roboto"/>
              </a:rPr>
              <a:t>Las superficies nombradas en el segmento anterior, están compuestas de otras zonas importantes, en el caso de la parte superior, nos encontramos con la </a:t>
            </a:r>
            <a:r>
              <a:rPr lang="es-CO" altLang="es-CO" b="0" u="sng" dirty="0">
                <a:solidFill>
                  <a:srgbClr val="B61E1D"/>
                </a:solidFill>
                <a:latin typeface="Roboto"/>
                <a:hlinkClick r:id="rId2"/>
              </a:rPr>
              <a:t>cabeza del radio</a:t>
            </a:r>
            <a:r>
              <a:rPr lang="es-CO" altLang="es-CO" b="0" dirty="0">
                <a:solidFill>
                  <a:srgbClr val="454545"/>
                </a:solidFill>
                <a:latin typeface="Roboto"/>
              </a:rPr>
              <a:t> o cúpula radial</a:t>
            </a:r>
            <a:r>
              <a:rPr lang="es-CO" altLang="es-CO" b="0" dirty="0">
                <a:solidFill>
                  <a:srgbClr val="010101"/>
                </a:solidFill>
                <a:latin typeface="Roboto"/>
              </a:rPr>
              <a:t>, el cuello y la </a:t>
            </a:r>
            <a:r>
              <a:rPr lang="es-CO" altLang="es-CO" b="0" dirty="0">
                <a:solidFill>
                  <a:srgbClr val="454545"/>
                </a:solidFill>
                <a:latin typeface="Roboto"/>
              </a:rPr>
              <a:t>tuberosidad bicipital</a:t>
            </a:r>
            <a:r>
              <a:rPr lang="es-CO" altLang="es-CO" b="0" dirty="0">
                <a:solidFill>
                  <a:srgbClr val="010101"/>
                </a:solidFill>
                <a:latin typeface="Roboto"/>
              </a:rPr>
              <a:t>; y para la parte inferior ubicamos la </a:t>
            </a:r>
            <a:r>
              <a:rPr lang="es-CO" altLang="es-CO" b="0" dirty="0">
                <a:solidFill>
                  <a:srgbClr val="454545"/>
                </a:solidFill>
                <a:latin typeface="Roboto"/>
              </a:rPr>
              <a:t>apófisis estiloides del radio, la cavidad sigmoidea del </a:t>
            </a:r>
            <a:r>
              <a:rPr lang="es-CO" altLang="es-CO" b="0" dirty="0" smtClean="0">
                <a:solidFill>
                  <a:srgbClr val="454545"/>
                </a:solidFill>
                <a:latin typeface="Roboto"/>
              </a:rPr>
              <a:t>radio</a:t>
            </a:r>
          </a:p>
          <a:p>
            <a:pPr lvl="0" algn="just" eaLnBrk="0" fontAlgn="base" hangingPunct="0">
              <a:spcBef>
                <a:spcPct val="0"/>
              </a:spcBef>
              <a:spcAft>
                <a:spcPct val="0"/>
              </a:spcAft>
            </a:pPr>
            <a:r>
              <a:rPr lang="es-CO" altLang="es-CO" b="0" dirty="0" smtClean="0">
                <a:solidFill>
                  <a:srgbClr val="010101"/>
                </a:solidFill>
                <a:latin typeface="Roboto"/>
              </a:rPr>
              <a:t>Algunas </a:t>
            </a:r>
            <a:r>
              <a:rPr lang="es-CO" altLang="es-CO" b="0" dirty="0">
                <a:solidFill>
                  <a:srgbClr val="010101"/>
                </a:solidFill>
                <a:latin typeface="Roboto"/>
              </a:rPr>
              <a:t>zonas que sirven de inserción para los músculos pronador cuadrado y el supinador largo, y de vía para los tendones del flexor largo del pulgar y extensores de todas las falanges.</a:t>
            </a:r>
            <a:endParaRPr lang="es-CO" altLang="es-CO" sz="2000" b="0" dirty="0"/>
          </a:p>
          <a:p>
            <a:pPr lvl="0" algn="just" eaLnBrk="0" fontAlgn="base" hangingPunct="0">
              <a:spcBef>
                <a:spcPct val="0"/>
              </a:spcBef>
              <a:spcAft>
                <a:spcPct val="0"/>
              </a:spcAft>
            </a:pPr>
            <a:r>
              <a:rPr lang="es-CO" altLang="es-CO" b="0" dirty="0" smtClean="0">
                <a:solidFill>
                  <a:srgbClr val="010101"/>
                </a:solidFill>
                <a:latin typeface="Roboto"/>
              </a:rPr>
              <a:t>La </a:t>
            </a:r>
            <a:r>
              <a:rPr lang="es-CO" altLang="es-CO" b="0" dirty="0">
                <a:solidFill>
                  <a:srgbClr val="010101"/>
                </a:solidFill>
                <a:latin typeface="Roboto"/>
              </a:rPr>
              <a:t>superficie articular de la cabeza radial se une con el cóndilo humeral, mientras que la cavidad sigmoidea posee una superficie articular para fusionarse con la cabeza cubital. </a:t>
            </a:r>
            <a:endParaRPr lang="es-CO" altLang="es-CO" sz="3600" b="0" dirty="0">
              <a:solidFill>
                <a:srgbClr val="004E56"/>
              </a:solidFill>
              <a:latin typeface="Montserrat"/>
            </a:endParaRPr>
          </a:p>
          <a:p>
            <a:endParaRPr lang="es-CO" dirty="0"/>
          </a:p>
        </p:txBody>
      </p:sp>
    </p:spTree>
    <p:extLst>
      <p:ext uri="{BB962C8B-B14F-4D97-AF65-F5344CB8AC3E}">
        <p14:creationId xmlns:p14="http://schemas.microsoft.com/office/powerpoint/2010/main" val="1030124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lvl="0" algn="just" eaLnBrk="0" fontAlgn="base" hangingPunct="0">
              <a:lnSpc>
                <a:spcPct val="100000"/>
              </a:lnSpc>
              <a:spcBef>
                <a:spcPct val="0"/>
              </a:spcBef>
              <a:spcAft>
                <a:spcPct val="0"/>
              </a:spcAft>
            </a:pPr>
            <a:r>
              <a:rPr lang="es-CO" altLang="es-CO" b="0" dirty="0" smtClean="0">
                <a:solidFill>
                  <a:srgbClr val="010101"/>
                </a:solidFill>
                <a:latin typeface="Roboto"/>
              </a:rPr>
              <a:t>El</a:t>
            </a:r>
            <a:r>
              <a:rPr lang="es-CO" altLang="es-CO" b="0" dirty="0">
                <a:solidFill>
                  <a:srgbClr val="010101"/>
                </a:solidFill>
                <a:latin typeface="Roboto"/>
              </a:rPr>
              <a:t> </a:t>
            </a:r>
            <a:r>
              <a:rPr lang="es-CO" altLang="es-CO" dirty="0">
                <a:solidFill>
                  <a:srgbClr val="454545"/>
                </a:solidFill>
                <a:latin typeface="Roboto"/>
              </a:rPr>
              <a:t>radio es una estructura ósea</a:t>
            </a:r>
            <a:r>
              <a:rPr lang="es-CO" altLang="es-CO" b="0" dirty="0">
                <a:solidFill>
                  <a:srgbClr val="010101"/>
                </a:solidFill>
                <a:latin typeface="Roboto"/>
              </a:rPr>
              <a:t> que está localizada en la </a:t>
            </a:r>
            <a:r>
              <a:rPr lang="es-CO" altLang="es-CO" dirty="0">
                <a:solidFill>
                  <a:srgbClr val="454545"/>
                </a:solidFill>
                <a:latin typeface="Roboto"/>
              </a:rPr>
              <a:t>zona lateral del antebrazo</a:t>
            </a:r>
            <a:r>
              <a:rPr lang="es-CO" altLang="es-CO" b="0" dirty="0">
                <a:solidFill>
                  <a:srgbClr val="010101"/>
                </a:solidFill>
                <a:latin typeface="Roboto"/>
              </a:rPr>
              <a:t>, justamente entre la articulación del codo (cóndilo humeral) y de la muñeca (huesos del carpo), y al lado de otro elemento, llamado </a:t>
            </a:r>
            <a:r>
              <a:rPr lang="es-CO" altLang="es-CO" u="sng" dirty="0">
                <a:solidFill>
                  <a:srgbClr val="454545"/>
                </a:solidFill>
                <a:latin typeface="Roboto"/>
                <a:hlinkClick r:id="rId2"/>
              </a:rPr>
              <a:t>cúbito</a:t>
            </a:r>
            <a:r>
              <a:rPr lang="es-CO" altLang="es-CO" b="0" dirty="0">
                <a:solidFill>
                  <a:srgbClr val="010101"/>
                </a:solidFill>
                <a:latin typeface="Roboto"/>
              </a:rPr>
              <a:t>. </a:t>
            </a:r>
            <a:endParaRPr lang="es-CO" altLang="es-CO" b="0" dirty="0" smtClean="0">
              <a:solidFill>
                <a:srgbClr val="010101"/>
              </a:solidFill>
              <a:latin typeface="Roboto"/>
            </a:endParaRPr>
          </a:p>
          <a:p>
            <a:pPr lvl="0" algn="just" eaLnBrk="0" fontAlgn="base" hangingPunct="0">
              <a:lnSpc>
                <a:spcPct val="100000"/>
              </a:lnSpc>
              <a:spcBef>
                <a:spcPct val="0"/>
              </a:spcBef>
              <a:spcAft>
                <a:spcPct val="0"/>
              </a:spcAft>
            </a:pPr>
            <a:r>
              <a:rPr lang="es-CO" altLang="es-CO" b="0" dirty="0" smtClean="0">
                <a:solidFill>
                  <a:srgbClr val="010101"/>
                </a:solidFill>
                <a:latin typeface="Roboto"/>
              </a:rPr>
              <a:t>Para </a:t>
            </a:r>
            <a:r>
              <a:rPr lang="es-CO" altLang="es-CO" b="0" dirty="0">
                <a:solidFill>
                  <a:srgbClr val="010101"/>
                </a:solidFill>
                <a:latin typeface="Roboto"/>
              </a:rPr>
              <a:t>localizarlo podemos ubicarnos en el pulgar y seguir por toda la superficie externa del antebrazo, hasta llegar a la epitróclea del húmero. </a:t>
            </a:r>
            <a:endParaRPr lang="es-CO" altLang="es-CO" sz="3600" dirty="0">
              <a:solidFill>
                <a:srgbClr val="004E56"/>
              </a:solidFill>
              <a:latin typeface="Montserrat"/>
            </a:endParaRPr>
          </a:p>
        </p:txBody>
      </p:sp>
    </p:spTree>
    <p:extLst>
      <p:ext uri="{BB962C8B-B14F-4D97-AF65-F5344CB8AC3E}">
        <p14:creationId xmlns:p14="http://schemas.microsoft.com/office/powerpoint/2010/main" val="6816082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49"/>
            <a:ext cx="11199812" cy="5392239"/>
          </a:xfrm>
        </p:spPr>
        <p:txBody>
          <a:bodyPr/>
          <a:lstStyle/>
          <a:p>
            <a:pPr lvl="0" algn="just" eaLnBrk="0" fontAlgn="base" hangingPunct="0">
              <a:lnSpc>
                <a:spcPct val="100000"/>
              </a:lnSpc>
              <a:spcBef>
                <a:spcPct val="0"/>
              </a:spcBef>
              <a:spcAft>
                <a:spcPct val="0"/>
              </a:spcAft>
            </a:pPr>
            <a:r>
              <a:rPr lang="es-CO" altLang="es-CO" b="0" dirty="0" smtClean="0">
                <a:solidFill>
                  <a:srgbClr val="010101"/>
                </a:solidFill>
                <a:latin typeface="Roboto"/>
              </a:rPr>
              <a:t>FUNCION</a:t>
            </a:r>
          </a:p>
          <a:p>
            <a:pPr lvl="0" algn="just" eaLnBrk="0" fontAlgn="base" hangingPunct="0">
              <a:lnSpc>
                <a:spcPct val="100000"/>
              </a:lnSpc>
              <a:spcBef>
                <a:spcPct val="0"/>
              </a:spcBef>
              <a:spcAft>
                <a:spcPct val="0"/>
              </a:spcAft>
            </a:pPr>
            <a:r>
              <a:rPr lang="es-CO" altLang="es-CO" b="0" dirty="0" smtClean="0">
                <a:solidFill>
                  <a:srgbClr val="010101"/>
                </a:solidFill>
                <a:latin typeface="Roboto"/>
              </a:rPr>
              <a:t>Debido </a:t>
            </a:r>
            <a:r>
              <a:rPr lang="es-CO" altLang="es-CO" b="0" dirty="0">
                <a:solidFill>
                  <a:srgbClr val="010101"/>
                </a:solidFill>
                <a:latin typeface="Roboto"/>
              </a:rPr>
              <a:t>a su gran tamaño y localización es esencial para que se den los</a:t>
            </a:r>
            <a:r>
              <a:rPr lang="es-CO" altLang="es-CO" dirty="0">
                <a:solidFill>
                  <a:srgbClr val="454545"/>
                </a:solidFill>
                <a:latin typeface="Roboto"/>
              </a:rPr>
              <a:t> movimientos de antebrazo,</a:t>
            </a:r>
            <a:r>
              <a:rPr lang="es-CO" altLang="es-CO" b="0" dirty="0">
                <a:solidFill>
                  <a:srgbClr val="010101"/>
                </a:solidFill>
                <a:latin typeface="Roboto"/>
              </a:rPr>
              <a:t> conocidos como supinación y pronación, en las cuales se mueve la zona desde el antebrazo hasta los dedos, ocasionando que la palma de la mano mire hacia arriba en caso de realizar un </a:t>
            </a:r>
            <a:r>
              <a:rPr lang="es-CO" altLang="es-CO" dirty="0">
                <a:solidFill>
                  <a:srgbClr val="454545"/>
                </a:solidFill>
                <a:latin typeface="Roboto"/>
              </a:rPr>
              <a:t>supinación </a:t>
            </a:r>
            <a:r>
              <a:rPr lang="es-CO" altLang="es-CO" b="0" dirty="0">
                <a:solidFill>
                  <a:srgbClr val="010101"/>
                </a:solidFill>
                <a:latin typeface="Roboto"/>
              </a:rPr>
              <a:t>y mirando hacia abajo cuando se ejecuta una </a:t>
            </a:r>
            <a:r>
              <a:rPr lang="es-CO" altLang="es-CO" u="sng" dirty="0">
                <a:solidFill>
                  <a:srgbClr val="454545"/>
                </a:solidFill>
                <a:latin typeface="Roboto"/>
                <a:hlinkClick r:id="rId2"/>
              </a:rPr>
              <a:t>pronación</a:t>
            </a:r>
            <a:r>
              <a:rPr lang="es-CO" altLang="es-CO" b="0" dirty="0">
                <a:solidFill>
                  <a:srgbClr val="010101"/>
                </a:solidFill>
                <a:latin typeface="Roboto"/>
              </a:rPr>
              <a:t>.</a:t>
            </a:r>
            <a:endParaRPr lang="es-CO" altLang="es-CO" sz="2000" b="0" dirty="0"/>
          </a:p>
          <a:p>
            <a:pPr lvl="0" algn="just" eaLnBrk="0" fontAlgn="base" hangingPunct="0">
              <a:lnSpc>
                <a:spcPct val="100000"/>
              </a:lnSpc>
              <a:spcBef>
                <a:spcPct val="0"/>
              </a:spcBef>
              <a:spcAft>
                <a:spcPct val="0"/>
              </a:spcAft>
            </a:pPr>
            <a:r>
              <a:rPr lang="es-CO" altLang="es-CO" b="0" dirty="0" smtClean="0">
                <a:solidFill>
                  <a:srgbClr val="010101"/>
                </a:solidFill>
                <a:latin typeface="Roboto"/>
              </a:rPr>
              <a:t>Así </a:t>
            </a:r>
            <a:r>
              <a:rPr lang="es-CO" altLang="es-CO" b="0" dirty="0">
                <a:solidFill>
                  <a:srgbClr val="010101"/>
                </a:solidFill>
                <a:latin typeface="Roboto"/>
              </a:rPr>
              <a:t>mismo, se une por su parte superior al hueso del brazo, conocido como el húmero para formar la </a:t>
            </a:r>
            <a:r>
              <a:rPr lang="es-CO" altLang="es-CO" dirty="0">
                <a:solidFill>
                  <a:srgbClr val="454545"/>
                </a:solidFill>
                <a:latin typeface="Roboto"/>
              </a:rPr>
              <a:t>articulación humeroradial</a:t>
            </a:r>
            <a:r>
              <a:rPr lang="es-CO" altLang="es-CO" b="0" dirty="0">
                <a:solidFill>
                  <a:srgbClr val="010101"/>
                </a:solidFill>
                <a:latin typeface="Roboto"/>
              </a:rPr>
              <a:t>, y con el cúbito se articula dos veces (en su parte de arriba y en la abajo), para conformar las </a:t>
            </a:r>
            <a:r>
              <a:rPr lang="es-CO" altLang="es-CO" u="sng" dirty="0">
                <a:solidFill>
                  <a:srgbClr val="454545"/>
                </a:solidFill>
                <a:latin typeface="Roboto"/>
                <a:hlinkClick r:id="rId3"/>
              </a:rPr>
              <a:t>articulaciones radiocubital proximal y distal</a:t>
            </a:r>
            <a:r>
              <a:rPr lang="es-CO" altLang="es-CO" b="0" dirty="0">
                <a:solidFill>
                  <a:srgbClr val="010101"/>
                </a:solidFill>
                <a:latin typeface="Roboto"/>
              </a:rPr>
              <a:t>. </a:t>
            </a:r>
            <a:endParaRPr lang="es-CO" altLang="es-CO" sz="3600" b="0" dirty="0">
              <a:latin typeface="Arial" panose="020B0604020202020204" pitchFamily="34" charset="0"/>
            </a:endParaRPr>
          </a:p>
          <a:p>
            <a:endParaRPr lang="es-CO" dirty="0"/>
          </a:p>
          <a:p>
            <a:endParaRPr lang="es-CO" dirty="0"/>
          </a:p>
        </p:txBody>
      </p:sp>
    </p:spTree>
    <p:extLst>
      <p:ext uri="{BB962C8B-B14F-4D97-AF65-F5344CB8AC3E}">
        <p14:creationId xmlns:p14="http://schemas.microsoft.com/office/powerpoint/2010/main" val="33639040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61211" y="2198370"/>
            <a:ext cx="6178732" cy="4175216"/>
          </a:xfrm>
          <a:prstGeom prst="rect">
            <a:avLst/>
          </a:prstGeom>
        </p:spPr>
      </p:pic>
    </p:spTree>
    <p:extLst>
      <p:ext uri="{BB962C8B-B14F-4D97-AF65-F5344CB8AC3E}">
        <p14:creationId xmlns:p14="http://schemas.microsoft.com/office/powerpoint/2010/main" val="9000030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58545" y="2194559"/>
            <a:ext cx="5076497" cy="4167051"/>
          </a:xfrm>
          <a:prstGeom prst="rect">
            <a:avLst/>
          </a:prstGeom>
        </p:spPr>
      </p:pic>
    </p:spTree>
    <p:extLst>
      <p:ext uri="{BB962C8B-B14F-4D97-AF65-F5344CB8AC3E}">
        <p14:creationId xmlns:p14="http://schemas.microsoft.com/office/powerpoint/2010/main" val="6727702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50"/>
            <a:ext cx="11199812" cy="4007576"/>
          </a:xfrm>
        </p:spPr>
        <p:txBody>
          <a:bodyPr/>
          <a:lstStyle/>
          <a:p>
            <a:pPr algn="just"/>
            <a:r>
              <a:rPr lang="es-CO" b="0" dirty="0"/>
              <a:t>La </a:t>
            </a:r>
            <a:r>
              <a:rPr lang="es-CO" dirty="0"/>
              <a:t>mano</a:t>
            </a:r>
            <a:r>
              <a:rPr lang="es-CO" b="0" dirty="0"/>
              <a:t> está compuesta anatómicamente por 3 zonas, estas son conocidas como el </a:t>
            </a:r>
            <a:r>
              <a:rPr lang="es-CO" dirty="0"/>
              <a:t>carpo, el metacarpo y las falanges. </a:t>
            </a:r>
            <a:endParaRPr lang="es-CO" dirty="0" smtClean="0"/>
          </a:p>
          <a:p>
            <a:pPr algn="just"/>
            <a:r>
              <a:rPr lang="es-CO" b="0" dirty="0" smtClean="0"/>
              <a:t>En </a:t>
            </a:r>
            <a:r>
              <a:rPr lang="es-CO" b="0" dirty="0"/>
              <a:t>el caso de la región del </a:t>
            </a:r>
            <a:r>
              <a:rPr lang="es-CO" dirty="0"/>
              <a:t>metacarpo</a:t>
            </a:r>
            <a:r>
              <a:rPr lang="es-CO" b="0" dirty="0"/>
              <a:t> encontramos que está formado por los 5 metacarpianos, que se articulan por su cabeza y su base a la segunda fila del carpo y a las </a:t>
            </a:r>
            <a:r>
              <a:rPr lang="es-CO" b="0" dirty="0" smtClean="0"/>
              <a:t>falanges</a:t>
            </a:r>
          </a:p>
          <a:p>
            <a:pPr algn="just"/>
            <a:r>
              <a:rPr lang="es-CO" b="0" dirty="0" smtClean="0"/>
              <a:t>Las</a:t>
            </a:r>
            <a:r>
              <a:rPr lang="es-CO" b="0" dirty="0"/>
              <a:t> </a:t>
            </a:r>
            <a:r>
              <a:rPr lang="es-CO" dirty="0"/>
              <a:t>falanges</a:t>
            </a:r>
            <a:r>
              <a:rPr lang="es-CO" b="0" dirty="0"/>
              <a:t>, sabemos que por cada zona hay 5 proximales, 4 medias y 5 distales</a:t>
            </a:r>
            <a:r>
              <a:rPr lang="es-CO" b="0" dirty="0" smtClean="0"/>
              <a:t>.</a:t>
            </a:r>
          </a:p>
        </p:txBody>
      </p:sp>
    </p:spTree>
    <p:extLst>
      <p:ext uri="{BB962C8B-B14F-4D97-AF65-F5344CB8AC3E}">
        <p14:creationId xmlns:p14="http://schemas.microsoft.com/office/powerpoint/2010/main" val="2912714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r>
              <a:rPr lang="es-CO" dirty="0" smtClean="0"/>
              <a:t>CARPO</a:t>
            </a:r>
          </a:p>
          <a:p>
            <a:pPr algn="just"/>
            <a:r>
              <a:rPr lang="es-CO" dirty="0" smtClean="0"/>
              <a:t>La </a:t>
            </a:r>
            <a:r>
              <a:rPr lang="es-CO" dirty="0"/>
              <a:t>palabra carpo </a:t>
            </a:r>
            <a:r>
              <a:rPr lang="es-CO" b="0" dirty="0"/>
              <a:t>es usada desde la antigüedad, para describir aquella </a:t>
            </a:r>
            <a:r>
              <a:rPr lang="es-CO" dirty="0"/>
              <a:t>área de la mano</a:t>
            </a:r>
            <a:r>
              <a:rPr lang="es-CO" b="0" dirty="0"/>
              <a:t> que está formada </a:t>
            </a:r>
            <a:r>
              <a:rPr lang="es-CO" dirty="0"/>
              <a:t>por 8 huesos</a:t>
            </a:r>
            <a:r>
              <a:rPr lang="es-CO" b="0" dirty="0"/>
              <a:t>, y que presenta múltiples superficies articulares para poder formar distintas uniones, que posteriormente colaborarán en los movimientos de las manos y de la muñeca.</a:t>
            </a:r>
          </a:p>
          <a:p>
            <a:pPr algn="just"/>
            <a:endParaRPr lang="es-CO" dirty="0"/>
          </a:p>
        </p:txBody>
      </p:sp>
    </p:spTree>
    <p:extLst>
      <p:ext uri="{BB962C8B-B14F-4D97-AF65-F5344CB8AC3E}">
        <p14:creationId xmlns:p14="http://schemas.microsoft.com/office/powerpoint/2010/main" val="40115357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50"/>
            <a:ext cx="11199812" cy="4503964"/>
          </a:xfrm>
        </p:spPr>
        <p:txBody>
          <a:bodyPr/>
          <a:lstStyle/>
          <a:p>
            <a:r>
              <a:rPr lang="es-CO" b="0" dirty="0" smtClean="0"/>
              <a:t>UBICACION</a:t>
            </a:r>
            <a:endParaRPr lang="es-CO" b="0" dirty="0"/>
          </a:p>
          <a:p>
            <a:pPr algn="just"/>
            <a:r>
              <a:rPr lang="es-CO" b="0" dirty="0"/>
              <a:t>Están situados en una </a:t>
            </a:r>
            <a:r>
              <a:rPr lang="es-CO" dirty="0"/>
              <a:t>zona de la mano</a:t>
            </a:r>
            <a:r>
              <a:rPr lang="es-CO" b="0" dirty="0"/>
              <a:t>, que se encuentra entre los metacarpianos y los huesos del antebrazo (cúbito y radio), es decir, entre la muñeca y el metacarpo.</a:t>
            </a:r>
          </a:p>
          <a:p>
            <a:pPr algn="just"/>
            <a:r>
              <a:rPr lang="es-CO" b="0" dirty="0" smtClean="0"/>
              <a:t>SIRVEN</a:t>
            </a:r>
            <a:endParaRPr lang="es-CO" b="0" dirty="0"/>
          </a:p>
          <a:p>
            <a:pPr algn="just"/>
            <a:r>
              <a:rPr lang="es-CO" b="0" dirty="0"/>
              <a:t>Estas estructuras se unen entre ellos a través de diversos ligamentos, para formar las articulaciones conocidas como </a:t>
            </a:r>
            <a:r>
              <a:rPr lang="es-CO" u="sng" dirty="0">
                <a:hlinkClick r:id="rId2"/>
              </a:rPr>
              <a:t>carpianas</a:t>
            </a:r>
            <a:r>
              <a:rPr lang="es-CO" b="0" dirty="0"/>
              <a:t>, además se articulan con los metacarpianos formando las </a:t>
            </a:r>
            <a:r>
              <a:rPr lang="es-CO" dirty="0"/>
              <a:t>articulaciones carpometacarpianas</a:t>
            </a:r>
            <a:r>
              <a:rPr lang="es-CO" b="0" dirty="0"/>
              <a:t> y con el radio para conformar la </a:t>
            </a:r>
            <a:r>
              <a:rPr lang="es-CO" dirty="0"/>
              <a:t>articulación de la muñeca.</a:t>
            </a:r>
            <a:endParaRPr lang="es-CO" b="0" dirty="0"/>
          </a:p>
          <a:p>
            <a:endParaRPr lang="es-CO" dirty="0"/>
          </a:p>
        </p:txBody>
      </p:sp>
    </p:spTree>
    <p:extLst>
      <p:ext uri="{BB962C8B-B14F-4D97-AF65-F5344CB8AC3E}">
        <p14:creationId xmlns:p14="http://schemas.microsoft.com/office/powerpoint/2010/main" val="35714055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endParaRPr lang="es-CO" b="0" dirty="0" smtClean="0"/>
          </a:p>
          <a:p>
            <a:pPr algn="just"/>
            <a:r>
              <a:rPr lang="es-CO" b="0" dirty="0"/>
              <a:t>E</a:t>
            </a:r>
            <a:r>
              <a:rPr lang="es-CO" b="0" dirty="0" smtClean="0"/>
              <a:t>stos </a:t>
            </a:r>
            <a:r>
              <a:rPr lang="es-CO" b="0" dirty="0"/>
              <a:t>son 8 huesos, que se encuentran en la mano distribuidos en dos filas: en la hilera que está más cercana a la muñeca están el hueso </a:t>
            </a:r>
            <a:r>
              <a:rPr lang="es-CO" dirty="0"/>
              <a:t>escafoides, el semilunar, el piramidal y el </a:t>
            </a:r>
            <a:r>
              <a:rPr lang="es-CO" dirty="0" smtClean="0"/>
              <a:t>pisiforme</a:t>
            </a:r>
          </a:p>
          <a:p>
            <a:pPr algn="just"/>
            <a:r>
              <a:rPr lang="es-CO" b="0" dirty="0" smtClean="0"/>
              <a:t>En </a:t>
            </a:r>
            <a:r>
              <a:rPr lang="es-CO" b="0" dirty="0"/>
              <a:t>la segunda fila se encuentran el </a:t>
            </a:r>
            <a:r>
              <a:rPr lang="es-CO" dirty="0"/>
              <a:t>grande, el ganchoso, el trapecio y el trapezoide.</a:t>
            </a:r>
          </a:p>
        </p:txBody>
      </p:sp>
    </p:spTree>
    <p:extLst>
      <p:ext uri="{BB962C8B-B14F-4D97-AF65-F5344CB8AC3E}">
        <p14:creationId xmlns:p14="http://schemas.microsoft.com/office/powerpoint/2010/main" val="7828372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49"/>
            <a:ext cx="11199812" cy="4765222"/>
          </a:xfrm>
        </p:spPr>
        <p:txBody>
          <a:bodyPr/>
          <a:lstStyle/>
          <a:p>
            <a:pPr algn="just"/>
            <a:r>
              <a:rPr lang="es-CO" dirty="0" smtClean="0"/>
              <a:t>Escafoides </a:t>
            </a:r>
            <a:r>
              <a:rPr lang="es-CO" b="0" dirty="0" smtClean="0"/>
              <a:t>es </a:t>
            </a:r>
            <a:r>
              <a:rPr lang="es-CO" b="0" dirty="0"/>
              <a:t>el que se sitúa más externamente y posee una zona llamada tubérculo del escafoides.</a:t>
            </a:r>
          </a:p>
          <a:p>
            <a:pPr algn="just"/>
            <a:r>
              <a:rPr lang="es-CO" dirty="0" smtClean="0"/>
              <a:t>Semilunar</a:t>
            </a:r>
            <a:r>
              <a:rPr lang="es-CO" b="0" dirty="0"/>
              <a:t>, se ubica en el medio del escafoides y el piramidal.</a:t>
            </a:r>
          </a:p>
          <a:p>
            <a:pPr algn="just"/>
            <a:r>
              <a:rPr lang="es-CO" dirty="0" smtClean="0"/>
              <a:t>Piramidal</a:t>
            </a:r>
            <a:r>
              <a:rPr lang="es-CO" b="0" dirty="0"/>
              <a:t>, debe su nombre a su parecido a una pirámide.</a:t>
            </a:r>
          </a:p>
          <a:p>
            <a:pPr algn="just"/>
            <a:r>
              <a:rPr lang="es-CO" dirty="0" smtClean="0"/>
              <a:t>Pisiforme</a:t>
            </a:r>
            <a:r>
              <a:rPr lang="es-CO" b="0" dirty="0"/>
              <a:t> se inserta el músculo cubital anterior.</a:t>
            </a:r>
          </a:p>
          <a:p>
            <a:pPr algn="just"/>
            <a:r>
              <a:rPr lang="es-CO" dirty="0" smtClean="0"/>
              <a:t>Trapecio</a:t>
            </a:r>
            <a:r>
              <a:rPr lang="es-CO" b="0" dirty="0"/>
              <a:t> es el primero de la segunda fila.</a:t>
            </a:r>
          </a:p>
          <a:p>
            <a:pPr algn="just"/>
            <a:r>
              <a:rPr lang="es-CO" dirty="0" smtClean="0"/>
              <a:t>Grande</a:t>
            </a:r>
            <a:r>
              <a:rPr lang="es-CO" b="0" dirty="0"/>
              <a:t> se llama así porque es el que tiene mayor tamaño.</a:t>
            </a:r>
          </a:p>
          <a:p>
            <a:pPr algn="just"/>
            <a:r>
              <a:rPr lang="es-CO" dirty="0" smtClean="0"/>
              <a:t>Trapezoide</a:t>
            </a:r>
            <a:r>
              <a:rPr lang="es-CO" b="0" dirty="0"/>
              <a:t> está al lado del trapecio.</a:t>
            </a:r>
          </a:p>
          <a:p>
            <a:pPr algn="just"/>
            <a:r>
              <a:rPr lang="es-CO" dirty="0" smtClean="0"/>
              <a:t>Ganchoso</a:t>
            </a:r>
            <a:r>
              <a:rPr lang="es-CO" b="0" dirty="0"/>
              <a:t>, en este se inserta el músculo flexor corto y el oponente del meñique. </a:t>
            </a:r>
          </a:p>
          <a:p>
            <a:endParaRPr lang="es-CO" dirty="0"/>
          </a:p>
        </p:txBody>
      </p:sp>
    </p:spTree>
    <p:extLst>
      <p:ext uri="{BB962C8B-B14F-4D97-AF65-F5344CB8AC3E}">
        <p14:creationId xmlns:p14="http://schemas.microsoft.com/office/powerpoint/2010/main" val="39720225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31920" y="2386012"/>
            <a:ext cx="5212080" cy="3609839"/>
          </a:xfrm>
          <a:prstGeom prst="rect">
            <a:avLst/>
          </a:prstGeom>
        </p:spPr>
      </p:pic>
    </p:spTree>
    <p:extLst>
      <p:ext uri="{BB962C8B-B14F-4D97-AF65-F5344CB8AC3E}">
        <p14:creationId xmlns:p14="http://schemas.microsoft.com/office/powerpoint/2010/main" val="35786045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4389" y="1645920"/>
            <a:ext cx="5523221" cy="4872445"/>
          </a:xfrm>
          <a:prstGeom prst="rect">
            <a:avLst/>
          </a:prstGeom>
        </p:spPr>
      </p:pic>
    </p:spTree>
    <p:extLst>
      <p:ext uri="{BB962C8B-B14F-4D97-AF65-F5344CB8AC3E}">
        <p14:creationId xmlns:p14="http://schemas.microsoft.com/office/powerpoint/2010/main" val="10230559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r>
              <a:rPr lang="es-ES" dirty="0" smtClean="0"/>
              <a:t>METACARPIANOS</a:t>
            </a:r>
          </a:p>
          <a:p>
            <a:pPr algn="just"/>
            <a:r>
              <a:rPr lang="es-CO" b="0" dirty="0" smtClean="0"/>
              <a:t>Son </a:t>
            </a:r>
            <a:r>
              <a:rPr lang="es-CO" b="0" dirty="0"/>
              <a:t>los </a:t>
            </a:r>
            <a:r>
              <a:rPr lang="es-CO" dirty="0"/>
              <a:t>huesos </a:t>
            </a:r>
            <a:r>
              <a:rPr lang="es-CO" b="0" dirty="0"/>
              <a:t>que unen a la </a:t>
            </a:r>
            <a:r>
              <a:rPr lang="es-CO" dirty="0"/>
              <a:t>segunda fila del carpo </a:t>
            </a:r>
            <a:r>
              <a:rPr lang="es-CO" b="0" dirty="0"/>
              <a:t>y a las</a:t>
            </a:r>
            <a:r>
              <a:rPr lang="es-CO" dirty="0"/>
              <a:t> falanges proximales </a:t>
            </a:r>
            <a:r>
              <a:rPr lang="es-CO" b="0" dirty="0"/>
              <a:t>(dedos)</a:t>
            </a:r>
            <a:r>
              <a:rPr lang="es-CO" dirty="0"/>
              <a:t>.</a:t>
            </a:r>
            <a:r>
              <a:rPr lang="es-CO" b="0" dirty="0"/>
              <a:t> </a:t>
            </a:r>
            <a:endParaRPr lang="es-CO" b="0" dirty="0" smtClean="0"/>
          </a:p>
          <a:p>
            <a:pPr algn="just"/>
            <a:r>
              <a:rPr lang="es-CO" b="0" dirty="0" smtClean="0"/>
              <a:t>Los </a:t>
            </a:r>
            <a:r>
              <a:rPr lang="es-CO" b="0" dirty="0"/>
              <a:t>rasgos distintivos de cada </a:t>
            </a:r>
            <a:r>
              <a:rPr lang="es-CO" dirty="0"/>
              <a:t>metacarpiano</a:t>
            </a:r>
            <a:r>
              <a:rPr lang="es-CO" b="0" dirty="0"/>
              <a:t>, es que todos son alargados y delgados, y son conocidos como 1er, 2do, 3er, 4to y 5to metacarpiano visto desde el dedo más grueso (pulgar).</a:t>
            </a:r>
            <a:endParaRPr lang="es-CO" dirty="0"/>
          </a:p>
        </p:txBody>
      </p:sp>
    </p:spTree>
    <p:extLst>
      <p:ext uri="{BB962C8B-B14F-4D97-AF65-F5344CB8AC3E}">
        <p14:creationId xmlns:p14="http://schemas.microsoft.com/office/powerpoint/2010/main" val="10873063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49"/>
            <a:ext cx="11199812" cy="4608467"/>
          </a:xfrm>
        </p:spPr>
        <p:txBody>
          <a:bodyPr/>
          <a:lstStyle/>
          <a:p>
            <a:pPr algn="just"/>
            <a:r>
              <a:rPr lang="es-CO" b="0" dirty="0" smtClean="0"/>
              <a:t>Es </a:t>
            </a:r>
            <a:r>
              <a:rPr lang="es-CO" b="0" dirty="0"/>
              <a:t>un área del cuerpo que posee muchísimos músculos, ligamentos, nervios y vasos sanguíneos. </a:t>
            </a:r>
            <a:endParaRPr lang="es-CO" b="0" dirty="0" smtClean="0"/>
          </a:p>
          <a:p>
            <a:pPr algn="just"/>
            <a:r>
              <a:rPr lang="es-CO" b="0" dirty="0" smtClean="0"/>
              <a:t>Cada</a:t>
            </a:r>
            <a:r>
              <a:rPr lang="es-CO" b="0" dirty="0"/>
              <a:t> </a:t>
            </a:r>
            <a:r>
              <a:rPr lang="es-CO" dirty="0"/>
              <a:t>hueso del metacarpo</a:t>
            </a:r>
            <a:r>
              <a:rPr lang="es-CO" b="0" dirty="0"/>
              <a:t>, posee características específicas, pero en general todos tienen un cuerpo y dos superficies (cabeza y base):</a:t>
            </a:r>
          </a:p>
          <a:p>
            <a:pPr algn="just"/>
            <a:r>
              <a:rPr lang="es-CO" b="0" dirty="0"/>
              <a:t>En el caso de la cabeza, esta se une con la falange proximal de cada dedo (</a:t>
            </a:r>
            <a:r>
              <a:rPr lang="es-CO" dirty="0"/>
              <a:t>articulación metacarpofalángica</a:t>
            </a:r>
            <a:r>
              <a:rPr lang="es-CO" b="0" dirty="0"/>
              <a:t>).</a:t>
            </a:r>
          </a:p>
          <a:p>
            <a:pPr algn="just"/>
            <a:r>
              <a:rPr lang="es-CO" b="0" dirty="0"/>
              <a:t>Y para la base, encontramos que se fusiona con los </a:t>
            </a:r>
            <a:r>
              <a:rPr lang="es-CO" u="sng" dirty="0">
                <a:hlinkClick r:id="rId2"/>
              </a:rPr>
              <a:t>huesos del carpo</a:t>
            </a:r>
            <a:r>
              <a:rPr lang="es-CO" b="0" dirty="0"/>
              <a:t> de la segunda fila (trapezoide, trapecio, grande y ganchoso), formando la </a:t>
            </a:r>
            <a:r>
              <a:rPr lang="es-CO" dirty="0"/>
              <a:t>articulación carpometacarpiana</a:t>
            </a:r>
            <a:r>
              <a:rPr lang="es-CO" b="0" dirty="0"/>
              <a:t>. </a:t>
            </a:r>
          </a:p>
          <a:p>
            <a:pPr algn="just"/>
            <a:endParaRPr lang="es-CO" dirty="0"/>
          </a:p>
        </p:txBody>
      </p:sp>
    </p:spTree>
    <p:extLst>
      <p:ext uri="{BB962C8B-B14F-4D97-AF65-F5344CB8AC3E}">
        <p14:creationId xmlns:p14="http://schemas.microsoft.com/office/powerpoint/2010/main" val="27862039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49"/>
            <a:ext cx="11199812" cy="4673781"/>
          </a:xfrm>
        </p:spPr>
        <p:txBody>
          <a:bodyPr/>
          <a:lstStyle/>
          <a:p>
            <a:r>
              <a:rPr lang="es-CO" dirty="0" smtClean="0"/>
              <a:t>UBICACION</a:t>
            </a:r>
          </a:p>
          <a:p>
            <a:pPr algn="just"/>
            <a:r>
              <a:rPr lang="es-CO" b="0" dirty="0" smtClean="0"/>
              <a:t>En </a:t>
            </a:r>
            <a:r>
              <a:rPr lang="es-CO" b="0" dirty="0"/>
              <a:t>el </a:t>
            </a:r>
            <a:r>
              <a:rPr lang="es-CO" dirty="0"/>
              <a:t>miembro superior</a:t>
            </a:r>
            <a:r>
              <a:rPr lang="es-CO" b="0" dirty="0"/>
              <a:t>, específicamente en la parte distal (</a:t>
            </a:r>
            <a:r>
              <a:rPr lang="es-CO" dirty="0"/>
              <a:t>mano</a:t>
            </a:r>
            <a:r>
              <a:rPr lang="es-CO" b="0" dirty="0"/>
              <a:t>), en la zona llamada metacarpo, entre el carpo y las falanges.</a:t>
            </a:r>
          </a:p>
          <a:p>
            <a:endParaRPr lang="es-CO" dirty="0"/>
          </a:p>
        </p:txBody>
      </p:sp>
    </p:spTree>
    <p:extLst>
      <p:ext uri="{BB962C8B-B14F-4D97-AF65-F5344CB8AC3E}">
        <p14:creationId xmlns:p14="http://schemas.microsoft.com/office/powerpoint/2010/main" val="246943738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49"/>
            <a:ext cx="11199812" cy="5091793"/>
          </a:xfrm>
        </p:spPr>
        <p:txBody>
          <a:bodyPr/>
          <a:lstStyle/>
          <a:p>
            <a:pPr algn="just"/>
            <a:r>
              <a:rPr lang="es-CO" dirty="0"/>
              <a:t>FUNCION</a:t>
            </a:r>
          </a:p>
          <a:p>
            <a:pPr algn="just"/>
            <a:r>
              <a:rPr lang="es-CO" b="0" dirty="0"/>
              <a:t>En cada </a:t>
            </a:r>
            <a:r>
              <a:rPr lang="es-CO" dirty="0"/>
              <a:t>metacarpiano</a:t>
            </a:r>
            <a:r>
              <a:rPr lang="es-CO" b="0" dirty="0"/>
              <a:t> podemos encontrar rasgos más específicos, dependiendo de cuál estemos hablando. </a:t>
            </a:r>
          </a:p>
          <a:p>
            <a:pPr algn="just"/>
            <a:r>
              <a:rPr lang="es-CO" b="0" dirty="0"/>
              <a:t>Primer hueso es el más pequeño y más robusto</a:t>
            </a:r>
          </a:p>
          <a:p>
            <a:pPr algn="just"/>
            <a:r>
              <a:rPr lang="es-CO" b="0" dirty="0"/>
              <a:t>Segundo es el que posee mayor longitud con respecto a los otros</a:t>
            </a:r>
          </a:p>
          <a:p>
            <a:pPr algn="just"/>
            <a:r>
              <a:rPr lang="es-CO" b="0" dirty="0"/>
              <a:t>Tercero tiene una prominencia ósea (</a:t>
            </a:r>
            <a:r>
              <a:rPr lang="es-CO" dirty="0"/>
              <a:t>apófisis estiloides</a:t>
            </a:r>
            <a:r>
              <a:rPr lang="es-CO" b="0" dirty="0"/>
              <a:t>) en la que se ancla el </a:t>
            </a:r>
            <a:r>
              <a:rPr lang="es-CO" u="sng" dirty="0">
                <a:hlinkClick r:id="rId2"/>
              </a:rPr>
              <a:t>músculo radial (2do</a:t>
            </a:r>
            <a:r>
              <a:rPr lang="es-CO" u="sng" dirty="0" smtClean="0">
                <a:hlinkClick r:id="rId2"/>
              </a:rPr>
              <a:t>)</a:t>
            </a:r>
            <a:endParaRPr lang="es-CO" u="sng" dirty="0"/>
          </a:p>
        </p:txBody>
      </p:sp>
    </p:spTree>
    <p:extLst>
      <p:ext uri="{BB962C8B-B14F-4D97-AF65-F5344CB8AC3E}">
        <p14:creationId xmlns:p14="http://schemas.microsoft.com/office/powerpoint/2010/main" val="130787586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algn="just"/>
            <a:r>
              <a:rPr lang="es-CO" b="0" dirty="0"/>
              <a:t>Cuarto en comparación con el anterior tiene un tamaño mucho menor; y finalmente</a:t>
            </a:r>
          </a:p>
          <a:p>
            <a:pPr algn="just"/>
            <a:r>
              <a:rPr lang="es-CO" b="0" dirty="0"/>
              <a:t>Quinto es importante para que el músculo cubital posterior pueda llegar a su destino. </a:t>
            </a:r>
            <a:endParaRPr lang="es-CO" b="0" dirty="0" smtClean="0"/>
          </a:p>
          <a:p>
            <a:pPr algn="just"/>
            <a:r>
              <a:rPr lang="es-CO" b="0" dirty="0"/>
              <a:t>Además de las características antes mencionadas, estos huesos tienen de importancia que permiten los movimientos de la mano, así como </a:t>
            </a:r>
            <a:r>
              <a:rPr lang="es-CO" dirty="0"/>
              <a:t>actividades </a:t>
            </a:r>
            <a:r>
              <a:rPr lang="es-CO" b="0" dirty="0"/>
              <a:t>en donde implica agarrar, apretar, escribir, vestirse, cepillarse, entre otras.</a:t>
            </a:r>
            <a:endParaRPr lang="es-CO" dirty="0"/>
          </a:p>
          <a:p>
            <a:pPr algn="just"/>
            <a:endParaRPr lang="es-CO" b="0" dirty="0"/>
          </a:p>
          <a:p>
            <a:endParaRPr lang="es-CO" dirty="0"/>
          </a:p>
          <a:p>
            <a:endParaRPr lang="es-CO" dirty="0"/>
          </a:p>
        </p:txBody>
      </p:sp>
    </p:spTree>
    <p:extLst>
      <p:ext uri="{BB962C8B-B14F-4D97-AF65-F5344CB8AC3E}">
        <p14:creationId xmlns:p14="http://schemas.microsoft.com/office/powerpoint/2010/main" val="41478142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46221" y="1449977"/>
            <a:ext cx="5143500" cy="4976949"/>
          </a:xfrm>
          <a:prstGeom prst="rect">
            <a:avLst/>
          </a:prstGeom>
        </p:spPr>
      </p:pic>
    </p:spTree>
    <p:extLst>
      <p:ext uri="{BB962C8B-B14F-4D97-AF65-F5344CB8AC3E}">
        <p14:creationId xmlns:p14="http://schemas.microsoft.com/office/powerpoint/2010/main" val="29126635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49"/>
            <a:ext cx="11199812" cy="4059827"/>
          </a:xfrm>
        </p:spPr>
        <p:txBody>
          <a:bodyPr/>
          <a:lstStyle/>
          <a:p>
            <a:r>
              <a:rPr lang="es-ES" dirty="0" smtClean="0"/>
              <a:t>FALANGES</a:t>
            </a:r>
          </a:p>
          <a:p>
            <a:pPr algn="just"/>
            <a:r>
              <a:rPr lang="es-CO" dirty="0" smtClean="0"/>
              <a:t>son </a:t>
            </a:r>
            <a:r>
              <a:rPr lang="es-CO" dirty="0"/>
              <a:t>huesos cortos</a:t>
            </a:r>
            <a:r>
              <a:rPr lang="es-CO" b="0" dirty="0"/>
              <a:t> que se unen para formar los dedos. </a:t>
            </a:r>
            <a:endParaRPr lang="es-CO" b="0" dirty="0" smtClean="0"/>
          </a:p>
          <a:p>
            <a:pPr algn="just"/>
            <a:r>
              <a:rPr lang="es-CO" b="0" dirty="0" smtClean="0"/>
              <a:t>Están </a:t>
            </a:r>
            <a:r>
              <a:rPr lang="es-CO" b="0" dirty="0"/>
              <a:t>definidas como aquellas partes del cuerpo que conforman las prolongaciones de las manos y de los pies. </a:t>
            </a:r>
            <a:endParaRPr lang="es-CO" b="0" dirty="0" smtClean="0"/>
          </a:p>
          <a:p>
            <a:pPr algn="just"/>
            <a:r>
              <a:rPr lang="es-CO" b="0" dirty="0" smtClean="0"/>
              <a:t>Se </a:t>
            </a:r>
            <a:r>
              <a:rPr lang="es-CO" b="0" dirty="0"/>
              <a:t>dividen en 3 partes para los dedos del segundo al quinto (índice, medio, anular y meñique), y en 2 partes para el pulgar y el hallux (dedo gordo). </a:t>
            </a:r>
            <a:endParaRPr lang="es-CO" b="0" dirty="0" smtClean="0"/>
          </a:p>
          <a:p>
            <a:pPr algn="just"/>
            <a:r>
              <a:rPr lang="es-CO" b="0" dirty="0" smtClean="0"/>
              <a:t>En </a:t>
            </a:r>
            <a:r>
              <a:rPr lang="es-CO" b="0" dirty="0"/>
              <a:t>total el cuerpo humano tiene 56 falanges, distribuidas en 14 falanges por cada mano y cada pie.</a:t>
            </a:r>
            <a:endParaRPr lang="es-CO" dirty="0"/>
          </a:p>
        </p:txBody>
      </p:sp>
    </p:spTree>
    <p:extLst>
      <p:ext uri="{BB962C8B-B14F-4D97-AF65-F5344CB8AC3E}">
        <p14:creationId xmlns:p14="http://schemas.microsoft.com/office/powerpoint/2010/main" val="13041225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49"/>
            <a:ext cx="11199812" cy="4490901"/>
          </a:xfrm>
        </p:spPr>
        <p:txBody>
          <a:bodyPr/>
          <a:lstStyle/>
          <a:p>
            <a:pPr lvl="0" algn="just" eaLnBrk="0" fontAlgn="base" hangingPunct="0">
              <a:lnSpc>
                <a:spcPct val="100000"/>
              </a:lnSpc>
              <a:spcBef>
                <a:spcPct val="0"/>
              </a:spcBef>
              <a:spcAft>
                <a:spcPct val="0"/>
              </a:spcAft>
            </a:pPr>
            <a:r>
              <a:rPr lang="es-CO" altLang="es-CO" b="0" dirty="0">
                <a:solidFill>
                  <a:srgbClr val="010101"/>
                </a:solidFill>
                <a:latin typeface="Roboto"/>
              </a:rPr>
              <a:t>Las manos y los pies son partes del cuerpo que están conformados por muchos músculos, ligamentos, tendones y nervios. </a:t>
            </a:r>
            <a:endParaRPr lang="es-CO" altLang="es-CO" b="0" dirty="0" smtClean="0">
              <a:solidFill>
                <a:srgbClr val="010101"/>
              </a:solidFill>
              <a:latin typeface="Roboto"/>
            </a:endParaRPr>
          </a:p>
          <a:p>
            <a:pPr lvl="0" algn="just" eaLnBrk="0" fontAlgn="base" hangingPunct="0">
              <a:lnSpc>
                <a:spcPct val="100000"/>
              </a:lnSpc>
              <a:spcBef>
                <a:spcPct val="0"/>
              </a:spcBef>
              <a:spcAft>
                <a:spcPct val="0"/>
              </a:spcAft>
            </a:pPr>
            <a:r>
              <a:rPr lang="es-CO" altLang="es-CO" b="0" dirty="0" smtClean="0">
                <a:solidFill>
                  <a:srgbClr val="010101"/>
                </a:solidFill>
                <a:latin typeface="Roboto"/>
              </a:rPr>
              <a:t>Cada</a:t>
            </a:r>
            <a:r>
              <a:rPr lang="es-CO" altLang="es-CO" b="0" dirty="0">
                <a:solidFill>
                  <a:srgbClr val="010101"/>
                </a:solidFill>
                <a:latin typeface="Roboto"/>
              </a:rPr>
              <a:t> </a:t>
            </a:r>
            <a:r>
              <a:rPr lang="es-CO" altLang="es-CO" dirty="0">
                <a:solidFill>
                  <a:srgbClr val="454545"/>
                </a:solidFill>
                <a:latin typeface="Roboto"/>
              </a:rPr>
              <a:t>mano y pie</a:t>
            </a:r>
            <a:r>
              <a:rPr lang="es-CO" altLang="es-CO" b="0" dirty="0">
                <a:solidFill>
                  <a:srgbClr val="010101"/>
                </a:solidFill>
                <a:latin typeface="Roboto"/>
              </a:rPr>
              <a:t> está compuesto de </a:t>
            </a:r>
            <a:r>
              <a:rPr lang="es-CO" altLang="es-CO" dirty="0">
                <a:solidFill>
                  <a:srgbClr val="454545"/>
                </a:solidFill>
                <a:latin typeface="Roboto"/>
              </a:rPr>
              <a:t>5 dedos</a:t>
            </a:r>
            <a:r>
              <a:rPr lang="es-CO" altLang="es-CO" b="0" dirty="0">
                <a:solidFill>
                  <a:srgbClr val="010101"/>
                </a:solidFill>
                <a:latin typeface="Roboto"/>
              </a:rPr>
              <a:t>, que a su vez están formadas por varias estructuras, llamadas </a:t>
            </a:r>
            <a:r>
              <a:rPr lang="es-CO" altLang="es-CO" dirty="0">
                <a:solidFill>
                  <a:srgbClr val="454545"/>
                </a:solidFill>
                <a:latin typeface="Roboto"/>
              </a:rPr>
              <a:t>falanges</a:t>
            </a:r>
            <a:r>
              <a:rPr lang="es-CO" altLang="es-CO" b="0" dirty="0">
                <a:solidFill>
                  <a:srgbClr val="010101"/>
                </a:solidFill>
                <a:latin typeface="Roboto"/>
              </a:rPr>
              <a:t>. </a:t>
            </a:r>
            <a:endParaRPr lang="es-CO" altLang="es-CO" b="0" dirty="0" smtClean="0">
              <a:solidFill>
                <a:srgbClr val="010101"/>
              </a:solidFill>
              <a:latin typeface="Roboto"/>
            </a:endParaRPr>
          </a:p>
          <a:p>
            <a:pPr lvl="0" algn="just" eaLnBrk="0" fontAlgn="base" hangingPunct="0">
              <a:lnSpc>
                <a:spcPct val="100000"/>
              </a:lnSpc>
              <a:spcBef>
                <a:spcPct val="0"/>
              </a:spcBef>
              <a:spcAft>
                <a:spcPct val="0"/>
              </a:spcAft>
            </a:pPr>
            <a:endParaRPr lang="es-CO" altLang="es-CO" b="0" dirty="0" smtClean="0">
              <a:solidFill>
                <a:srgbClr val="010101"/>
              </a:solidFill>
              <a:latin typeface="Roboto"/>
            </a:endParaRPr>
          </a:p>
          <a:p>
            <a:pPr lvl="0" algn="just" eaLnBrk="0" fontAlgn="base" hangingPunct="0">
              <a:lnSpc>
                <a:spcPct val="100000"/>
              </a:lnSpc>
              <a:spcBef>
                <a:spcPct val="0"/>
              </a:spcBef>
              <a:spcAft>
                <a:spcPct val="0"/>
              </a:spcAft>
            </a:pPr>
            <a:r>
              <a:rPr lang="es-CO" altLang="es-CO" b="0" dirty="0" smtClean="0">
                <a:solidFill>
                  <a:srgbClr val="010101"/>
                </a:solidFill>
                <a:latin typeface="Roboto"/>
              </a:rPr>
              <a:t>En </a:t>
            </a:r>
            <a:r>
              <a:rPr lang="es-CO" altLang="es-CO" b="0" dirty="0">
                <a:solidFill>
                  <a:srgbClr val="010101"/>
                </a:solidFill>
                <a:latin typeface="Roboto"/>
              </a:rPr>
              <a:t>la mano, cada falange posee un nombre diferente, en el caso de la </a:t>
            </a:r>
            <a:r>
              <a:rPr lang="es-CO" altLang="es-CO" dirty="0">
                <a:solidFill>
                  <a:srgbClr val="454545"/>
                </a:solidFill>
                <a:latin typeface="Roboto"/>
              </a:rPr>
              <a:t>proxima</a:t>
            </a:r>
            <a:r>
              <a:rPr lang="es-CO" altLang="es-CO" b="0" dirty="0">
                <a:solidFill>
                  <a:srgbClr val="010101"/>
                </a:solidFill>
                <a:latin typeface="Roboto"/>
              </a:rPr>
              <a:t>l es conocida como primera falange, la </a:t>
            </a:r>
            <a:r>
              <a:rPr lang="es-CO" altLang="es-CO" dirty="0">
                <a:solidFill>
                  <a:srgbClr val="454545"/>
                </a:solidFill>
                <a:latin typeface="Roboto"/>
              </a:rPr>
              <a:t>medial</a:t>
            </a:r>
            <a:r>
              <a:rPr lang="es-CO" altLang="es-CO" b="0" dirty="0">
                <a:solidFill>
                  <a:srgbClr val="010101"/>
                </a:solidFill>
                <a:latin typeface="Roboto"/>
              </a:rPr>
              <a:t> es la segunda falange o también conocida como </a:t>
            </a:r>
            <a:r>
              <a:rPr lang="es-CO" altLang="es-CO" dirty="0">
                <a:solidFill>
                  <a:srgbClr val="454545"/>
                </a:solidFill>
                <a:latin typeface="Roboto"/>
              </a:rPr>
              <a:t>falangina</a:t>
            </a:r>
            <a:r>
              <a:rPr lang="es-CO" altLang="es-CO" b="0" dirty="0">
                <a:solidFill>
                  <a:srgbClr val="010101"/>
                </a:solidFill>
                <a:latin typeface="Roboto"/>
              </a:rPr>
              <a:t> y la </a:t>
            </a:r>
            <a:r>
              <a:rPr lang="es-CO" altLang="es-CO" dirty="0">
                <a:solidFill>
                  <a:srgbClr val="454545"/>
                </a:solidFill>
                <a:latin typeface="Roboto"/>
              </a:rPr>
              <a:t>distal</a:t>
            </a:r>
            <a:r>
              <a:rPr lang="es-CO" altLang="es-CO" b="0" dirty="0">
                <a:solidFill>
                  <a:srgbClr val="010101"/>
                </a:solidFill>
                <a:latin typeface="Roboto"/>
              </a:rPr>
              <a:t> es la tercera falange o </a:t>
            </a:r>
            <a:r>
              <a:rPr lang="es-CO" altLang="es-CO" dirty="0">
                <a:solidFill>
                  <a:srgbClr val="454545"/>
                </a:solidFill>
                <a:latin typeface="Roboto"/>
              </a:rPr>
              <a:t>falangeta</a:t>
            </a:r>
            <a:r>
              <a:rPr lang="es-CO" altLang="es-CO" b="0" dirty="0">
                <a:solidFill>
                  <a:srgbClr val="010101"/>
                </a:solidFill>
                <a:latin typeface="Roboto"/>
              </a:rPr>
              <a:t>.</a:t>
            </a:r>
            <a:endParaRPr lang="es-CO" altLang="es-CO" sz="2000" b="0" dirty="0"/>
          </a:p>
          <a:p>
            <a:pPr lvl="0" algn="just" eaLnBrk="0" fontAlgn="base" hangingPunct="0">
              <a:lnSpc>
                <a:spcPct val="100000"/>
              </a:lnSpc>
              <a:spcBef>
                <a:spcPct val="0"/>
              </a:spcBef>
              <a:spcAft>
                <a:spcPct val="0"/>
              </a:spcAft>
            </a:pPr>
            <a:r>
              <a:rPr lang="es-CO" altLang="es-CO" b="0" dirty="0" smtClean="0">
                <a:solidFill>
                  <a:srgbClr val="010101"/>
                </a:solidFill>
                <a:latin typeface="Roboto"/>
              </a:rPr>
              <a:t>está </a:t>
            </a:r>
            <a:r>
              <a:rPr lang="es-CO" altLang="es-CO" b="0" dirty="0">
                <a:solidFill>
                  <a:srgbClr val="010101"/>
                </a:solidFill>
                <a:latin typeface="Roboto"/>
              </a:rPr>
              <a:t>inferiormente es denominada base.</a:t>
            </a:r>
            <a:endParaRPr lang="es-CO" altLang="es-CO" sz="3600" b="0" dirty="0">
              <a:latin typeface="Arial" panose="020B0604020202020204" pitchFamily="34" charset="0"/>
            </a:endParaRPr>
          </a:p>
          <a:p>
            <a:endParaRPr lang="es-CO" dirty="0"/>
          </a:p>
        </p:txBody>
      </p:sp>
    </p:spTree>
    <p:extLst>
      <p:ext uri="{BB962C8B-B14F-4D97-AF65-F5344CB8AC3E}">
        <p14:creationId xmlns:p14="http://schemas.microsoft.com/office/powerpoint/2010/main" val="24327720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algn="just"/>
            <a:r>
              <a:rPr lang="es-CO" altLang="es-CO" b="0" dirty="0">
                <a:solidFill>
                  <a:srgbClr val="010101"/>
                </a:solidFill>
                <a:latin typeface="Roboto"/>
              </a:rPr>
              <a:t>Todos estos huesos, están clasificados como </a:t>
            </a:r>
            <a:r>
              <a:rPr lang="es-CO" altLang="es-CO" dirty="0">
                <a:solidFill>
                  <a:srgbClr val="454545"/>
                </a:solidFill>
                <a:latin typeface="Roboto"/>
              </a:rPr>
              <a:t>hueso tipo largo</a:t>
            </a:r>
            <a:r>
              <a:rPr lang="es-CO" altLang="es-CO" b="0" dirty="0">
                <a:solidFill>
                  <a:srgbClr val="010101"/>
                </a:solidFill>
                <a:latin typeface="Roboto"/>
              </a:rPr>
              <a:t>, y están formados por una cabeza y dos superficies articulares en cada extremo, en el caso de la que se ubica en la zona superior es conocida como cabeza, mientras que la que</a:t>
            </a:r>
            <a:endParaRPr lang="es-CO" dirty="0"/>
          </a:p>
        </p:txBody>
      </p:sp>
    </p:spTree>
    <p:extLst>
      <p:ext uri="{BB962C8B-B14F-4D97-AF65-F5344CB8AC3E}">
        <p14:creationId xmlns:p14="http://schemas.microsoft.com/office/powerpoint/2010/main" val="25904345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r>
              <a:rPr lang="es-ES" dirty="0" smtClean="0"/>
              <a:t>UBICACION</a:t>
            </a:r>
          </a:p>
          <a:p>
            <a:endParaRPr lang="es-ES" dirty="0" smtClean="0"/>
          </a:p>
          <a:p>
            <a:pPr lvl="0" algn="just" eaLnBrk="0" fontAlgn="base" hangingPunct="0">
              <a:lnSpc>
                <a:spcPct val="100000"/>
              </a:lnSpc>
              <a:spcBef>
                <a:spcPct val="0"/>
              </a:spcBef>
              <a:spcAft>
                <a:spcPct val="0"/>
              </a:spcAft>
            </a:pPr>
            <a:r>
              <a:rPr lang="es-CO" altLang="es-CO" b="0" dirty="0" smtClean="0">
                <a:solidFill>
                  <a:srgbClr val="010101"/>
                </a:solidFill>
                <a:latin typeface="Roboto"/>
              </a:rPr>
              <a:t>De </a:t>
            </a:r>
            <a:r>
              <a:rPr lang="es-CO" altLang="es-CO" b="0" dirty="0">
                <a:solidFill>
                  <a:srgbClr val="010101"/>
                </a:solidFill>
                <a:latin typeface="Roboto"/>
              </a:rPr>
              <a:t>acuerdo a la anatomía, las falanges se encuentran ubicadas en las cuatro extremidades distales del cuerpo, es decir, en </a:t>
            </a:r>
            <a:r>
              <a:rPr lang="es-CO" altLang="es-CO" dirty="0">
                <a:solidFill>
                  <a:srgbClr val="454545"/>
                </a:solidFill>
                <a:latin typeface="Roboto"/>
              </a:rPr>
              <a:t>manos y pies</a:t>
            </a:r>
            <a:r>
              <a:rPr lang="es-CO" altLang="es-CO" b="0" dirty="0">
                <a:solidFill>
                  <a:srgbClr val="010101"/>
                </a:solidFill>
                <a:latin typeface="Roboto"/>
              </a:rPr>
              <a:t>. </a:t>
            </a:r>
            <a:endParaRPr lang="es-CO" altLang="es-CO" b="0" dirty="0" smtClean="0">
              <a:solidFill>
                <a:srgbClr val="010101"/>
              </a:solidFill>
              <a:latin typeface="Roboto"/>
            </a:endParaRPr>
          </a:p>
          <a:p>
            <a:pPr lvl="0" algn="just" eaLnBrk="0" fontAlgn="base" hangingPunct="0">
              <a:lnSpc>
                <a:spcPct val="100000"/>
              </a:lnSpc>
              <a:spcBef>
                <a:spcPct val="0"/>
              </a:spcBef>
              <a:spcAft>
                <a:spcPct val="0"/>
              </a:spcAft>
            </a:pPr>
            <a:r>
              <a:rPr lang="es-CO" altLang="es-CO" b="0" dirty="0" smtClean="0">
                <a:solidFill>
                  <a:srgbClr val="010101"/>
                </a:solidFill>
                <a:latin typeface="Roboto"/>
              </a:rPr>
              <a:t>Las </a:t>
            </a:r>
            <a:r>
              <a:rPr lang="es-CO" altLang="es-CO" b="0" dirty="0">
                <a:solidFill>
                  <a:srgbClr val="010101"/>
                </a:solidFill>
                <a:latin typeface="Roboto"/>
              </a:rPr>
              <a:t>falanges se clasifican en </a:t>
            </a:r>
            <a:r>
              <a:rPr lang="es-CO" altLang="es-CO" dirty="0">
                <a:solidFill>
                  <a:srgbClr val="454545"/>
                </a:solidFill>
                <a:latin typeface="Roboto"/>
              </a:rPr>
              <a:t>proximales, medias y distales</a:t>
            </a:r>
            <a:r>
              <a:rPr lang="es-CO" altLang="es-CO" b="0" dirty="0">
                <a:solidFill>
                  <a:srgbClr val="010101"/>
                </a:solidFill>
                <a:latin typeface="Roboto"/>
              </a:rPr>
              <a:t> dependiendo de su ubicación en el dedo, es decir, de si se encuentran más cerca o más lejos de los </a:t>
            </a:r>
            <a:r>
              <a:rPr lang="es-CO" altLang="es-CO" u="sng" dirty="0">
                <a:solidFill>
                  <a:srgbClr val="454545"/>
                </a:solidFill>
                <a:latin typeface="Roboto"/>
                <a:hlinkClick r:id="rId2"/>
              </a:rPr>
              <a:t>huesos del metacarpo.</a:t>
            </a:r>
            <a:endParaRPr lang="es-CO" altLang="es-CO" sz="3600" dirty="0">
              <a:solidFill>
                <a:srgbClr val="004E56"/>
              </a:solidFill>
              <a:latin typeface="Montserrat"/>
            </a:endParaRPr>
          </a:p>
          <a:p>
            <a:endParaRPr lang="es-CO" dirty="0"/>
          </a:p>
        </p:txBody>
      </p:sp>
    </p:spTree>
    <p:extLst>
      <p:ext uri="{BB962C8B-B14F-4D97-AF65-F5344CB8AC3E}">
        <p14:creationId xmlns:p14="http://schemas.microsoft.com/office/powerpoint/2010/main" val="12704628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49"/>
            <a:ext cx="11199812" cy="4699907"/>
          </a:xfrm>
        </p:spPr>
        <p:txBody>
          <a:bodyPr/>
          <a:lstStyle/>
          <a:p>
            <a:pPr lvl="0" algn="just" eaLnBrk="0" fontAlgn="base" hangingPunct="0">
              <a:lnSpc>
                <a:spcPct val="100000"/>
              </a:lnSpc>
              <a:spcBef>
                <a:spcPct val="0"/>
              </a:spcBef>
              <a:spcAft>
                <a:spcPct val="0"/>
              </a:spcAft>
            </a:pPr>
            <a:r>
              <a:rPr lang="es-CO" altLang="es-CO" b="0" dirty="0" smtClean="0">
                <a:solidFill>
                  <a:srgbClr val="010101"/>
                </a:solidFill>
                <a:latin typeface="Roboto"/>
              </a:rPr>
              <a:t>FUNCION</a:t>
            </a:r>
          </a:p>
          <a:p>
            <a:pPr lvl="0" algn="just" eaLnBrk="0" fontAlgn="base" hangingPunct="0">
              <a:lnSpc>
                <a:spcPct val="100000"/>
              </a:lnSpc>
              <a:spcBef>
                <a:spcPct val="0"/>
              </a:spcBef>
              <a:spcAft>
                <a:spcPct val="0"/>
              </a:spcAft>
            </a:pPr>
            <a:r>
              <a:rPr lang="es-CO" altLang="es-CO" b="0" dirty="0" smtClean="0">
                <a:solidFill>
                  <a:srgbClr val="010101"/>
                </a:solidFill>
                <a:latin typeface="Roboto"/>
              </a:rPr>
              <a:t>Las</a:t>
            </a:r>
            <a:r>
              <a:rPr lang="es-CO" altLang="es-CO" b="0" dirty="0">
                <a:solidFill>
                  <a:srgbClr val="010101"/>
                </a:solidFill>
                <a:latin typeface="Roboto"/>
              </a:rPr>
              <a:t> </a:t>
            </a:r>
            <a:r>
              <a:rPr lang="es-CO" altLang="es-CO" dirty="0">
                <a:solidFill>
                  <a:srgbClr val="454545"/>
                </a:solidFill>
                <a:latin typeface="Roboto"/>
              </a:rPr>
              <a:t>falanges</a:t>
            </a:r>
            <a:r>
              <a:rPr lang="es-CO" altLang="es-CO" b="0" dirty="0">
                <a:solidFill>
                  <a:srgbClr val="010101"/>
                </a:solidFill>
                <a:latin typeface="Roboto"/>
              </a:rPr>
              <a:t> resultan de suma importancia para el ser humano, ya que sin ellas no se pudieran realizar las siguientes funciones:</a:t>
            </a:r>
            <a:endParaRPr lang="es-CO" altLang="es-CO" sz="2000" b="0" dirty="0"/>
          </a:p>
          <a:p>
            <a:pPr lvl="0" algn="just" eaLnBrk="0" fontAlgn="base" hangingPunct="0">
              <a:lnSpc>
                <a:spcPct val="100000"/>
              </a:lnSpc>
              <a:spcBef>
                <a:spcPct val="0"/>
              </a:spcBef>
              <a:spcAft>
                <a:spcPct val="0"/>
              </a:spcAft>
              <a:buFontTx/>
              <a:buChar char="•"/>
            </a:pPr>
            <a:r>
              <a:rPr lang="es-CO" altLang="es-CO" b="0" dirty="0">
                <a:solidFill>
                  <a:srgbClr val="010101"/>
                </a:solidFill>
                <a:latin typeface="Roboto"/>
              </a:rPr>
              <a:t>Se articulan con los huesos metacarpianos y los metatarsianos para formar las articulaciones metacarpofalángicas y las metatarsofalángicas. </a:t>
            </a:r>
          </a:p>
          <a:p>
            <a:pPr lvl="0" algn="just" eaLnBrk="0" fontAlgn="base" hangingPunct="0">
              <a:lnSpc>
                <a:spcPct val="100000"/>
              </a:lnSpc>
              <a:spcBef>
                <a:spcPct val="0"/>
              </a:spcBef>
              <a:spcAft>
                <a:spcPct val="0"/>
              </a:spcAft>
              <a:buFontTx/>
              <a:buChar char="•"/>
            </a:pPr>
            <a:r>
              <a:rPr lang="es-CO" altLang="es-CO" b="0" dirty="0">
                <a:solidFill>
                  <a:srgbClr val="010101"/>
                </a:solidFill>
                <a:latin typeface="Roboto"/>
              </a:rPr>
              <a:t>Permiten la realización de los </a:t>
            </a:r>
            <a:r>
              <a:rPr lang="es-CO" altLang="es-CO" dirty="0">
                <a:solidFill>
                  <a:srgbClr val="454545"/>
                </a:solidFill>
                <a:latin typeface="Roboto"/>
              </a:rPr>
              <a:t>movimientos</a:t>
            </a:r>
            <a:r>
              <a:rPr lang="es-CO" altLang="es-CO" b="0" dirty="0">
                <a:solidFill>
                  <a:srgbClr val="010101"/>
                </a:solidFill>
                <a:latin typeface="Roboto"/>
              </a:rPr>
              <a:t> de flexión, extensión y oposición del pulgar.</a:t>
            </a:r>
          </a:p>
          <a:p>
            <a:pPr lvl="0" algn="just" eaLnBrk="0" fontAlgn="base" hangingPunct="0">
              <a:lnSpc>
                <a:spcPct val="100000"/>
              </a:lnSpc>
              <a:spcBef>
                <a:spcPct val="0"/>
              </a:spcBef>
              <a:spcAft>
                <a:spcPct val="0"/>
              </a:spcAft>
            </a:pPr>
            <a:endParaRPr lang="es-CO" altLang="es-CO" sz="3600" dirty="0">
              <a:solidFill>
                <a:srgbClr val="004E56"/>
              </a:solidFill>
              <a:latin typeface="Montserrat"/>
            </a:endParaRPr>
          </a:p>
          <a:p>
            <a:endParaRPr lang="es-CO" dirty="0"/>
          </a:p>
        </p:txBody>
      </p:sp>
    </p:spTree>
    <p:extLst>
      <p:ext uri="{BB962C8B-B14F-4D97-AF65-F5344CB8AC3E}">
        <p14:creationId xmlns:p14="http://schemas.microsoft.com/office/powerpoint/2010/main" val="41232544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r>
              <a:rPr lang="es-CO" altLang="es-CO" b="0" dirty="0">
                <a:solidFill>
                  <a:srgbClr val="010101"/>
                </a:solidFill>
                <a:latin typeface="Roboto"/>
              </a:rPr>
              <a:t>Finalmente sabemos que gracias a las falanges de las manos podemos realizar los diferentes </a:t>
            </a:r>
            <a:r>
              <a:rPr lang="es-CO" altLang="es-CO" dirty="0">
                <a:solidFill>
                  <a:srgbClr val="454545"/>
                </a:solidFill>
                <a:latin typeface="Roboto"/>
              </a:rPr>
              <a:t>agarres</a:t>
            </a:r>
            <a:r>
              <a:rPr lang="es-CO" altLang="es-CO" b="0" dirty="0">
                <a:solidFill>
                  <a:srgbClr val="010101"/>
                </a:solidFill>
                <a:latin typeface="Roboto"/>
              </a:rPr>
              <a:t>, para ejecutar las actividades básicas de la vida diaria.</a:t>
            </a:r>
          </a:p>
          <a:p>
            <a:endParaRPr lang="es-CO" dirty="0"/>
          </a:p>
        </p:txBody>
      </p:sp>
    </p:spTree>
    <p:extLst>
      <p:ext uri="{BB962C8B-B14F-4D97-AF65-F5344CB8AC3E}">
        <p14:creationId xmlns:p14="http://schemas.microsoft.com/office/powerpoint/2010/main" val="8067750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Grp="1" noChangeArrowheads="1"/>
          </p:cNvSpPr>
          <p:nvPr>
            <p:ph type="body" idx="1"/>
          </p:nvPr>
        </p:nvSpPr>
        <p:spPr bwMode="auto">
          <a:xfrm>
            <a:off x="6004428" y="35491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dirty="0" smtClean="0">
              <a:ln>
                <a:noFill/>
              </a:ln>
              <a:solidFill>
                <a:schemeClr val="tx1"/>
              </a:solidFill>
              <a:effectLst/>
              <a:latin typeface="Arial" panose="020B0604020202020204" pitchFamily="34" charset="0"/>
            </a:endParaRPr>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81312" y="1907177"/>
            <a:ext cx="6429375" cy="4323806"/>
          </a:xfrm>
          <a:prstGeom prst="rect">
            <a:avLst/>
          </a:prstGeom>
        </p:spPr>
      </p:pic>
    </p:spTree>
    <p:extLst>
      <p:ext uri="{BB962C8B-B14F-4D97-AF65-F5344CB8AC3E}">
        <p14:creationId xmlns:p14="http://schemas.microsoft.com/office/powerpoint/2010/main" val="1306963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r>
              <a:rPr lang="es-ES" dirty="0" smtClean="0"/>
              <a:t>CARPO 16</a:t>
            </a:r>
          </a:p>
          <a:p>
            <a:r>
              <a:rPr lang="es-ES" dirty="0" smtClean="0"/>
              <a:t>METARCARPIANOS 10</a:t>
            </a:r>
          </a:p>
          <a:p>
            <a:r>
              <a:rPr lang="es-ES" dirty="0" smtClean="0"/>
              <a:t>FALANGES 28</a:t>
            </a:r>
            <a:endParaRPr lang="es-CO" dirty="0"/>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0743" y="1367246"/>
            <a:ext cx="6003810" cy="4615543"/>
          </a:xfrm>
          <a:prstGeom prst="rect">
            <a:avLst/>
          </a:prstGeom>
        </p:spPr>
      </p:pic>
    </p:spTree>
    <p:extLst>
      <p:ext uri="{BB962C8B-B14F-4D97-AF65-F5344CB8AC3E}">
        <p14:creationId xmlns:p14="http://schemas.microsoft.com/office/powerpoint/2010/main" val="31549904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algn="ctr"/>
            <a:endParaRPr lang="es-ES" sz="9600" dirty="0" smtClean="0"/>
          </a:p>
          <a:p>
            <a:pPr algn="ctr"/>
            <a:r>
              <a:rPr lang="es-ES" sz="9600" dirty="0" smtClean="0"/>
              <a:t>MMII</a:t>
            </a:r>
            <a:endParaRPr lang="es-CO" sz="9600" dirty="0"/>
          </a:p>
        </p:txBody>
      </p:sp>
    </p:spTree>
    <p:extLst>
      <p:ext uri="{BB962C8B-B14F-4D97-AF65-F5344CB8AC3E}">
        <p14:creationId xmlns:p14="http://schemas.microsoft.com/office/powerpoint/2010/main" val="15642120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506413" y="1962150"/>
            <a:ext cx="5551487" cy="5901690"/>
          </a:xfrm>
        </p:spPr>
        <p:txBody>
          <a:bodyPr/>
          <a:lstStyle/>
          <a:p>
            <a:pPr algn="just"/>
            <a:r>
              <a:rPr lang="es-CO" b="0" dirty="0"/>
              <a:t>Los </a:t>
            </a:r>
            <a:r>
              <a:rPr lang="es-CO" dirty="0"/>
              <a:t>miembros inferiores</a:t>
            </a:r>
            <a:r>
              <a:rPr lang="es-CO" b="0" dirty="0"/>
              <a:t> incluyen los huesos del muslo, la pierna y el pie</a:t>
            </a:r>
            <a:r>
              <a:rPr lang="es-CO" b="0" dirty="0" smtClean="0"/>
              <a:t>.</a:t>
            </a:r>
          </a:p>
          <a:p>
            <a:pPr algn="just"/>
            <a:r>
              <a:rPr lang="es-CO" b="0" dirty="0" smtClean="0"/>
              <a:t>El </a:t>
            </a:r>
            <a:r>
              <a:rPr lang="es-CO" b="0" dirty="0"/>
              <a:t>fémur es el único hueso del muslo. Se articula con los dos huesos de la pierna: el más grande llamado tibia (conocido comúnmente como "canilla") y el más pequeño, llamado peroné</a:t>
            </a:r>
            <a:r>
              <a:rPr lang="es-CO" b="0" dirty="0" smtClean="0"/>
              <a:t>.</a:t>
            </a:r>
          </a:p>
        </p:txBody>
      </p:sp>
    </p:spTree>
    <p:extLst>
      <p:ext uri="{BB962C8B-B14F-4D97-AF65-F5344CB8AC3E}">
        <p14:creationId xmlns:p14="http://schemas.microsoft.com/office/powerpoint/2010/main" val="37415583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algn="just"/>
            <a:r>
              <a:rPr lang="es-CO" b="0" dirty="0"/>
              <a:t>Los huesos del muslo y la pierna se articulan en la articulación de la rodilla, que está protegida y contenida por la rótula, que le brinda soporte al tendón del cuádriceps</a:t>
            </a:r>
            <a:r>
              <a:rPr lang="es-CO" b="0" dirty="0" smtClean="0"/>
              <a:t>.</a:t>
            </a:r>
          </a:p>
          <a:p>
            <a:pPr algn="just"/>
            <a:r>
              <a:rPr lang="es-CO" b="0" dirty="0" smtClean="0"/>
              <a:t>Los </a:t>
            </a:r>
            <a:r>
              <a:rPr lang="es-CO" b="0" dirty="0"/>
              <a:t>huesos del pie incluyen el tarso, metatarso y falanges.</a:t>
            </a:r>
            <a:endParaRPr lang="es-CO" dirty="0"/>
          </a:p>
          <a:p>
            <a:endParaRPr lang="es-CO" dirty="0"/>
          </a:p>
        </p:txBody>
      </p:sp>
    </p:spTree>
    <p:extLst>
      <p:ext uri="{BB962C8B-B14F-4D97-AF65-F5344CB8AC3E}">
        <p14:creationId xmlns:p14="http://schemas.microsoft.com/office/powerpoint/2010/main" val="132307844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506413" y="1962149"/>
            <a:ext cx="5551487" cy="4569279"/>
          </a:xfrm>
        </p:spPr>
        <p:txBody>
          <a:bodyPr/>
          <a:lstStyle/>
          <a:p>
            <a:r>
              <a:rPr lang="es-CO" dirty="0"/>
              <a:t>Huesos del pie</a:t>
            </a:r>
            <a:r>
              <a:rPr lang="es-CO" dirty="0" smtClean="0"/>
              <a:t>.</a:t>
            </a:r>
          </a:p>
          <a:p>
            <a:pPr algn="just"/>
            <a:r>
              <a:rPr lang="es-CO" b="0" dirty="0" smtClean="0"/>
              <a:t>Consisten </a:t>
            </a:r>
            <a:r>
              <a:rPr lang="es-CO" b="0" dirty="0"/>
              <a:t>en los huesos tarsianos del tobillo, las falanges que forman los dedos de los pies y los metatarsianos que forman el arco del pie</a:t>
            </a:r>
            <a:r>
              <a:rPr lang="es-CO" b="0" dirty="0" smtClean="0"/>
              <a:t>.</a:t>
            </a:r>
          </a:p>
          <a:p>
            <a:pPr algn="just"/>
            <a:r>
              <a:rPr lang="es-CO" b="0" dirty="0" smtClean="0"/>
              <a:t>Al </a:t>
            </a:r>
            <a:r>
              <a:rPr lang="es-CO" b="0" dirty="0"/>
              <a:t>igual que en la mano, el pie tiene cinco metatarsianos, cinco falanges proximales, cinco falanges distales, pero sólo cuatro falanges medias (dado que el dedo gordo del pie tiene sólo dos falanges</a:t>
            </a:r>
            <a:endParaRPr lang="es-CO" dirty="0"/>
          </a:p>
        </p:txBody>
      </p:sp>
    </p:spTree>
    <p:extLst>
      <p:ext uri="{BB962C8B-B14F-4D97-AF65-F5344CB8AC3E}">
        <p14:creationId xmlns:p14="http://schemas.microsoft.com/office/powerpoint/2010/main" val="202386422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506413" y="1962149"/>
            <a:ext cx="5551487" cy="4125141"/>
          </a:xfrm>
        </p:spPr>
        <p:txBody>
          <a:bodyPr/>
          <a:lstStyle/>
          <a:p>
            <a:r>
              <a:rPr lang="es-CO" dirty="0"/>
              <a:t>Huesos del tobillo</a:t>
            </a:r>
            <a:r>
              <a:rPr lang="es-CO" dirty="0" smtClean="0"/>
              <a:t>.</a:t>
            </a:r>
          </a:p>
          <a:p>
            <a:pPr algn="just"/>
            <a:r>
              <a:rPr lang="es-CO" b="0" dirty="0" smtClean="0"/>
              <a:t>El </a:t>
            </a:r>
            <a:r>
              <a:rPr lang="es-CO" b="0" dirty="0"/>
              <a:t>tobillo, o tarso, consta de siete huesos tarsianos</a:t>
            </a:r>
            <a:r>
              <a:rPr lang="es-CO" b="0" dirty="0" smtClean="0"/>
              <a:t>:</a:t>
            </a:r>
          </a:p>
          <a:p>
            <a:pPr algn="just"/>
            <a:r>
              <a:rPr lang="es-CO" b="0" dirty="0" smtClean="0"/>
              <a:t>el calcáneo</a:t>
            </a:r>
          </a:p>
          <a:p>
            <a:pPr algn="just"/>
            <a:r>
              <a:rPr lang="es-CO" b="0" dirty="0" smtClean="0"/>
              <a:t>el astrágalo</a:t>
            </a:r>
          </a:p>
          <a:p>
            <a:pPr algn="just"/>
            <a:r>
              <a:rPr lang="es-CO" b="0" dirty="0" smtClean="0"/>
              <a:t>el cuboides</a:t>
            </a:r>
          </a:p>
          <a:p>
            <a:pPr algn="just"/>
            <a:r>
              <a:rPr lang="es-CO" b="0" dirty="0" smtClean="0"/>
              <a:t>el navicular</a:t>
            </a:r>
          </a:p>
          <a:p>
            <a:pPr algn="just"/>
            <a:r>
              <a:rPr lang="es-CO" b="0" dirty="0" smtClean="0"/>
              <a:t>tres </a:t>
            </a:r>
            <a:r>
              <a:rPr lang="es-CO" b="0" dirty="0"/>
              <a:t>cuneiformes.</a:t>
            </a:r>
            <a:endParaRPr lang="es-CO" dirty="0"/>
          </a:p>
        </p:txBody>
      </p:sp>
    </p:spTree>
    <p:extLst>
      <p:ext uri="{BB962C8B-B14F-4D97-AF65-F5344CB8AC3E}">
        <p14:creationId xmlns:p14="http://schemas.microsoft.com/office/powerpoint/2010/main" val="256138214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506413" y="1962150"/>
            <a:ext cx="5551487" cy="3863884"/>
          </a:xfrm>
        </p:spPr>
        <p:txBody>
          <a:bodyPr/>
          <a:lstStyle/>
          <a:p>
            <a:r>
              <a:rPr lang="es-CO" dirty="0"/>
              <a:t>Arcos del pie</a:t>
            </a:r>
            <a:r>
              <a:rPr lang="es-CO" dirty="0" smtClean="0"/>
              <a:t>.</a:t>
            </a:r>
          </a:p>
          <a:p>
            <a:pPr algn="just"/>
            <a:r>
              <a:rPr lang="es-CO" b="0" dirty="0" smtClean="0"/>
              <a:t>Los </a:t>
            </a:r>
            <a:r>
              <a:rPr lang="es-CO" b="0" dirty="0"/>
              <a:t>arcos del pie están formados por huesos que se interconectan y los ligamentos del pie</a:t>
            </a:r>
            <a:r>
              <a:rPr lang="es-CO" b="0" dirty="0" smtClean="0"/>
              <a:t>.</a:t>
            </a:r>
          </a:p>
          <a:p>
            <a:pPr algn="just"/>
            <a:r>
              <a:rPr lang="es-CO" b="0" dirty="0" smtClean="0"/>
              <a:t> </a:t>
            </a:r>
            <a:r>
              <a:rPr lang="es-CO" b="0" dirty="0"/>
              <a:t>Sirven como estructuras que absorben los golpes, y que brindan apoyo al peso del cuerpo y distribuyen el estrés en forma pareja al caminar</a:t>
            </a:r>
            <a:r>
              <a:rPr lang="es-CO" b="0" dirty="0" smtClean="0"/>
              <a:t>.</a:t>
            </a:r>
            <a:endParaRPr lang="es-CO" b="0" dirty="0"/>
          </a:p>
        </p:txBody>
      </p:sp>
    </p:spTree>
    <p:extLst>
      <p:ext uri="{BB962C8B-B14F-4D97-AF65-F5344CB8AC3E}">
        <p14:creationId xmlns:p14="http://schemas.microsoft.com/office/powerpoint/2010/main" val="6830774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algn="just"/>
            <a:r>
              <a:rPr lang="es-CO" b="0" dirty="0"/>
              <a:t>El arco longitudinal del pie va desde el calcáneo hasta la cabeza de los metatarsianos, y tiene las partes medial y lateral.</a:t>
            </a:r>
          </a:p>
          <a:p>
            <a:pPr algn="just"/>
            <a:r>
              <a:rPr lang="es-CO" b="0" dirty="0"/>
              <a:t>El arco transverso del pie cruza los cuneiformes y la base de los huesos metatarsianos.</a:t>
            </a:r>
          </a:p>
          <a:p>
            <a:pPr algn="just"/>
            <a:endParaRPr lang="es-CO" dirty="0"/>
          </a:p>
          <a:p>
            <a:endParaRPr lang="es-CO" dirty="0"/>
          </a:p>
        </p:txBody>
      </p:sp>
    </p:spTree>
    <p:extLst>
      <p:ext uri="{BB962C8B-B14F-4D97-AF65-F5344CB8AC3E}">
        <p14:creationId xmlns:p14="http://schemas.microsoft.com/office/powerpoint/2010/main" val="221945766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50"/>
            <a:ext cx="11199812" cy="3955324"/>
          </a:xfrm>
        </p:spPr>
        <p:txBody>
          <a:bodyPr/>
          <a:lstStyle/>
          <a:p>
            <a:pPr algn="just"/>
            <a:r>
              <a:rPr lang="es-ES" dirty="0" smtClean="0"/>
              <a:t>Femur</a:t>
            </a:r>
            <a:endParaRPr lang="es-ES" dirty="0"/>
          </a:p>
          <a:p>
            <a:pPr algn="just"/>
            <a:r>
              <a:rPr lang="es-ES" dirty="0"/>
              <a:t>Rotula</a:t>
            </a:r>
          </a:p>
          <a:p>
            <a:pPr algn="just"/>
            <a:r>
              <a:rPr lang="es-ES" dirty="0"/>
              <a:t>Peroné </a:t>
            </a:r>
          </a:p>
          <a:p>
            <a:pPr algn="just"/>
            <a:r>
              <a:rPr lang="es-ES" dirty="0"/>
              <a:t>Tibia</a:t>
            </a:r>
          </a:p>
          <a:p>
            <a:pPr algn="just"/>
            <a:r>
              <a:rPr lang="es-ES" dirty="0"/>
              <a:t>Tarso</a:t>
            </a:r>
          </a:p>
          <a:p>
            <a:pPr algn="just"/>
            <a:r>
              <a:rPr lang="es-ES" dirty="0"/>
              <a:t>Huesos metacarpianos</a:t>
            </a:r>
          </a:p>
          <a:p>
            <a:pPr algn="just"/>
            <a:r>
              <a:rPr lang="es-ES" dirty="0"/>
              <a:t>Falanges</a:t>
            </a:r>
            <a:endParaRPr lang="es-CO" dirty="0"/>
          </a:p>
          <a:p>
            <a:endParaRPr lang="es-CO" dirty="0"/>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76950" y="1528354"/>
            <a:ext cx="4519747" cy="4898571"/>
          </a:xfrm>
          <a:prstGeom prst="rect">
            <a:avLst/>
          </a:prstGeom>
        </p:spPr>
      </p:pic>
    </p:spTree>
    <p:extLst>
      <p:ext uri="{BB962C8B-B14F-4D97-AF65-F5344CB8AC3E}">
        <p14:creationId xmlns:p14="http://schemas.microsoft.com/office/powerpoint/2010/main" val="29177684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50"/>
            <a:ext cx="11199812" cy="3543300"/>
          </a:xfrm>
        </p:spPr>
        <p:txBody>
          <a:bodyPr/>
          <a:lstStyle/>
          <a:p>
            <a:r>
              <a:rPr lang="es-ES" dirty="0" smtClean="0"/>
              <a:t>FEMUR</a:t>
            </a:r>
          </a:p>
          <a:p>
            <a:pPr algn="just"/>
            <a:r>
              <a:rPr lang="es-CO" b="0" dirty="0" smtClean="0"/>
              <a:t>Es </a:t>
            </a:r>
            <a:r>
              <a:rPr lang="es-CO" b="0" dirty="0"/>
              <a:t>conocido como la única estructura ósea del muslo y como la más alargada del cuerpo. </a:t>
            </a:r>
            <a:endParaRPr lang="es-CO" b="0" dirty="0" smtClean="0"/>
          </a:p>
          <a:p>
            <a:pPr algn="just"/>
            <a:r>
              <a:rPr lang="es-CO" b="0" dirty="0" smtClean="0"/>
              <a:t>Este </a:t>
            </a:r>
            <a:r>
              <a:rPr lang="es-CO" b="0" dirty="0"/>
              <a:t>elemento está conformado por un cuerpo, una extremidad superior y una extremidad inferior. </a:t>
            </a:r>
            <a:endParaRPr lang="es-CO" b="0" dirty="0" smtClean="0"/>
          </a:p>
          <a:p>
            <a:pPr algn="just"/>
            <a:r>
              <a:rPr lang="es-CO" b="0" dirty="0"/>
              <a:t>Los huesos de la </a:t>
            </a:r>
            <a:r>
              <a:rPr lang="es-CO" dirty="0"/>
              <a:t>pierna</a:t>
            </a:r>
            <a:r>
              <a:rPr lang="es-CO" b="0" dirty="0"/>
              <a:t> tienen diferentes longitudes que varían de acuerdo a la zona en la que se encuentre, en el caso del muslo, tenemos a un único hueso llamado </a:t>
            </a:r>
            <a:r>
              <a:rPr lang="es-CO" dirty="0"/>
              <a:t>fémur</a:t>
            </a:r>
            <a:r>
              <a:rPr lang="es-CO" b="0" dirty="0"/>
              <a:t>.</a:t>
            </a:r>
          </a:p>
          <a:p>
            <a:endParaRPr lang="es-CO" dirty="0"/>
          </a:p>
        </p:txBody>
      </p:sp>
    </p:spTree>
    <p:extLst>
      <p:ext uri="{BB962C8B-B14F-4D97-AF65-F5344CB8AC3E}">
        <p14:creationId xmlns:p14="http://schemas.microsoft.com/office/powerpoint/2010/main" val="188759684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50"/>
            <a:ext cx="11199812" cy="4072890"/>
          </a:xfrm>
        </p:spPr>
        <p:txBody>
          <a:bodyPr/>
          <a:lstStyle/>
          <a:p>
            <a:pPr algn="just"/>
            <a:r>
              <a:rPr lang="es-CO" b="0" dirty="0"/>
              <a:t>Las zonas del fémur presentan las siguientes características: </a:t>
            </a:r>
          </a:p>
          <a:p>
            <a:pPr algn="just"/>
            <a:r>
              <a:rPr lang="es-CO" b="0" dirty="0"/>
              <a:t>Un cuerpo: formado por 3 caras (anterior, posterolateral externa e interna) y 3 bordes (dos laterales y uno en la parte trasera</a:t>
            </a:r>
            <a:r>
              <a:rPr lang="es-CO" b="0" dirty="0" smtClean="0"/>
              <a:t>).</a:t>
            </a:r>
          </a:p>
          <a:p>
            <a:pPr algn="just"/>
            <a:endParaRPr lang="es-CO" b="0" dirty="0"/>
          </a:p>
          <a:p>
            <a:pPr algn="just"/>
            <a:r>
              <a:rPr lang="es-CO" b="0" dirty="0"/>
              <a:t>La parte superior: formada por la cabeza, cuello, el </a:t>
            </a:r>
            <a:r>
              <a:rPr lang="es-CO" u="sng" dirty="0">
                <a:hlinkClick r:id="rId2"/>
              </a:rPr>
              <a:t>trocánter mayor</a:t>
            </a:r>
            <a:r>
              <a:rPr lang="es-CO" dirty="0"/>
              <a:t> y </a:t>
            </a:r>
            <a:r>
              <a:rPr lang="es-CO" u="sng" dirty="0">
                <a:hlinkClick r:id="rId3"/>
              </a:rPr>
              <a:t>trocánter menor</a:t>
            </a:r>
            <a:r>
              <a:rPr lang="es-CO" b="0" dirty="0" smtClean="0"/>
              <a:t>.</a:t>
            </a:r>
          </a:p>
          <a:p>
            <a:pPr algn="just"/>
            <a:endParaRPr lang="es-CO" b="0" dirty="0"/>
          </a:p>
          <a:p>
            <a:pPr algn="just"/>
            <a:r>
              <a:rPr lang="es-CO" b="0" dirty="0"/>
              <a:t>La parte inferior: dividida en los cóndilos interno y externo.</a:t>
            </a:r>
          </a:p>
          <a:p>
            <a:endParaRPr lang="es-CO" dirty="0"/>
          </a:p>
        </p:txBody>
      </p:sp>
    </p:spTree>
    <p:extLst>
      <p:ext uri="{BB962C8B-B14F-4D97-AF65-F5344CB8AC3E}">
        <p14:creationId xmlns:p14="http://schemas.microsoft.com/office/powerpoint/2010/main" val="337576667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r>
              <a:rPr lang="es-ES" dirty="0" smtClean="0"/>
              <a:t>UBICACION</a:t>
            </a:r>
          </a:p>
          <a:p>
            <a:pPr lvl="0" algn="just" eaLnBrk="0" fontAlgn="base" hangingPunct="0">
              <a:lnSpc>
                <a:spcPct val="100000"/>
              </a:lnSpc>
              <a:spcBef>
                <a:spcPct val="0"/>
              </a:spcBef>
              <a:spcAft>
                <a:spcPct val="0"/>
              </a:spcAft>
            </a:pPr>
            <a:r>
              <a:rPr lang="es-CO" altLang="es-CO" b="0" dirty="0">
                <a:solidFill>
                  <a:srgbClr val="010101"/>
                </a:solidFill>
                <a:latin typeface="Roboto"/>
              </a:rPr>
              <a:t>El fémur está ubicado en el muslo,</a:t>
            </a:r>
            <a:r>
              <a:rPr lang="es-CO" altLang="es-CO" dirty="0">
                <a:solidFill>
                  <a:srgbClr val="454545"/>
                </a:solidFill>
                <a:latin typeface="Roboto"/>
              </a:rPr>
              <a:t> entre la articulación de la rodilla y la pelvis</a:t>
            </a:r>
            <a:r>
              <a:rPr lang="es-CO" altLang="es-CO" b="0" dirty="0">
                <a:solidFill>
                  <a:srgbClr val="010101"/>
                </a:solidFill>
                <a:latin typeface="Roboto"/>
              </a:rPr>
              <a:t> (cadera). Está protegido por muchos músculos y sirve como estabilizador para el miembro inferior. </a:t>
            </a:r>
            <a:endParaRPr lang="es-CO" altLang="es-CO" b="0" dirty="0" smtClean="0">
              <a:solidFill>
                <a:srgbClr val="010101"/>
              </a:solidFill>
              <a:latin typeface="Roboto"/>
            </a:endParaRPr>
          </a:p>
          <a:p>
            <a:pPr lvl="0" algn="just" eaLnBrk="0" fontAlgn="base" hangingPunct="0">
              <a:lnSpc>
                <a:spcPct val="100000"/>
              </a:lnSpc>
              <a:spcBef>
                <a:spcPct val="0"/>
              </a:spcBef>
              <a:spcAft>
                <a:spcPct val="0"/>
              </a:spcAft>
            </a:pPr>
            <a:endParaRPr lang="es-CO" altLang="es-CO" b="0" dirty="0" smtClean="0">
              <a:solidFill>
                <a:srgbClr val="010101"/>
              </a:solidFill>
              <a:latin typeface="Roboto"/>
            </a:endParaRPr>
          </a:p>
          <a:p>
            <a:pPr lvl="0" algn="just" eaLnBrk="0" fontAlgn="base" hangingPunct="0">
              <a:lnSpc>
                <a:spcPct val="100000"/>
              </a:lnSpc>
              <a:spcBef>
                <a:spcPct val="0"/>
              </a:spcBef>
              <a:spcAft>
                <a:spcPct val="0"/>
              </a:spcAft>
            </a:pPr>
            <a:r>
              <a:rPr lang="es-CO" altLang="es-CO" b="0" dirty="0" smtClean="0">
                <a:solidFill>
                  <a:srgbClr val="010101"/>
                </a:solidFill>
                <a:latin typeface="Roboto"/>
              </a:rPr>
              <a:t>Además</a:t>
            </a:r>
            <a:r>
              <a:rPr lang="es-CO" altLang="es-CO" b="0" dirty="0">
                <a:solidFill>
                  <a:srgbClr val="010101"/>
                </a:solidFill>
                <a:latin typeface="Roboto"/>
              </a:rPr>
              <a:t>, este hueso forma parte de la articulación de la rodilla y de la coxofemoral.</a:t>
            </a:r>
            <a:endParaRPr lang="es-CO" altLang="es-CO" sz="2000" b="0" dirty="0"/>
          </a:p>
          <a:p>
            <a:endParaRPr lang="es-CO" dirty="0"/>
          </a:p>
        </p:txBody>
      </p:sp>
    </p:spTree>
    <p:extLst>
      <p:ext uri="{BB962C8B-B14F-4D97-AF65-F5344CB8AC3E}">
        <p14:creationId xmlns:p14="http://schemas.microsoft.com/office/powerpoint/2010/main" val="10952601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49"/>
            <a:ext cx="11199812" cy="4490901"/>
          </a:xfrm>
        </p:spPr>
        <p:txBody>
          <a:bodyPr/>
          <a:lstStyle/>
          <a:p>
            <a:r>
              <a:rPr lang="es-ES" dirty="0" smtClean="0"/>
              <a:t>FUNCION</a:t>
            </a:r>
          </a:p>
          <a:p>
            <a:pPr lvl="0" algn="just" eaLnBrk="0" fontAlgn="base" hangingPunct="0">
              <a:lnSpc>
                <a:spcPct val="100000"/>
              </a:lnSpc>
              <a:spcBef>
                <a:spcPct val="0"/>
              </a:spcBef>
              <a:spcAft>
                <a:spcPct val="0"/>
              </a:spcAft>
            </a:pPr>
            <a:r>
              <a:rPr lang="es-CO" altLang="es-CO" b="0" dirty="0">
                <a:solidFill>
                  <a:srgbClr val="010101"/>
                </a:solidFill>
                <a:latin typeface="Roboto"/>
              </a:rPr>
              <a:t>Al ser el fémur el único hueso del muslo, es sumamente importante para servir en los movimientos de la articulación coxofemoral y de la articulación de la rodilla. </a:t>
            </a:r>
            <a:endParaRPr lang="es-CO" altLang="es-CO" b="0" dirty="0" smtClean="0">
              <a:solidFill>
                <a:srgbClr val="010101"/>
              </a:solidFill>
              <a:latin typeface="Roboto"/>
            </a:endParaRPr>
          </a:p>
          <a:p>
            <a:pPr lvl="0" algn="just" eaLnBrk="0" fontAlgn="base" hangingPunct="0">
              <a:lnSpc>
                <a:spcPct val="100000"/>
              </a:lnSpc>
              <a:spcBef>
                <a:spcPct val="0"/>
              </a:spcBef>
              <a:spcAft>
                <a:spcPct val="0"/>
              </a:spcAft>
            </a:pPr>
            <a:r>
              <a:rPr lang="es-CO" altLang="es-CO" b="0" dirty="0" smtClean="0">
                <a:solidFill>
                  <a:srgbClr val="010101"/>
                </a:solidFill>
                <a:latin typeface="Roboto"/>
              </a:rPr>
              <a:t>Asimismo </a:t>
            </a:r>
            <a:r>
              <a:rPr lang="es-CO" altLang="es-CO" b="0" dirty="0">
                <a:solidFill>
                  <a:srgbClr val="010101"/>
                </a:solidFill>
                <a:latin typeface="Roboto"/>
              </a:rPr>
              <a:t>interviene en: es un punto de llegada y partida para muchos músculos; es considerado el principal en la biomecánica del miembro inferior; y al participar en la flexión y extensión de cadera y rodilla, interviene en la bipedestación y en la marcha.</a:t>
            </a:r>
            <a:endParaRPr lang="es-CO" altLang="es-CO" sz="2000" b="0" dirty="0"/>
          </a:p>
          <a:p>
            <a:pPr lvl="0" algn="just" eaLnBrk="0" fontAlgn="base" hangingPunct="0">
              <a:lnSpc>
                <a:spcPct val="100000"/>
              </a:lnSpc>
              <a:spcBef>
                <a:spcPct val="0"/>
              </a:spcBef>
              <a:spcAft>
                <a:spcPct val="0"/>
              </a:spcAft>
            </a:pPr>
            <a:r>
              <a:rPr lang="es-CO" altLang="es-CO" sz="3600" b="0" i="1" dirty="0">
                <a:latin typeface="Arial" panose="020B0604020202020204" pitchFamily="34" charset="0"/>
              </a:rPr>
              <a:t>“Centro de inserción muscular y participa en la marcha</a:t>
            </a:r>
            <a:endParaRPr lang="es-CO" dirty="0"/>
          </a:p>
        </p:txBody>
      </p:sp>
    </p:spTree>
    <p:extLst>
      <p:ext uri="{BB962C8B-B14F-4D97-AF65-F5344CB8AC3E}">
        <p14:creationId xmlns:p14="http://schemas.microsoft.com/office/powerpoint/2010/main" val="147386146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397727"/>
            <a:ext cx="11199812" cy="5316582"/>
          </a:xfrm>
        </p:spPr>
        <p:txBody>
          <a:bodyPr/>
          <a:lstStyle/>
          <a:p>
            <a:pPr lvl="0" algn="just" eaLnBrk="0" fontAlgn="base" hangingPunct="0">
              <a:lnSpc>
                <a:spcPct val="100000"/>
              </a:lnSpc>
              <a:spcBef>
                <a:spcPct val="0"/>
              </a:spcBef>
              <a:spcAft>
                <a:spcPct val="0"/>
              </a:spcAft>
            </a:pPr>
            <a:r>
              <a:rPr lang="es-ES" altLang="es-CO" b="0" dirty="0" smtClean="0">
                <a:latin typeface="Arial" panose="020B0604020202020204" pitchFamily="34" charset="0"/>
              </a:rPr>
              <a:t>FEMUR (2)</a:t>
            </a:r>
            <a:endParaRPr lang="es-CO" altLang="es-CO" b="0" dirty="0">
              <a:latin typeface="Arial" panose="020B0604020202020204" pitchFamily="34" charset="0"/>
            </a:endParaRPr>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87337" y="1207226"/>
            <a:ext cx="5577839" cy="5410200"/>
          </a:xfrm>
          <a:prstGeom prst="rect">
            <a:avLst/>
          </a:prstGeom>
        </p:spPr>
      </p:pic>
    </p:spTree>
    <p:extLst>
      <p:ext uri="{BB962C8B-B14F-4D97-AF65-F5344CB8AC3E}">
        <p14:creationId xmlns:p14="http://schemas.microsoft.com/office/powerpoint/2010/main" val="320470196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50"/>
            <a:ext cx="11199812" cy="4621530"/>
          </a:xfrm>
        </p:spPr>
        <p:txBody>
          <a:bodyPr/>
          <a:lstStyle/>
          <a:p>
            <a:r>
              <a:rPr lang="es-CO" b="0" dirty="0" smtClean="0"/>
              <a:t>ROTULA O PATELA</a:t>
            </a:r>
          </a:p>
          <a:p>
            <a:pPr algn="just"/>
            <a:r>
              <a:rPr lang="es-CO" b="0" dirty="0" smtClean="0"/>
              <a:t>La</a:t>
            </a:r>
            <a:r>
              <a:rPr lang="es-CO" b="0" dirty="0"/>
              <a:t> </a:t>
            </a:r>
            <a:r>
              <a:rPr lang="es-CO" dirty="0"/>
              <a:t>rótula</a:t>
            </a:r>
            <a:r>
              <a:rPr lang="es-CO" b="0" dirty="0"/>
              <a:t> o también llamada </a:t>
            </a:r>
            <a:r>
              <a:rPr lang="es-CO" dirty="0"/>
              <a:t>patela</a:t>
            </a:r>
            <a:r>
              <a:rPr lang="es-CO" b="0" dirty="0"/>
              <a:t>, es una </a:t>
            </a:r>
            <a:r>
              <a:rPr lang="es-CO" dirty="0"/>
              <a:t>estructura ósea</a:t>
            </a:r>
            <a:r>
              <a:rPr lang="es-CO" b="0" dirty="0"/>
              <a:t>, que tiene forma triangular irregular y que está denominada como </a:t>
            </a:r>
            <a:r>
              <a:rPr lang="es-CO" dirty="0"/>
              <a:t>hueso sesamoideo</a:t>
            </a:r>
            <a:r>
              <a:rPr lang="es-CO" b="0" dirty="0"/>
              <a:t>. </a:t>
            </a:r>
            <a:endParaRPr lang="es-CO" b="0" dirty="0" smtClean="0"/>
          </a:p>
          <a:p>
            <a:pPr algn="just"/>
            <a:r>
              <a:rPr lang="es-CO" b="0" dirty="0" smtClean="0"/>
              <a:t>Está </a:t>
            </a:r>
            <a:r>
              <a:rPr lang="es-CO" b="0" dirty="0"/>
              <a:t>formada por dos caras (una anterior y la otra posterior), una base que se encuentra en dirección inclinada, un vértice y esquinas laterales</a:t>
            </a:r>
            <a:r>
              <a:rPr lang="es-CO" b="0" dirty="0" smtClean="0"/>
              <a:t>.</a:t>
            </a:r>
          </a:p>
          <a:p>
            <a:pPr algn="just"/>
            <a:r>
              <a:rPr lang="es-CO" b="0" dirty="0" smtClean="0"/>
              <a:t>Se </a:t>
            </a:r>
            <a:r>
              <a:rPr lang="es-CO" b="0" dirty="0"/>
              <a:t>encuentra protegida por </a:t>
            </a:r>
            <a:r>
              <a:rPr lang="es-CO" dirty="0"/>
              <a:t>el tendón rotuliano</a:t>
            </a:r>
            <a:r>
              <a:rPr lang="es-CO" b="0" dirty="0"/>
              <a:t> y por el </a:t>
            </a:r>
            <a:r>
              <a:rPr lang="es-CO" dirty="0"/>
              <a:t>cartílago articular</a:t>
            </a:r>
            <a:r>
              <a:rPr lang="es-CO" b="0" dirty="0"/>
              <a:t>, y forma parte esencial de la articulación patelofemoral (unión entre fémur, rótula más la tibia), es decir, de la </a:t>
            </a:r>
            <a:r>
              <a:rPr lang="es-CO" dirty="0"/>
              <a:t>rodilla.</a:t>
            </a:r>
          </a:p>
        </p:txBody>
      </p:sp>
    </p:spTree>
    <p:extLst>
      <p:ext uri="{BB962C8B-B14F-4D97-AF65-F5344CB8AC3E}">
        <p14:creationId xmlns:p14="http://schemas.microsoft.com/office/powerpoint/2010/main" val="9860358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49"/>
            <a:ext cx="11199812" cy="4543153"/>
          </a:xfrm>
        </p:spPr>
        <p:txBody>
          <a:bodyPr/>
          <a:lstStyle/>
          <a:p>
            <a:pPr algn="just"/>
            <a:r>
              <a:rPr lang="es-CO" b="0" dirty="0" smtClean="0"/>
              <a:t>UBICACION</a:t>
            </a:r>
          </a:p>
          <a:p>
            <a:pPr algn="just"/>
            <a:r>
              <a:rPr lang="es-CO" b="0" dirty="0" smtClean="0"/>
              <a:t>La</a:t>
            </a:r>
            <a:r>
              <a:rPr lang="es-CO" b="0" dirty="0"/>
              <a:t> </a:t>
            </a:r>
            <a:r>
              <a:rPr lang="es-CO" dirty="0"/>
              <a:t>rodilla</a:t>
            </a:r>
            <a:r>
              <a:rPr lang="es-CO" b="0" dirty="0"/>
              <a:t> es un </a:t>
            </a:r>
            <a:r>
              <a:rPr lang="es-CO" u="sng" dirty="0">
                <a:hlinkClick r:id="rId2"/>
              </a:rPr>
              <a:t>hueso sesamoideo</a:t>
            </a:r>
            <a:r>
              <a:rPr lang="es-CO" b="0" dirty="0"/>
              <a:t> ubicado en la parte media del miembro inferior, que es el resultado de la unión entre 3 elementos óseos (patela, tibia y fémur). </a:t>
            </a:r>
            <a:endParaRPr lang="es-CO" b="0" dirty="0" smtClean="0"/>
          </a:p>
          <a:p>
            <a:pPr algn="just"/>
            <a:r>
              <a:rPr lang="es-CO" b="0" dirty="0" smtClean="0"/>
              <a:t>El</a:t>
            </a:r>
            <a:r>
              <a:rPr lang="es-CO" b="0" dirty="0"/>
              <a:t> </a:t>
            </a:r>
            <a:r>
              <a:rPr lang="es-CO" dirty="0"/>
              <a:t>tendón rotuliano</a:t>
            </a:r>
            <a:r>
              <a:rPr lang="es-CO" b="0" dirty="0"/>
              <a:t> es esencial para que se pueda dar esta </a:t>
            </a:r>
            <a:r>
              <a:rPr lang="es-CO" b="0" dirty="0" smtClean="0"/>
              <a:t>fusión</a:t>
            </a:r>
          </a:p>
          <a:p>
            <a:r>
              <a:rPr lang="es-CO" b="0" dirty="0"/>
              <a:t>Según la anatomía, la patela está localizada en la parte media del miembro inferior, este hueso se desarrolla específicamente en el tendón del </a:t>
            </a:r>
            <a:r>
              <a:rPr lang="es-CO" u="sng" dirty="0">
                <a:hlinkClick r:id="rId3"/>
              </a:rPr>
              <a:t>músculo cuádriceps</a:t>
            </a:r>
            <a:r>
              <a:rPr lang="es-CO" b="0" dirty="0"/>
              <a:t>. Así mismo la patela, está acompañada del ligamento meniscorrotuliano que la une por su parte lateral al menisco.</a:t>
            </a:r>
          </a:p>
          <a:p>
            <a:endParaRPr lang="es-CO" dirty="0"/>
          </a:p>
          <a:p>
            <a:pPr algn="just"/>
            <a:endParaRPr lang="es-CO" dirty="0"/>
          </a:p>
        </p:txBody>
      </p:sp>
    </p:spTree>
    <p:extLst>
      <p:ext uri="{BB962C8B-B14F-4D97-AF65-F5344CB8AC3E}">
        <p14:creationId xmlns:p14="http://schemas.microsoft.com/office/powerpoint/2010/main" val="197321194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50"/>
            <a:ext cx="11199812" cy="4464776"/>
          </a:xfrm>
        </p:spPr>
        <p:txBody>
          <a:bodyPr/>
          <a:lstStyle/>
          <a:p>
            <a:r>
              <a:rPr lang="es-CO" dirty="0" smtClean="0"/>
              <a:t>FUNCION</a:t>
            </a:r>
          </a:p>
          <a:p>
            <a:r>
              <a:rPr lang="es-CO" b="0" dirty="0" smtClean="0"/>
              <a:t>Trabaja </a:t>
            </a:r>
            <a:r>
              <a:rPr lang="es-CO" b="0" dirty="0"/>
              <a:t>como componente principal en la ejecución de la </a:t>
            </a:r>
            <a:r>
              <a:rPr lang="es-CO" dirty="0"/>
              <a:t>extensión de rodilla,</a:t>
            </a:r>
            <a:r>
              <a:rPr lang="es-CO" b="0" dirty="0"/>
              <a:t> ya que es el sitio de apoyo del cuádriceps. </a:t>
            </a:r>
          </a:p>
          <a:p>
            <a:r>
              <a:rPr lang="es-CO" dirty="0"/>
              <a:t>Soporta el roce</a:t>
            </a:r>
            <a:r>
              <a:rPr lang="es-CO" b="0" dirty="0"/>
              <a:t> del tendón rotuliano.</a:t>
            </a:r>
          </a:p>
          <a:p>
            <a:r>
              <a:rPr lang="es-CO" b="0" dirty="0"/>
              <a:t>Principal vínculo entre el tendón y el cuádriceps. </a:t>
            </a:r>
          </a:p>
          <a:p>
            <a:r>
              <a:rPr lang="es-CO" b="0" dirty="0"/>
              <a:t>Involucrado en los </a:t>
            </a:r>
            <a:r>
              <a:rPr lang="es-CO" dirty="0"/>
              <a:t>movimientos</a:t>
            </a:r>
            <a:r>
              <a:rPr lang="es-CO" b="0" dirty="0"/>
              <a:t> de flexión y extensión de rodilla.</a:t>
            </a:r>
          </a:p>
          <a:p>
            <a:r>
              <a:rPr lang="es-CO" b="0" dirty="0"/>
              <a:t>Da estabilidad a la articulación patelofemoral.</a:t>
            </a:r>
          </a:p>
          <a:p>
            <a:r>
              <a:rPr lang="es-CO" b="0" dirty="0"/>
              <a:t>Proporciona la fuerza necesaria para que se ejecuten los movimientos de la rodilla</a:t>
            </a:r>
          </a:p>
          <a:p>
            <a:endParaRPr lang="es-CO" dirty="0"/>
          </a:p>
        </p:txBody>
      </p:sp>
    </p:spTree>
    <p:extLst>
      <p:ext uri="{BB962C8B-B14F-4D97-AF65-F5344CB8AC3E}">
        <p14:creationId xmlns:p14="http://schemas.microsoft.com/office/powerpoint/2010/main" val="97679184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49"/>
            <a:ext cx="11199812" cy="4608467"/>
          </a:xfrm>
        </p:spPr>
        <p:txBody>
          <a:bodyPr/>
          <a:lstStyle/>
          <a:p>
            <a:r>
              <a:rPr lang="es-ES" dirty="0" smtClean="0"/>
              <a:t>ROTULA (2)</a:t>
            </a:r>
            <a:endParaRPr lang="es-CO" dirty="0"/>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7185" y="1867989"/>
            <a:ext cx="5039218" cy="4346328"/>
          </a:xfrm>
          <a:prstGeom prst="rect">
            <a:avLst/>
          </a:prstGeom>
        </p:spPr>
      </p:pic>
    </p:spTree>
    <p:extLst>
      <p:ext uri="{BB962C8B-B14F-4D97-AF65-F5344CB8AC3E}">
        <p14:creationId xmlns:p14="http://schemas.microsoft.com/office/powerpoint/2010/main" val="396349876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50"/>
            <a:ext cx="11199812" cy="4595404"/>
          </a:xfrm>
        </p:spPr>
        <p:txBody>
          <a:bodyPr/>
          <a:lstStyle/>
          <a:p>
            <a:r>
              <a:rPr lang="es-ES" dirty="0" smtClean="0"/>
              <a:t>TIBIA</a:t>
            </a:r>
          </a:p>
          <a:p>
            <a:pPr algn="just"/>
            <a:r>
              <a:rPr lang="es-CO" b="0" dirty="0" smtClean="0"/>
              <a:t>Es </a:t>
            </a:r>
            <a:r>
              <a:rPr lang="es-CO" b="0" dirty="0"/>
              <a:t>definido como un elemento </a:t>
            </a:r>
            <a:r>
              <a:rPr lang="es-CO" dirty="0"/>
              <a:t>grueso, largo y muy resistente</a:t>
            </a:r>
            <a:r>
              <a:rPr lang="es-CO" b="0" dirty="0"/>
              <a:t>, que constituye uno de los dos </a:t>
            </a:r>
            <a:r>
              <a:rPr lang="es-CO" dirty="0"/>
              <a:t>huesos</a:t>
            </a:r>
            <a:r>
              <a:rPr lang="es-CO" b="0" dirty="0"/>
              <a:t> importantes del miembro inferior. </a:t>
            </a:r>
            <a:endParaRPr lang="es-CO" b="0" dirty="0" smtClean="0"/>
          </a:p>
          <a:p>
            <a:pPr algn="just"/>
            <a:r>
              <a:rPr lang="es-CO" b="0" dirty="0" smtClean="0"/>
              <a:t>Está</a:t>
            </a:r>
            <a:r>
              <a:rPr lang="es-CO" b="0" dirty="0"/>
              <a:t> </a:t>
            </a:r>
            <a:r>
              <a:rPr lang="es-CO" dirty="0"/>
              <a:t>articulado con la rótula, el fémur, peroné y el astrágalo,</a:t>
            </a:r>
            <a:r>
              <a:rPr lang="es-CO" b="0" dirty="0"/>
              <a:t> y contribuye en los diferentes movimientos de la rodilla y el tobillo. </a:t>
            </a:r>
            <a:endParaRPr lang="es-CO" b="0" dirty="0" smtClean="0"/>
          </a:p>
          <a:p>
            <a:pPr algn="just"/>
            <a:r>
              <a:rPr lang="es-CO" b="0" dirty="0" smtClean="0"/>
              <a:t>Es </a:t>
            </a:r>
            <a:r>
              <a:rPr lang="es-CO" b="0" dirty="0"/>
              <a:t>una estructura detallada en diferentes partes, estas son el cuerpo, con sus 3 caras y 3 bordes; y las zonas superiores (</a:t>
            </a:r>
            <a:r>
              <a:rPr lang="es-CO" dirty="0"/>
              <a:t>meseta tibial</a:t>
            </a:r>
            <a:r>
              <a:rPr lang="es-CO" b="0" dirty="0"/>
              <a:t>) e inferiores (</a:t>
            </a:r>
            <a:r>
              <a:rPr lang="es-CO" dirty="0"/>
              <a:t>maléolo interno</a:t>
            </a:r>
            <a:r>
              <a:rPr lang="es-CO" b="0" dirty="0"/>
              <a:t>) con sus respectivas caras irregulares, en donde se encuentran músculos y ligamentos. </a:t>
            </a:r>
            <a:endParaRPr lang="es-CO" dirty="0"/>
          </a:p>
        </p:txBody>
      </p:sp>
    </p:spTree>
    <p:extLst>
      <p:ext uri="{BB962C8B-B14F-4D97-AF65-F5344CB8AC3E}">
        <p14:creationId xmlns:p14="http://schemas.microsoft.com/office/powerpoint/2010/main" val="41799791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50"/>
            <a:ext cx="11199812" cy="4647656"/>
          </a:xfrm>
        </p:spPr>
        <p:txBody>
          <a:bodyPr/>
          <a:lstStyle/>
          <a:p>
            <a:pPr algn="just"/>
            <a:r>
              <a:rPr lang="es-CO" b="0" dirty="0"/>
              <a:t>Nuestros </a:t>
            </a:r>
            <a:r>
              <a:rPr lang="es-CO" dirty="0"/>
              <a:t>huesos </a:t>
            </a:r>
            <a:r>
              <a:rPr lang="es-CO" b="0" dirty="0"/>
              <a:t>están diseñados con diferentes componentes, que al estar unidos, permiten que nuestro cuerpo se mantenga erguido, en una correcta posición y que exista una adecuada alineación. </a:t>
            </a:r>
            <a:endParaRPr lang="es-CO" b="0" dirty="0" smtClean="0"/>
          </a:p>
          <a:p>
            <a:pPr algn="just"/>
            <a:r>
              <a:rPr lang="es-CO" b="0" dirty="0" smtClean="0"/>
              <a:t>Sin </a:t>
            </a:r>
            <a:r>
              <a:rPr lang="es-CO" b="0" dirty="0"/>
              <a:t>estas estructuras, nuestro cuerpo no se pudiera mantener, especialmente en lo que respecta a la zona de nuestras extremidades inferiores. </a:t>
            </a:r>
            <a:endParaRPr lang="es-CO" b="0" dirty="0" smtClean="0"/>
          </a:p>
          <a:p>
            <a:pPr algn="just"/>
            <a:r>
              <a:rPr lang="es-CO" b="0" dirty="0" smtClean="0"/>
              <a:t>Una </a:t>
            </a:r>
            <a:r>
              <a:rPr lang="es-CO" b="0" dirty="0"/>
              <a:t>de las parte de este hueso, conocida como la </a:t>
            </a:r>
            <a:r>
              <a:rPr lang="es-CO" u="sng" dirty="0">
                <a:hlinkClick r:id="rId2"/>
              </a:rPr>
              <a:t>meseta tibial</a:t>
            </a:r>
            <a:r>
              <a:rPr lang="es-CO" b="0" dirty="0"/>
              <a:t> posee una superficie articular llamada cavidad glenoidea, que se une a los cóndilos femorales y otra superficie llamada espacio interglenoideo con una superficie preespinal y otra parte retroespinal; y por otro lado el </a:t>
            </a:r>
            <a:r>
              <a:rPr lang="es-CO" u="sng" dirty="0">
                <a:hlinkClick r:id="rId3"/>
              </a:rPr>
              <a:t>maléolo interno</a:t>
            </a:r>
            <a:r>
              <a:rPr lang="es-CO" b="0" dirty="0"/>
              <a:t> cercano a la piel por su parte interna. </a:t>
            </a:r>
            <a:endParaRPr lang="es-CO" dirty="0"/>
          </a:p>
        </p:txBody>
      </p:sp>
    </p:spTree>
    <p:extLst>
      <p:ext uri="{BB962C8B-B14F-4D97-AF65-F5344CB8AC3E}">
        <p14:creationId xmlns:p14="http://schemas.microsoft.com/office/powerpoint/2010/main" val="417896046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49"/>
            <a:ext cx="11199812" cy="4569279"/>
          </a:xfrm>
        </p:spPr>
        <p:txBody>
          <a:bodyPr/>
          <a:lstStyle/>
          <a:p>
            <a:r>
              <a:rPr lang="es-ES" dirty="0" smtClean="0"/>
              <a:t>UBICACION</a:t>
            </a:r>
          </a:p>
          <a:p>
            <a:pPr lvl="0" algn="just" eaLnBrk="0" fontAlgn="base" hangingPunct="0">
              <a:lnSpc>
                <a:spcPct val="100000"/>
              </a:lnSpc>
              <a:spcBef>
                <a:spcPct val="0"/>
              </a:spcBef>
              <a:spcAft>
                <a:spcPct val="0"/>
              </a:spcAft>
            </a:pPr>
            <a:r>
              <a:rPr lang="es-CO" altLang="es-CO" b="0" dirty="0">
                <a:solidFill>
                  <a:srgbClr val="010101"/>
                </a:solidFill>
                <a:latin typeface="Roboto"/>
              </a:rPr>
              <a:t>La </a:t>
            </a:r>
            <a:r>
              <a:rPr lang="es-CO" altLang="es-CO" dirty="0">
                <a:solidFill>
                  <a:srgbClr val="454545"/>
                </a:solidFill>
                <a:latin typeface="Roboto"/>
              </a:rPr>
              <a:t>tibia</a:t>
            </a:r>
            <a:r>
              <a:rPr lang="es-CO" altLang="es-CO" b="0" dirty="0">
                <a:solidFill>
                  <a:srgbClr val="010101"/>
                </a:solidFill>
                <a:latin typeface="Roboto"/>
              </a:rPr>
              <a:t> está ubicada internamente en la</a:t>
            </a:r>
            <a:r>
              <a:rPr lang="es-CO" altLang="es-CO" dirty="0">
                <a:solidFill>
                  <a:srgbClr val="454545"/>
                </a:solidFill>
                <a:latin typeface="Roboto"/>
              </a:rPr>
              <a:t> pierna </a:t>
            </a:r>
            <a:r>
              <a:rPr lang="es-CO" altLang="es-CO" b="0" dirty="0">
                <a:solidFill>
                  <a:srgbClr val="010101"/>
                </a:solidFill>
                <a:latin typeface="Roboto"/>
              </a:rPr>
              <a:t>y tiene a su lado al</a:t>
            </a:r>
            <a:r>
              <a:rPr lang="es-CO" altLang="es-CO" dirty="0">
                <a:solidFill>
                  <a:srgbClr val="454545"/>
                </a:solidFill>
                <a:latin typeface="Roboto"/>
              </a:rPr>
              <a:t> hueso peroné.</a:t>
            </a:r>
            <a:r>
              <a:rPr lang="es-CO" altLang="es-CO" b="0" dirty="0">
                <a:solidFill>
                  <a:srgbClr val="010101"/>
                </a:solidFill>
                <a:latin typeface="Roboto"/>
              </a:rPr>
              <a:t> </a:t>
            </a:r>
            <a:endParaRPr lang="es-CO" altLang="es-CO" b="0" dirty="0" smtClean="0">
              <a:solidFill>
                <a:srgbClr val="010101"/>
              </a:solidFill>
              <a:latin typeface="Roboto"/>
            </a:endParaRPr>
          </a:p>
          <a:p>
            <a:pPr lvl="0" algn="just" eaLnBrk="0" fontAlgn="base" hangingPunct="0">
              <a:lnSpc>
                <a:spcPct val="100000"/>
              </a:lnSpc>
              <a:spcBef>
                <a:spcPct val="0"/>
              </a:spcBef>
              <a:spcAft>
                <a:spcPct val="0"/>
              </a:spcAft>
            </a:pPr>
            <a:endParaRPr lang="es-CO" altLang="es-CO" b="0" dirty="0">
              <a:solidFill>
                <a:srgbClr val="010101"/>
              </a:solidFill>
              <a:latin typeface="Roboto"/>
            </a:endParaRPr>
          </a:p>
          <a:p>
            <a:pPr lvl="0" algn="just" eaLnBrk="0" fontAlgn="base" hangingPunct="0">
              <a:lnSpc>
                <a:spcPct val="100000"/>
              </a:lnSpc>
              <a:spcBef>
                <a:spcPct val="0"/>
              </a:spcBef>
              <a:spcAft>
                <a:spcPct val="0"/>
              </a:spcAft>
            </a:pPr>
            <a:r>
              <a:rPr lang="es-CO" altLang="es-CO" b="0" dirty="0" smtClean="0">
                <a:solidFill>
                  <a:srgbClr val="010101"/>
                </a:solidFill>
                <a:latin typeface="Roboto"/>
              </a:rPr>
              <a:t>Este </a:t>
            </a:r>
            <a:r>
              <a:rPr lang="es-CO" altLang="es-CO" b="0" dirty="0">
                <a:solidFill>
                  <a:srgbClr val="010101"/>
                </a:solidFill>
                <a:latin typeface="Roboto"/>
              </a:rPr>
              <a:t>hueso está acompañado de diversos músculos encargados de participar en los movimientos del tobillo y la rodilla.</a:t>
            </a:r>
            <a:endParaRPr lang="es-CO" altLang="es-CO" sz="2000" b="0" dirty="0"/>
          </a:p>
          <a:p>
            <a:pPr lvl="0" algn="just" eaLnBrk="0" fontAlgn="base" hangingPunct="0">
              <a:lnSpc>
                <a:spcPct val="100000"/>
              </a:lnSpc>
              <a:spcBef>
                <a:spcPct val="0"/>
              </a:spcBef>
              <a:spcAft>
                <a:spcPct val="0"/>
              </a:spcAft>
            </a:pPr>
            <a:r>
              <a:rPr lang="es-CO" altLang="es-CO" sz="3600" b="0" i="1" dirty="0">
                <a:latin typeface="Arial" panose="020B0604020202020204" pitchFamily="34" charset="0"/>
              </a:rPr>
              <a:t>“Ayuda a caminar, brinda estabilidad y protege a la pierna”</a:t>
            </a:r>
            <a:endParaRPr lang="es-CO" dirty="0"/>
          </a:p>
        </p:txBody>
      </p:sp>
    </p:spTree>
    <p:extLst>
      <p:ext uri="{BB962C8B-B14F-4D97-AF65-F5344CB8AC3E}">
        <p14:creationId xmlns:p14="http://schemas.microsoft.com/office/powerpoint/2010/main" val="406975807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lvl="0" algn="just" eaLnBrk="0" fontAlgn="base" hangingPunct="0">
              <a:lnSpc>
                <a:spcPct val="100000"/>
              </a:lnSpc>
              <a:spcBef>
                <a:spcPct val="0"/>
              </a:spcBef>
              <a:spcAft>
                <a:spcPct val="0"/>
              </a:spcAft>
            </a:pPr>
            <a:r>
              <a:rPr lang="es-CO" altLang="es-CO" sz="3600" dirty="0" smtClean="0">
                <a:solidFill>
                  <a:srgbClr val="004E56"/>
                </a:solidFill>
                <a:latin typeface="Montserrat"/>
              </a:rPr>
              <a:t>FUNCION</a:t>
            </a:r>
            <a:endParaRPr lang="es-CO" altLang="es-CO" sz="3600" dirty="0">
              <a:solidFill>
                <a:srgbClr val="004E56"/>
              </a:solidFill>
              <a:latin typeface="Montserrat"/>
            </a:endParaRPr>
          </a:p>
          <a:p>
            <a:pPr lvl="0" algn="just" eaLnBrk="0" fontAlgn="base" hangingPunct="0">
              <a:lnSpc>
                <a:spcPct val="100000"/>
              </a:lnSpc>
              <a:spcBef>
                <a:spcPct val="0"/>
              </a:spcBef>
              <a:spcAft>
                <a:spcPct val="0"/>
              </a:spcAft>
            </a:pPr>
            <a:r>
              <a:rPr lang="es-CO" altLang="es-CO" dirty="0">
                <a:solidFill>
                  <a:srgbClr val="454545"/>
                </a:solidFill>
                <a:latin typeface="Roboto"/>
              </a:rPr>
              <a:t>La tibia </a:t>
            </a:r>
            <a:r>
              <a:rPr lang="es-CO" altLang="es-CO" b="0" dirty="0">
                <a:solidFill>
                  <a:srgbClr val="010101"/>
                </a:solidFill>
                <a:latin typeface="Roboto"/>
              </a:rPr>
              <a:t>funciona como medio de unión para la rodilla y el tobillo, y además participa en las siguientes funciones: </a:t>
            </a:r>
            <a:endParaRPr lang="es-CO" altLang="es-CO" sz="2000" b="0" dirty="0"/>
          </a:p>
          <a:p>
            <a:pPr lvl="0" algn="just" eaLnBrk="0" fontAlgn="base" hangingPunct="0">
              <a:lnSpc>
                <a:spcPct val="100000"/>
              </a:lnSpc>
              <a:spcBef>
                <a:spcPct val="0"/>
              </a:spcBef>
              <a:spcAft>
                <a:spcPct val="0"/>
              </a:spcAft>
              <a:buFontTx/>
              <a:buChar char="•"/>
            </a:pPr>
            <a:r>
              <a:rPr lang="es-CO" altLang="es-CO" b="0" dirty="0">
                <a:solidFill>
                  <a:srgbClr val="010101"/>
                </a:solidFill>
                <a:latin typeface="Roboto"/>
              </a:rPr>
              <a:t>Permanece firme al momento de caminar y realizar actividades físicas.</a:t>
            </a:r>
          </a:p>
          <a:p>
            <a:pPr lvl="0" algn="just" eaLnBrk="0" fontAlgn="base" hangingPunct="0">
              <a:lnSpc>
                <a:spcPct val="100000"/>
              </a:lnSpc>
              <a:spcBef>
                <a:spcPct val="0"/>
              </a:spcBef>
              <a:spcAft>
                <a:spcPct val="0"/>
              </a:spcAft>
              <a:buFontTx/>
              <a:buChar char="•"/>
            </a:pPr>
            <a:r>
              <a:rPr lang="es-CO" altLang="es-CO" b="0" dirty="0">
                <a:solidFill>
                  <a:srgbClr val="010101"/>
                </a:solidFill>
                <a:latin typeface="Roboto"/>
              </a:rPr>
              <a:t>Da estabilidad al tobillo.</a:t>
            </a:r>
          </a:p>
          <a:p>
            <a:pPr lvl="0" algn="just" eaLnBrk="0" fontAlgn="base" hangingPunct="0">
              <a:lnSpc>
                <a:spcPct val="100000"/>
              </a:lnSpc>
              <a:spcBef>
                <a:spcPct val="0"/>
              </a:spcBef>
              <a:spcAft>
                <a:spcPct val="0"/>
              </a:spcAft>
              <a:buFontTx/>
              <a:buChar char="•"/>
            </a:pPr>
            <a:r>
              <a:rPr lang="es-CO" altLang="es-CO" b="0" dirty="0">
                <a:solidFill>
                  <a:srgbClr val="010101"/>
                </a:solidFill>
                <a:latin typeface="Roboto"/>
              </a:rPr>
              <a:t>Debido a su resistencia y a su composición fuerte protege a la pierna ante lesiones.</a:t>
            </a:r>
          </a:p>
          <a:p>
            <a:pPr lvl="0" eaLnBrk="0" fontAlgn="base" hangingPunct="0">
              <a:lnSpc>
                <a:spcPct val="100000"/>
              </a:lnSpc>
              <a:spcBef>
                <a:spcPct val="0"/>
              </a:spcBef>
              <a:spcAft>
                <a:spcPct val="0"/>
              </a:spcAft>
            </a:pPr>
            <a:endParaRPr lang="es-CO" altLang="es-CO" sz="3600" b="0" dirty="0">
              <a:latin typeface="Arial" panose="020B0604020202020204" pitchFamily="34" charset="0"/>
            </a:endParaRPr>
          </a:p>
          <a:p>
            <a:endParaRPr lang="es-CO" dirty="0"/>
          </a:p>
        </p:txBody>
      </p:sp>
    </p:spTree>
    <p:extLst>
      <p:ext uri="{BB962C8B-B14F-4D97-AF65-F5344CB8AC3E}">
        <p14:creationId xmlns:p14="http://schemas.microsoft.com/office/powerpoint/2010/main" val="73077591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7154" y="1933304"/>
            <a:ext cx="4885508" cy="3775165"/>
          </a:xfrm>
          <a:prstGeom prst="rect">
            <a:avLst/>
          </a:prstGeom>
        </p:spPr>
      </p:pic>
    </p:spTree>
    <p:extLst>
      <p:ext uri="{BB962C8B-B14F-4D97-AF65-F5344CB8AC3E}">
        <p14:creationId xmlns:p14="http://schemas.microsoft.com/office/powerpoint/2010/main" val="316869523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50"/>
            <a:ext cx="11199812" cy="3955324"/>
          </a:xfrm>
        </p:spPr>
        <p:txBody>
          <a:bodyPr/>
          <a:lstStyle/>
          <a:p>
            <a:r>
              <a:rPr lang="es-ES" dirty="0" smtClean="0"/>
              <a:t>PERONE</a:t>
            </a:r>
          </a:p>
          <a:p>
            <a:pPr algn="just"/>
            <a:r>
              <a:rPr lang="es-CO" b="0" dirty="0"/>
              <a:t>También conocida como </a:t>
            </a:r>
            <a:r>
              <a:rPr lang="es-CO" dirty="0" smtClean="0"/>
              <a:t>fíbula</a:t>
            </a:r>
          </a:p>
          <a:p>
            <a:pPr algn="just"/>
            <a:r>
              <a:rPr lang="es-CO" b="0" dirty="0" smtClean="0"/>
              <a:t>Es </a:t>
            </a:r>
            <a:r>
              <a:rPr lang="es-CO" b="0" dirty="0"/>
              <a:t>una </a:t>
            </a:r>
            <a:r>
              <a:rPr lang="es-CO" dirty="0"/>
              <a:t>estructura formada por tejido óseo</a:t>
            </a:r>
            <a:r>
              <a:rPr lang="es-CO" b="0" dirty="0"/>
              <a:t>, que tiene como características anatómicas ser prolongado y estrecho. </a:t>
            </a:r>
            <a:endParaRPr lang="es-CO" b="0" dirty="0" smtClean="0"/>
          </a:p>
          <a:p>
            <a:pPr algn="just"/>
            <a:r>
              <a:rPr lang="es-CO" b="0" dirty="0" smtClean="0"/>
              <a:t>UBICACION</a:t>
            </a:r>
          </a:p>
          <a:p>
            <a:pPr algn="just"/>
            <a:r>
              <a:rPr lang="es-CO" dirty="0" smtClean="0"/>
              <a:t>Entre </a:t>
            </a:r>
            <a:r>
              <a:rPr lang="es-CO" dirty="0"/>
              <a:t>la rodilla y el tobillo</a:t>
            </a:r>
            <a:r>
              <a:rPr lang="es-CO" b="0" dirty="0"/>
              <a:t>, y se conecta con la </a:t>
            </a:r>
            <a:r>
              <a:rPr lang="es-CO" dirty="0"/>
              <a:t>tibia y con el astrágalo</a:t>
            </a:r>
            <a:r>
              <a:rPr lang="es-CO" b="0" dirty="0"/>
              <a:t> para formar distintas articulaciones. </a:t>
            </a:r>
            <a:endParaRPr lang="es-CO" b="0" dirty="0" smtClean="0"/>
          </a:p>
        </p:txBody>
      </p:sp>
    </p:spTree>
    <p:extLst>
      <p:ext uri="{BB962C8B-B14F-4D97-AF65-F5344CB8AC3E}">
        <p14:creationId xmlns:p14="http://schemas.microsoft.com/office/powerpoint/2010/main" val="155971099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50"/>
            <a:ext cx="11199812" cy="4255770"/>
          </a:xfrm>
        </p:spPr>
        <p:txBody>
          <a:bodyPr/>
          <a:lstStyle/>
          <a:p>
            <a:pPr algn="just"/>
            <a:r>
              <a:rPr lang="es-CO" b="0" dirty="0"/>
              <a:t>El </a:t>
            </a:r>
            <a:r>
              <a:rPr lang="es-CO" dirty="0"/>
              <a:t>peroné</a:t>
            </a:r>
            <a:r>
              <a:rPr lang="es-CO" b="0" dirty="0"/>
              <a:t> estructuralmente, está formado por un cuerpo, al que le corresponden 3 caras y 3 bordes; además tiene una parte superior, llamada </a:t>
            </a:r>
            <a:r>
              <a:rPr lang="es-CO" dirty="0"/>
              <a:t>cabeza del peroné</a:t>
            </a:r>
            <a:r>
              <a:rPr lang="es-CO" b="0" dirty="0"/>
              <a:t> y una parte inferior, denominada </a:t>
            </a:r>
            <a:r>
              <a:rPr lang="es-CO" dirty="0"/>
              <a:t>maléolo externo.</a:t>
            </a:r>
          </a:p>
          <a:p>
            <a:pPr algn="just"/>
            <a:r>
              <a:rPr lang="es-CO" b="0" dirty="0" smtClean="0"/>
              <a:t>Las</a:t>
            </a:r>
            <a:r>
              <a:rPr lang="es-CO" b="0" dirty="0"/>
              <a:t> </a:t>
            </a:r>
            <a:r>
              <a:rPr lang="es-CO" dirty="0"/>
              <a:t>extremidades inferiores</a:t>
            </a:r>
            <a:r>
              <a:rPr lang="es-CO" b="0" dirty="0"/>
              <a:t> o piernas están conformadas por 3 huesos importantes (</a:t>
            </a:r>
            <a:r>
              <a:rPr lang="es-CO" dirty="0"/>
              <a:t>tibia, fémur y peroné</a:t>
            </a:r>
            <a:r>
              <a:rPr lang="es-CO" b="0" dirty="0"/>
              <a:t>) que además de soportar y equilibrar el peso del cuerpo, también son centros de anclaje y salida de diversos músculos, los cuales se encargan de realizar todos los movimientos del miembro inferior. </a:t>
            </a:r>
            <a:endParaRPr lang="es-CO" dirty="0"/>
          </a:p>
        </p:txBody>
      </p:sp>
    </p:spTree>
    <p:extLst>
      <p:ext uri="{BB962C8B-B14F-4D97-AF65-F5344CB8AC3E}">
        <p14:creationId xmlns:p14="http://schemas.microsoft.com/office/powerpoint/2010/main" val="126344202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r>
              <a:rPr lang="es-CO" b="0" dirty="0" smtClean="0"/>
              <a:t>UBICACION</a:t>
            </a:r>
          </a:p>
          <a:p>
            <a:pPr algn="just"/>
            <a:r>
              <a:rPr lang="es-CO" b="0" dirty="0" smtClean="0"/>
              <a:t>Está </a:t>
            </a:r>
            <a:r>
              <a:rPr lang="es-CO" b="0" dirty="0"/>
              <a:t>ubicado en la </a:t>
            </a:r>
            <a:r>
              <a:rPr lang="es-CO" dirty="0"/>
              <a:t>parte externa de la pierna</a:t>
            </a:r>
            <a:r>
              <a:rPr lang="es-CO" b="0" dirty="0"/>
              <a:t>, cercano a la estructura ósea, conocida como la </a:t>
            </a:r>
            <a:r>
              <a:rPr lang="es-CO" u="sng" dirty="0">
                <a:hlinkClick r:id="rId2"/>
              </a:rPr>
              <a:t>tibia</a:t>
            </a:r>
            <a:r>
              <a:rPr lang="es-CO" b="0" dirty="0"/>
              <a:t>. </a:t>
            </a:r>
            <a:endParaRPr lang="es-CO" b="0" dirty="0" smtClean="0"/>
          </a:p>
          <a:p>
            <a:pPr algn="just"/>
            <a:r>
              <a:rPr lang="es-CO" b="0" dirty="0" smtClean="0"/>
              <a:t>Ambas </a:t>
            </a:r>
            <a:r>
              <a:rPr lang="es-CO" b="0" dirty="0"/>
              <a:t>contribuyen a que el </a:t>
            </a:r>
            <a:r>
              <a:rPr lang="es-CO" dirty="0"/>
              <a:t>tobillo</a:t>
            </a:r>
            <a:r>
              <a:rPr lang="es-CO" b="0" dirty="0"/>
              <a:t> tenga estabilidad y a que se puedan realizar ciertos movimientos. </a:t>
            </a:r>
            <a:endParaRPr lang="es-CO" b="0" dirty="0" smtClean="0"/>
          </a:p>
          <a:p>
            <a:pPr algn="just"/>
            <a:r>
              <a:rPr lang="es-CO" b="0" dirty="0" smtClean="0"/>
              <a:t>Y </a:t>
            </a:r>
            <a:r>
              <a:rPr lang="es-CO" b="0" dirty="0"/>
              <a:t>es debido a su ubicación superficial, que es generalmente afectado por traumatismos que producen fractura</a:t>
            </a:r>
          </a:p>
          <a:p>
            <a:pPr algn="just"/>
            <a:endParaRPr lang="es-CO" dirty="0"/>
          </a:p>
        </p:txBody>
      </p:sp>
    </p:spTree>
    <p:extLst>
      <p:ext uri="{BB962C8B-B14F-4D97-AF65-F5344CB8AC3E}">
        <p14:creationId xmlns:p14="http://schemas.microsoft.com/office/powerpoint/2010/main" val="317041173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r>
              <a:rPr lang="es-CO" b="0" dirty="0" smtClean="0"/>
              <a:t>FUNCION</a:t>
            </a:r>
          </a:p>
          <a:p>
            <a:pPr algn="just"/>
            <a:r>
              <a:rPr lang="es-CO" b="0" dirty="0" smtClean="0"/>
              <a:t>Es </a:t>
            </a:r>
            <a:r>
              <a:rPr lang="es-CO" b="0" dirty="0"/>
              <a:t>importante para la </a:t>
            </a:r>
            <a:r>
              <a:rPr lang="es-CO" u="sng" dirty="0">
                <a:hlinkClick r:id="rId2"/>
              </a:rPr>
              <a:t>articulación tibiotarsiana</a:t>
            </a:r>
            <a:r>
              <a:rPr lang="es-CO" b="0" dirty="0"/>
              <a:t> y para las </a:t>
            </a:r>
            <a:r>
              <a:rPr lang="es-CO" dirty="0"/>
              <a:t>articulaciones peroneotibiales </a:t>
            </a:r>
            <a:r>
              <a:rPr lang="es-CO" b="0" dirty="0"/>
              <a:t>superior e inferior. </a:t>
            </a:r>
            <a:endParaRPr lang="es-CO" b="0" dirty="0" smtClean="0"/>
          </a:p>
          <a:p>
            <a:pPr algn="just"/>
            <a:r>
              <a:rPr lang="es-CO" b="0" dirty="0" smtClean="0"/>
              <a:t>Lugar </a:t>
            </a:r>
            <a:r>
              <a:rPr lang="es-CO" b="0" dirty="0"/>
              <a:t>principal de la pierna de inserción de músculos.</a:t>
            </a:r>
          </a:p>
          <a:p>
            <a:pPr algn="just"/>
            <a:r>
              <a:rPr lang="es-CO" b="0" dirty="0"/>
              <a:t>Participa en movimientos de la rodilla y el tobillo.</a:t>
            </a:r>
          </a:p>
          <a:p>
            <a:pPr algn="just"/>
            <a:r>
              <a:rPr lang="es-CO" b="0" dirty="0"/>
              <a:t>Sirve como injerto óseo en algunas cirugías.</a:t>
            </a:r>
          </a:p>
          <a:p>
            <a:endParaRPr lang="es-CO" dirty="0"/>
          </a:p>
        </p:txBody>
      </p:sp>
    </p:spTree>
    <p:extLst>
      <p:ext uri="{BB962C8B-B14F-4D97-AF65-F5344CB8AC3E}">
        <p14:creationId xmlns:p14="http://schemas.microsoft.com/office/powerpoint/2010/main" val="12998528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r>
              <a:rPr lang="es-ES" dirty="0" smtClean="0"/>
              <a:t>TIBIA (2)</a:t>
            </a:r>
          </a:p>
          <a:p>
            <a:r>
              <a:rPr lang="es-ES" dirty="0" smtClean="0"/>
              <a:t>PERONE (2)</a:t>
            </a:r>
            <a:endParaRPr lang="es-CO" dirty="0"/>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04287" y="1962149"/>
            <a:ext cx="4317199" cy="4020639"/>
          </a:xfrm>
          <a:prstGeom prst="rect">
            <a:avLst/>
          </a:prstGeom>
        </p:spPr>
      </p:pic>
    </p:spTree>
    <p:extLst>
      <p:ext uri="{BB962C8B-B14F-4D97-AF65-F5344CB8AC3E}">
        <p14:creationId xmlns:p14="http://schemas.microsoft.com/office/powerpoint/2010/main" val="111486381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r>
              <a:rPr lang="es-ES" dirty="0" smtClean="0"/>
              <a:t>TARSO</a:t>
            </a:r>
          </a:p>
          <a:p>
            <a:pPr algn="just"/>
            <a:r>
              <a:rPr lang="es-CO" b="0" dirty="0" smtClean="0"/>
              <a:t>Es </a:t>
            </a:r>
            <a:r>
              <a:rPr lang="es-CO" b="0" dirty="0"/>
              <a:t>una zona del pie, que está compuesta por </a:t>
            </a:r>
            <a:r>
              <a:rPr lang="es-CO" dirty="0"/>
              <a:t>7 huesos</a:t>
            </a:r>
            <a:r>
              <a:rPr lang="es-CO" b="0" dirty="0"/>
              <a:t>, distribuidos en dos filas de huesos superpuestas. </a:t>
            </a:r>
            <a:endParaRPr lang="es-CO" b="0" dirty="0" smtClean="0"/>
          </a:p>
          <a:p>
            <a:pPr algn="just"/>
            <a:r>
              <a:rPr lang="es-CO" b="0" dirty="0" smtClean="0"/>
              <a:t>En </a:t>
            </a:r>
            <a:r>
              <a:rPr lang="es-CO" b="0" dirty="0"/>
              <a:t>el caso de la zona que está cercana al </a:t>
            </a:r>
            <a:r>
              <a:rPr lang="es-CO" dirty="0"/>
              <a:t>metatarso</a:t>
            </a:r>
            <a:r>
              <a:rPr lang="es-CO" b="0" dirty="0"/>
              <a:t> se ubican las 3 </a:t>
            </a:r>
            <a:r>
              <a:rPr lang="es-CO" dirty="0"/>
              <a:t>cuñas</a:t>
            </a:r>
            <a:r>
              <a:rPr lang="es-CO" b="0" dirty="0"/>
              <a:t> o cuneiformes, el </a:t>
            </a:r>
            <a:r>
              <a:rPr lang="es-CO" dirty="0"/>
              <a:t>cuboides </a:t>
            </a:r>
            <a:r>
              <a:rPr lang="es-CO" b="0" dirty="0"/>
              <a:t>y el </a:t>
            </a:r>
            <a:r>
              <a:rPr lang="es-CO" dirty="0"/>
              <a:t>escafoides</a:t>
            </a:r>
            <a:r>
              <a:rPr lang="es-CO" b="0" dirty="0"/>
              <a:t> o también llamado </a:t>
            </a:r>
            <a:r>
              <a:rPr lang="es-CO" dirty="0"/>
              <a:t>navicular</a:t>
            </a:r>
            <a:r>
              <a:rPr lang="es-CO" b="0" dirty="0"/>
              <a:t>. </a:t>
            </a:r>
            <a:endParaRPr lang="es-CO" b="0" dirty="0" smtClean="0"/>
          </a:p>
          <a:p>
            <a:pPr algn="just"/>
            <a:r>
              <a:rPr lang="es-CO" b="0" dirty="0" smtClean="0"/>
              <a:t>Y </a:t>
            </a:r>
            <a:r>
              <a:rPr lang="es-CO" b="0" dirty="0"/>
              <a:t>con respecto a la fila que está posterior, se encuentran sólo dos huesos, estos son el </a:t>
            </a:r>
            <a:r>
              <a:rPr lang="es-CO" dirty="0"/>
              <a:t>calcáneo</a:t>
            </a:r>
            <a:r>
              <a:rPr lang="es-CO" b="0" dirty="0"/>
              <a:t> y el </a:t>
            </a:r>
            <a:r>
              <a:rPr lang="es-CO" dirty="0"/>
              <a:t>astrágalo</a:t>
            </a:r>
          </a:p>
        </p:txBody>
      </p:sp>
    </p:spTree>
    <p:extLst>
      <p:ext uri="{BB962C8B-B14F-4D97-AF65-F5344CB8AC3E}">
        <p14:creationId xmlns:p14="http://schemas.microsoft.com/office/powerpoint/2010/main" val="304995523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49"/>
            <a:ext cx="11199812" cy="4517027"/>
          </a:xfrm>
        </p:spPr>
        <p:txBody>
          <a:bodyPr/>
          <a:lstStyle/>
          <a:p>
            <a:pPr algn="just"/>
            <a:r>
              <a:rPr lang="es-CO" b="0" dirty="0"/>
              <a:t>Al igual que la mano, el miembro inferior distal, es decir, el </a:t>
            </a:r>
            <a:r>
              <a:rPr lang="es-CO" dirty="0"/>
              <a:t>pie</a:t>
            </a:r>
            <a:r>
              <a:rPr lang="es-CO" b="0" dirty="0"/>
              <a:t>, está conformado por 3 zonas, estas son </a:t>
            </a:r>
            <a:r>
              <a:rPr lang="es-CO" dirty="0"/>
              <a:t>los huesos del tarso, el metatarso y las falanges</a:t>
            </a:r>
            <a:r>
              <a:rPr lang="es-CO" b="0" dirty="0" smtClean="0"/>
              <a:t>.</a:t>
            </a:r>
          </a:p>
          <a:p>
            <a:pPr algn="just"/>
            <a:r>
              <a:rPr lang="es-CO" b="0" dirty="0" smtClean="0"/>
              <a:t>Ahora </a:t>
            </a:r>
            <a:r>
              <a:rPr lang="es-CO" b="0" dirty="0"/>
              <a:t>bien, la zona conocida como metatarso está formada por 5 huesos llamados </a:t>
            </a:r>
            <a:r>
              <a:rPr lang="es-CO" u="sng" dirty="0">
                <a:hlinkClick r:id="rId2"/>
              </a:rPr>
              <a:t>metatarsianos</a:t>
            </a:r>
            <a:r>
              <a:rPr lang="es-CO" b="0" dirty="0"/>
              <a:t>, y las falanges son en total 14 por cada pie. </a:t>
            </a:r>
            <a:endParaRPr lang="es-CO" b="0" dirty="0" smtClean="0"/>
          </a:p>
          <a:p>
            <a:pPr algn="just"/>
            <a:r>
              <a:rPr lang="es-CO" b="0" dirty="0" smtClean="0"/>
              <a:t>En </a:t>
            </a:r>
            <a:r>
              <a:rPr lang="es-CO" b="0" dirty="0"/>
              <a:t>cuanto al tamaño, los dos huesos de la fila posterior son más prominentes en relación a la fila anterior del tarso, y además estos tienen mayor responsabilidad con respecto a los movimientos de la articulación del tobillo y del pie en general. </a:t>
            </a:r>
          </a:p>
          <a:p>
            <a:pPr algn="just"/>
            <a:endParaRPr lang="es-CO" dirty="0"/>
          </a:p>
        </p:txBody>
      </p:sp>
    </p:spTree>
    <p:extLst>
      <p:ext uri="{BB962C8B-B14F-4D97-AF65-F5344CB8AC3E}">
        <p14:creationId xmlns:p14="http://schemas.microsoft.com/office/powerpoint/2010/main" val="204023559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49"/>
            <a:ext cx="11199812" cy="4582341"/>
          </a:xfrm>
        </p:spPr>
        <p:txBody>
          <a:bodyPr/>
          <a:lstStyle/>
          <a:p>
            <a:r>
              <a:rPr lang="es-CO" b="0" dirty="0" smtClean="0"/>
              <a:t>UBICACION</a:t>
            </a:r>
          </a:p>
          <a:p>
            <a:pPr algn="just"/>
            <a:r>
              <a:rPr lang="es-CO" b="0" dirty="0" smtClean="0"/>
              <a:t>Está </a:t>
            </a:r>
            <a:r>
              <a:rPr lang="es-CO" b="0" dirty="0"/>
              <a:t>situado en la </a:t>
            </a:r>
            <a:r>
              <a:rPr lang="es-CO" dirty="0"/>
              <a:t>parte posterior del pie</a:t>
            </a:r>
            <a:r>
              <a:rPr lang="es-CO" b="0" dirty="0"/>
              <a:t>, y es parte de la </a:t>
            </a:r>
            <a:r>
              <a:rPr lang="es-CO" dirty="0"/>
              <a:t>articulación del tobillo</a:t>
            </a:r>
            <a:r>
              <a:rPr lang="es-CO" b="0" dirty="0"/>
              <a:t> y de las articulaciones tarsometatarsianas.</a:t>
            </a:r>
          </a:p>
          <a:p>
            <a:pPr algn="just"/>
            <a:r>
              <a:rPr lang="es-ES" dirty="0" smtClean="0"/>
              <a:t>FUNCION</a:t>
            </a:r>
            <a:endParaRPr lang="es-CO" dirty="0"/>
          </a:p>
          <a:p>
            <a:pPr algn="just"/>
            <a:r>
              <a:rPr lang="es-CO" b="0" dirty="0"/>
              <a:t>Esta zona del pie, está diseñado con la finalidad de que todas las </a:t>
            </a:r>
            <a:r>
              <a:rPr lang="es-CO" dirty="0"/>
              <a:t>cargas del pie </a:t>
            </a:r>
            <a:r>
              <a:rPr lang="es-CO" b="0" dirty="0"/>
              <a:t>se puedan distribuir correctamente, y de que todos los pequeños huesos trabajen en conjunto para mantener el pie en su correcta posición, así como también que la </a:t>
            </a:r>
            <a:r>
              <a:rPr lang="es-CO" dirty="0"/>
              <a:t>articulación del tobillo</a:t>
            </a:r>
            <a:r>
              <a:rPr lang="es-CO" b="0" dirty="0"/>
              <a:t> pueda realizar sus respectivos movimientos. </a:t>
            </a:r>
          </a:p>
          <a:p>
            <a:endParaRPr lang="es-CO" dirty="0"/>
          </a:p>
        </p:txBody>
      </p:sp>
    </p:spTree>
    <p:extLst>
      <p:ext uri="{BB962C8B-B14F-4D97-AF65-F5344CB8AC3E}">
        <p14:creationId xmlns:p14="http://schemas.microsoft.com/office/powerpoint/2010/main" val="426249107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r>
              <a:rPr lang="es-ES" dirty="0" smtClean="0"/>
              <a:t>TARSO 14</a:t>
            </a:r>
            <a:endParaRPr lang="es-CO" dirty="0"/>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93770" y="1290069"/>
            <a:ext cx="6371240" cy="3983421"/>
          </a:xfrm>
          <a:prstGeom prst="rect">
            <a:avLst/>
          </a:prstGeom>
        </p:spPr>
      </p:pic>
    </p:spTree>
    <p:extLst>
      <p:ext uri="{BB962C8B-B14F-4D97-AF65-F5344CB8AC3E}">
        <p14:creationId xmlns:p14="http://schemas.microsoft.com/office/powerpoint/2010/main" val="186412760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r>
              <a:rPr lang="es-ES" dirty="0" smtClean="0"/>
              <a:t>METACARPIANOS</a:t>
            </a:r>
          </a:p>
          <a:p>
            <a:endParaRPr lang="es-CO" dirty="0"/>
          </a:p>
        </p:txBody>
      </p:sp>
    </p:spTree>
    <p:extLst>
      <p:ext uri="{BB962C8B-B14F-4D97-AF65-F5344CB8AC3E}">
        <p14:creationId xmlns:p14="http://schemas.microsoft.com/office/powerpoint/2010/main" val="286787463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r>
              <a:rPr lang="es-ES" dirty="0" smtClean="0"/>
              <a:t>METACARPIANOS (10)</a:t>
            </a:r>
            <a:endParaRPr lang="es-CO" dirty="0"/>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79036" y="1658983"/>
            <a:ext cx="4140912" cy="4310744"/>
          </a:xfrm>
          <a:prstGeom prst="rect">
            <a:avLst/>
          </a:prstGeom>
        </p:spPr>
      </p:pic>
    </p:spTree>
    <p:extLst>
      <p:ext uri="{BB962C8B-B14F-4D97-AF65-F5344CB8AC3E}">
        <p14:creationId xmlns:p14="http://schemas.microsoft.com/office/powerpoint/2010/main" val="269890330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r>
              <a:rPr lang="es-ES" dirty="0" smtClean="0"/>
              <a:t>FALANGES 28</a:t>
            </a:r>
            <a:endParaRPr lang="es-CO" dirty="0"/>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49181" y="1268747"/>
            <a:ext cx="4641631" cy="5114817"/>
          </a:xfrm>
          <a:prstGeom prst="rect">
            <a:avLst/>
          </a:prstGeom>
        </p:spPr>
      </p:pic>
    </p:spTree>
    <p:extLst>
      <p:ext uri="{BB962C8B-B14F-4D97-AF65-F5344CB8AC3E}">
        <p14:creationId xmlns:p14="http://schemas.microsoft.com/office/powerpoint/2010/main" val="299279673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endParaRPr lang="es-ES" sz="8000" dirty="0" smtClean="0"/>
          </a:p>
          <a:p>
            <a:r>
              <a:rPr lang="es-ES" sz="8000" dirty="0" smtClean="0"/>
              <a:t>CINTURONES</a:t>
            </a:r>
            <a:endParaRPr lang="es-CO" sz="8000" dirty="0"/>
          </a:p>
        </p:txBody>
      </p:sp>
    </p:spTree>
    <p:extLst>
      <p:ext uri="{BB962C8B-B14F-4D97-AF65-F5344CB8AC3E}">
        <p14:creationId xmlns:p14="http://schemas.microsoft.com/office/powerpoint/2010/main" val="186937542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algn="ctr"/>
            <a:endParaRPr lang="es-ES" sz="4800" dirty="0" smtClean="0"/>
          </a:p>
          <a:p>
            <a:pPr algn="ctr"/>
            <a:r>
              <a:rPr lang="es-ES" sz="4800" dirty="0" smtClean="0"/>
              <a:t>CINTURON ESCAPULAR</a:t>
            </a:r>
            <a:endParaRPr lang="es-CO" sz="4800" dirty="0"/>
          </a:p>
        </p:txBody>
      </p:sp>
    </p:spTree>
    <p:extLst>
      <p:ext uri="{BB962C8B-B14F-4D97-AF65-F5344CB8AC3E}">
        <p14:creationId xmlns:p14="http://schemas.microsoft.com/office/powerpoint/2010/main" val="99159388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49"/>
            <a:ext cx="11199812" cy="4490901"/>
          </a:xfrm>
        </p:spPr>
        <p:txBody>
          <a:bodyPr/>
          <a:lstStyle/>
          <a:p>
            <a:r>
              <a:rPr lang="es-ES_tradnl" b="0" dirty="0"/>
              <a:t>Es el segmento proximal del miembro superior. </a:t>
            </a:r>
            <a:endParaRPr lang="es-ES_tradnl" b="0" dirty="0" smtClean="0"/>
          </a:p>
          <a:p>
            <a:r>
              <a:rPr lang="es-CO" b="0" dirty="0" smtClean="0"/>
              <a:t>Complejo </a:t>
            </a:r>
            <a:r>
              <a:rPr lang="es-CO" b="0" dirty="0"/>
              <a:t>de mayor movilidad del organismo, permite el movimiento del brazo en todos los planos y orienta la mano en todos los ejes del espacio</a:t>
            </a:r>
          </a:p>
          <a:p>
            <a:pPr algn="just"/>
            <a:r>
              <a:rPr lang="es-ES_tradnl" b="0" dirty="0"/>
              <a:t>Se extiende desde la base del cuello hasta el borde superior del músculo pectoral mayor.</a:t>
            </a:r>
            <a:endParaRPr lang="es-CO" b="0" dirty="0"/>
          </a:p>
          <a:p>
            <a:pPr algn="just"/>
            <a:r>
              <a:rPr lang="es-ES_tradnl" b="0" dirty="0" smtClean="0"/>
              <a:t>Se</a:t>
            </a:r>
            <a:r>
              <a:rPr lang="es-ES_tradnl" b="0" dirty="0"/>
              <a:t> divide en tres regiones: </a:t>
            </a:r>
            <a:endParaRPr lang="es-ES_tradnl" b="0" dirty="0" smtClean="0"/>
          </a:p>
          <a:p>
            <a:pPr algn="just"/>
            <a:r>
              <a:rPr lang="es-ES_tradnl" b="0" dirty="0" smtClean="0"/>
              <a:t>Anterior </a:t>
            </a:r>
            <a:r>
              <a:rPr lang="es-ES_tradnl" b="0" dirty="0"/>
              <a:t>o </a:t>
            </a:r>
            <a:r>
              <a:rPr lang="es-ES_tradnl" b="0" dirty="0" smtClean="0"/>
              <a:t>axilar</a:t>
            </a:r>
          </a:p>
          <a:p>
            <a:pPr algn="just"/>
            <a:r>
              <a:rPr lang="es-ES_tradnl" b="0" dirty="0" smtClean="0"/>
              <a:t>Media </a:t>
            </a:r>
            <a:r>
              <a:rPr lang="es-ES_tradnl" b="0" dirty="0"/>
              <a:t>o </a:t>
            </a:r>
            <a:r>
              <a:rPr lang="es-ES_tradnl" b="0" dirty="0" smtClean="0"/>
              <a:t>deltoidea</a:t>
            </a:r>
          </a:p>
          <a:p>
            <a:pPr algn="just"/>
            <a:r>
              <a:rPr lang="es-ES_tradnl" b="0" dirty="0" smtClean="0"/>
              <a:t>Posterior </a:t>
            </a:r>
            <a:r>
              <a:rPr lang="es-ES_tradnl" b="0" dirty="0"/>
              <a:t>o escapular.</a:t>
            </a:r>
            <a:endParaRPr lang="es-CO" b="0" dirty="0"/>
          </a:p>
          <a:p>
            <a:endParaRPr lang="es-CO" sz="2400" b="0" dirty="0"/>
          </a:p>
        </p:txBody>
      </p:sp>
    </p:spTree>
    <p:extLst>
      <p:ext uri="{BB962C8B-B14F-4D97-AF65-F5344CB8AC3E}">
        <p14:creationId xmlns:p14="http://schemas.microsoft.com/office/powerpoint/2010/main" val="108607386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r>
              <a:rPr lang="es-ES" b="0" dirty="0" smtClean="0"/>
              <a:t>FUNCION</a:t>
            </a:r>
          </a:p>
          <a:p>
            <a:pPr algn="just"/>
            <a:r>
              <a:rPr lang="es-ES_tradnl" b="0" dirty="0"/>
              <a:t>Conecta los huesos de los miembros superiores con el esqueleto axial.</a:t>
            </a:r>
            <a:endParaRPr lang="es-CO" b="0" dirty="0"/>
          </a:p>
          <a:p>
            <a:pPr algn="just"/>
            <a:r>
              <a:rPr lang="es-ES_tradnl" b="0" dirty="0"/>
              <a:t>Estos huesos también constituyen un sitio de unión para los músculos que mueven los hombros y los miembros superiores.</a:t>
            </a:r>
            <a:endParaRPr lang="es-CO" b="0" dirty="0"/>
          </a:p>
          <a:p>
            <a:pPr algn="just"/>
            <a:r>
              <a:rPr lang="es-ES_tradnl" b="0" dirty="0"/>
              <a:t> </a:t>
            </a:r>
            <a:endParaRPr lang="es-CO" b="0" dirty="0"/>
          </a:p>
          <a:p>
            <a:pPr algn="just"/>
            <a:r>
              <a:rPr lang="es-ES_tradnl" b="0" dirty="0"/>
              <a:t>formada por la clavícula y la escápula u omóplato</a:t>
            </a:r>
            <a:endParaRPr lang="es-CO" b="0" dirty="0"/>
          </a:p>
          <a:p>
            <a:pPr lvl="0"/>
            <a:endParaRPr lang="es-CO" sz="9600" dirty="0"/>
          </a:p>
          <a:p>
            <a:pPr algn="just"/>
            <a:endParaRPr lang="es-CO" sz="2400" b="0" dirty="0"/>
          </a:p>
        </p:txBody>
      </p:sp>
    </p:spTree>
    <p:extLst>
      <p:ext uri="{BB962C8B-B14F-4D97-AF65-F5344CB8AC3E}">
        <p14:creationId xmlns:p14="http://schemas.microsoft.com/office/powerpoint/2010/main" val="59837542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49"/>
            <a:ext cx="11199812" cy="4543153"/>
          </a:xfrm>
        </p:spPr>
        <p:txBody>
          <a:bodyPr/>
          <a:lstStyle/>
          <a:p>
            <a:r>
              <a:rPr lang="es-ES" dirty="0" smtClean="0"/>
              <a:t>CLAVICULA</a:t>
            </a:r>
          </a:p>
          <a:p>
            <a:pPr algn="just" fontAlgn="base"/>
            <a:r>
              <a:rPr lang="es-CO" b="0" dirty="0"/>
              <a:t>Es el primer hueso en osificarse y es el único hueso que se puede palpar por toda su longitud. </a:t>
            </a:r>
          </a:p>
          <a:p>
            <a:pPr algn="just" fontAlgn="base"/>
            <a:endParaRPr lang="es-CO" b="0" dirty="0" smtClean="0"/>
          </a:p>
          <a:p>
            <a:pPr algn="just" fontAlgn="base"/>
            <a:r>
              <a:rPr lang="es-CO" b="0" dirty="0" smtClean="0"/>
              <a:t>Estructura</a:t>
            </a:r>
            <a:endParaRPr lang="es-CO" b="0" dirty="0"/>
          </a:p>
          <a:p>
            <a:pPr algn="just" fontAlgn="base"/>
            <a:r>
              <a:rPr lang="es-CO" b="0" dirty="0"/>
              <a:t>Formada por tejido óseo compacto, muy grueso en la parte media del hueso y se adelgaza progresivamente hacia las extremidades</a:t>
            </a:r>
            <a:r>
              <a:rPr lang="es-CO" b="0" dirty="0" smtClean="0"/>
              <a:t>.</a:t>
            </a:r>
          </a:p>
          <a:p>
            <a:pPr algn="just" fontAlgn="base"/>
            <a:r>
              <a:rPr lang="es-CO" b="0" dirty="0"/>
              <a:t>En la parte media del hueso encontramos la cavidad medular,  Y es considerada el medio de unión del miembro superior con el tórax. </a:t>
            </a:r>
          </a:p>
          <a:p>
            <a:pPr algn="just" fontAlgn="base"/>
            <a:r>
              <a:rPr lang="es-CO" b="0" dirty="0" smtClean="0"/>
              <a:t> </a:t>
            </a:r>
            <a:endParaRPr lang="es-CO" b="0" dirty="0"/>
          </a:p>
          <a:p>
            <a:endParaRPr lang="es-CO" b="0" dirty="0"/>
          </a:p>
        </p:txBody>
      </p:sp>
    </p:spTree>
    <p:extLst>
      <p:ext uri="{BB962C8B-B14F-4D97-AF65-F5344CB8AC3E}">
        <p14:creationId xmlns:p14="http://schemas.microsoft.com/office/powerpoint/2010/main" val="233121146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endParaRPr lang="es-CO" b="0" dirty="0"/>
          </a:p>
          <a:p>
            <a:pPr algn="just" fontAlgn="base"/>
            <a:r>
              <a:rPr lang="es-CO" b="0" dirty="0"/>
              <a:t>Caracteristicas</a:t>
            </a:r>
          </a:p>
          <a:p>
            <a:pPr algn="just" fontAlgn="base"/>
            <a:r>
              <a:rPr lang="es-CO" b="0" dirty="0"/>
              <a:t>Forma de S itálica</a:t>
            </a:r>
          </a:p>
          <a:p>
            <a:pPr algn="just" fontAlgn="base"/>
            <a:r>
              <a:rPr lang="es-CO" b="0" dirty="0" smtClean="0"/>
              <a:t>Es </a:t>
            </a:r>
            <a:r>
              <a:rPr lang="es-CO" b="0" dirty="0"/>
              <a:t>aplanado de superior a inferior</a:t>
            </a:r>
          </a:p>
          <a:p>
            <a:pPr algn="just" fontAlgn="base"/>
            <a:r>
              <a:rPr lang="es-CO" b="0" dirty="0" smtClean="0"/>
              <a:t>Es </a:t>
            </a:r>
            <a:r>
              <a:rPr lang="es-CO" b="0" dirty="0"/>
              <a:t>un hueso largo, situado en la parte anterosuperior del tórax.</a:t>
            </a:r>
          </a:p>
          <a:p>
            <a:endParaRPr lang="es-CO" dirty="0"/>
          </a:p>
        </p:txBody>
      </p:sp>
    </p:spTree>
    <p:extLst>
      <p:ext uri="{BB962C8B-B14F-4D97-AF65-F5344CB8AC3E}">
        <p14:creationId xmlns:p14="http://schemas.microsoft.com/office/powerpoint/2010/main" val="261438919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50"/>
            <a:ext cx="11199812" cy="4464776"/>
          </a:xfrm>
        </p:spPr>
        <p:txBody>
          <a:bodyPr/>
          <a:lstStyle/>
          <a:p>
            <a:pPr algn="just" fontAlgn="base"/>
            <a:r>
              <a:rPr lang="es-CO" b="0" dirty="0"/>
              <a:t>PARTES</a:t>
            </a:r>
          </a:p>
          <a:p>
            <a:pPr algn="just" fontAlgn="base"/>
            <a:r>
              <a:rPr lang="es-CO" b="0" dirty="0"/>
              <a:t>2 caras: superior e inferior</a:t>
            </a:r>
          </a:p>
          <a:p>
            <a:pPr algn="just" fontAlgn="base"/>
            <a:r>
              <a:rPr lang="es-CO" b="0" dirty="0" smtClean="0"/>
              <a:t>2 </a:t>
            </a:r>
            <a:r>
              <a:rPr lang="es-CO" b="0" dirty="0"/>
              <a:t>bordes: anterior y posterior</a:t>
            </a:r>
          </a:p>
          <a:p>
            <a:pPr algn="just" fontAlgn="base"/>
            <a:r>
              <a:rPr lang="es-CO" b="0" dirty="0" smtClean="0"/>
              <a:t>2 </a:t>
            </a:r>
            <a:r>
              <a:rPr lang="es-CO" b="0" dirty="0"/>
              <a:t>extremidades: acromial y esternal</a:t>
            </a:r>
          </a:p>
          <a:p>
            <a:pPr algn="just"/>
            <a:endParaRPr lang="es-CO" b="0" dirty="0"/>
          </a:p>
        </p:txBody>
      </p:sp>
      <p:pic>
        <p:nvPicPr>
          <p:cNvPr id="3" name="Marcador de contenido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794" y="2174964"/>
            <a:ext cx="5181600" cy="4039147"/>
          </a:xfrm>
          <a:prstGeom prst="rect">
            <a:avLst/>
          </a:prstGeom>
        </p:spPr>
      </p:pic>
    </p:spTree>
    <p:extLst>
      <p:ext uri="{BB962C8B-B14F-4D97-AF65-F5344CB8AC3E}">
        <p14:creationId xmlns:p14="http://schemas.microsoft.com/office/powerpoint/2010/main" val="282280769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lvl="0" algn="just"/>
            <a:r>
              <a:rPr lang="es-ES_tradnl" b="0" dirty="0"/>
              <a:t>Con que se articula la clavícula?</a:t>
            </a:r>
          </a:p>
          <a:p>
            <a:pPr lvl="0" algn="just"/>
            <a:r>
              <a:rPr lang="es-CO" b="0" dirty="0" smtClean="0"/>
              <a:t>La </a:t>
            </a:r>
            <a:r>
              <a:rPr lang="es-CO" b="0" dirty="0"/>
              <a:t>clavícula se articula medialmente con el manubrio del esternón y, lateralmente, con el acromion de la </a:t>
            </a:r>
            <a:r>
              <a:rPr lang="es-CO" b="0" dirty="0" smtClean="0"/>
              <a:t>escápula</a:t>
            </a:r>
          </a:p>
          <a:p>
            <a:pPr algn="just"/>
            <a:r>
              <a:rPr lang="es-CO" b="0" dirty="0"/>
              <a:t>El extremo medial, denominado extremo esternal, es redondeado y se articula con el manubrio del esternón para formar la articulación esternoclavicular</a:t>
            </a:r>
            <a:r>
              <a:rPr lang="es-CO" b="0" dirty="0" smtClean="0"/>
              <a:t>.</a:t>
            </a:r>
          </a:p>
          <a:p>
            <a:pPr algn="just"/>
            <a:r>
              <a:rPr lang="es-CO" b="0" dirty="0"/>
              <a:t>El extremo lateral ancho y plano, extremo acromial, se articula con el acromion de la escápula para formar la articulación acromioclavicular</a:t>
            </a:r>
          </a:p>
          <a:p>
            <a:pPr algn="just"/>
            <a:endParaRPr lang="es-CO" b="0" dirty="0"/>
          </a:p>
          <a:p>
            <a:pPr algn="just"/>
            <a:r>
              <a:rPr lang="es-CO" b="0" dirty="0"/>
              <a:t> </a:t>
            </a:r>
          </a:p>
          <a:p>
            <a:pPr lvl="0" algn="just"/>
            <a:endParaRPr lang="es-CO" dirty="0"/>
          </a:p>
          <a:p>
            <a:endParaRPr lang="es-CO" dirty="0"/>
          </a:p>
        </p:txBody>
      </p:sp>
    </p:spTree>
    <p:extLst>
      <p:ext uri="{BB962C8B-B14F-4D97-AF65-F5344CB8AC3E}">
        <p14:creationId xmlns:p14="http://schemas.microsoft.com/office/powerpoint/2010/main" val="400167228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49"/>
            <a:ext cx="11199812" cy="3929199"/>
          </a:xfrm>
        </p:spPr>
        <p:txBody>
          <a:bodyPr/>
          <a:lstStyle/>
          <a:p>
            <a:pPr algn="just"/>
            <a:r>
              <a:rPr lang="es-CO" b="0" dirty="0" smtClean="0"/>
              <a:t>El </a:t>
            </a:r>
            <a:r>
              <a:rPr lang="es-CO" b="0" dirty="0"/>
              <a:t>tubérculo conoideo en la superficie inferior del extremo lateral del hueso es un punto de inserción para el ligamento conoide, que fija la clavícula a la escápula. </a:t>
            </a:r>
            <a:endParaRPr lang="es-CO" b="0" dirty="0" smtClean="0"/>
          </a:p>
          <a:p>
            <a:pPr algn="just"/>
            <a:r>
              <a:rPr lang="es-CO" b="0" dirty="0" smtClean="0"/>
              <a:t>Como </a:t>
            </a:r>
            <a:r>
              <a:rPr lang="es-CO" b="0" dirty="0"/>
              <a:t>su nombre lo indica, la impresión del ligamento costoclavicular en la superficie inferior del extremo esternal es un punto de inserción para el ligamento costoclavicular), que une la clavícula y la primera </a:t>
            </a:r>
            <a:r>
              <a:rPr lang="es-CO" b="0" dirty="0" smtClean="0"/>
              <a:t>costilla</a:t>
            </a:r>
          </a:p>
          <a:p>
            <a:pPr algn="just"/>
            <a:endParaRPr lang="es-CO" b="0" dirty="0"/>
          </a:p>
          <a:p>
            <a:pPr algn="just"/>
            <a:endParaRPr lang="es-CO" b="0" dirty="0"/>
          </a:p>
          <a:p>
            <a:pPr algn="just"/>
            <a:endParaRPr lang="es-CO" sz="2400" b="0" dirty="0"/>
          </a:p>
        </p:txBody>
      </p:sp>
    </p:spTree>
    <p:extLst>
      <p:ext uri="{BB962C8B-B14F-4D97-AF65-F5344CB8AC3E}">
        <p14:creationId xmlns:p14="http://schemas.microsoft.com/office/powerpoint/2010/main" val="103939109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50"/>
            <a:ext cx="11199812" cy="4464776"/>
          </a:xfrm>
        </p:spPr>
        <p:txBody>
          <a:bodyPr/>
          <a:lstStyle/>
          <a:p>
            <a:pPr fontAlgn="base"/>
            <a:r>
              <a:rPr lang="es-CO" b="0" dirty="0" smtClean="0"/>
              <a:t>Músculos</a:t>
            </a:r>
          </a:p>
          <a:p>
            <a:pPr fontAlgn="base"/>
            <a:r>
              <a:rPr lang="es-CO" sz="2000" b="0" dirty="0"/>
              <a:t>Borde anterior: Pectoral Mayor</a:t>
            </a:r>
          </a:p>
          <a:p>
            <a:pPr fontAlgn="base"/>
            <a:r>
              <a:rPr lang="es-CO" sz="2000" b="0" dirty="0"/>
              <a:t>Borde inferior: Músculo Subclavio</a:t>
            </a:r>
          </a:p>
          <a:p>
            <a:pPr fontAlgn="base"/>
            <a:r>
              <a:rPr lang="es-CO" sz="2000" b="0" dirty="0"/>
              <a:t>Superior: </a:t>
            </a:r>
          </a:p>
          <a:p>
            <a:pPr fontAlgn="base"/>
            <a:r>
              <a:rPr lang="es-CO" sz="2000" b="0" dirty="0"/>
              <a:t>hacia arriba: Esternocleidomastoideo</a:t>
            </a:r>
          </a:p>
          <a:p>
            <a:pPr fontAlgn="base"/>
            <a:r>
              <a:rPr lang="es-CO" sz="2000" b="0" dirty="0"/>
              <a:t>hacia dentro: estrenocleidohioideo</a:t>
            </a:r>
          </a:p>
          <a:p>
            <a:pPr fontAlgn="base"/>
            <a:r>
              <a:rPr lang="es-CO" sz="2000" b="0" dirty="0"/>
              <a:t>Extremidad externa: deltoides</a:t>
            </a:r>
          </a:p>
          <a:p>
            <a:pPr fontAlgn="base"/>
            <a:r>
              <a:rPr lang="es-CO" sz="2000" b="0" dirty="0"/>
              <a:t>Extremidad interna: Trapecio</a:t>
            </a:r>
          </a:p>
          <a:p>
            <a:pPr fontAlgn="base"/>
            <a:r>
              <a:rPr lang="es-CO" sz="2000" b="0" dirty="0"/>
              <a:t>Hacia fuera: Acromion de la escapula</a:t>
            </a:r>
          </a:p>
          <a:p>
            <a:pPr fontAlgn="base"/>
            <a:r>
              <a:rPr lang="es-CO" sz="2000" b="0" dirty="0"/>
              <a:t>Hacia Dentro: esternón, 1er cartílago costal y 1era costilla</a:t>
            </a:r>
          </a:p>
          <a:p>
            <a:pPr fontAlgn="base"/>
            <a:endParaRPr lang="es-CO" b="0" dirty="0" smtClean="0"/>
          </a:p>
          <a:p>
            <a:pPr fontAlgn="base"/>
            <a:endParaRPr lang="es-CO" b="0" dirty="0"/>
          </a:p>
        </p:txBody>
      </p:sp>
    </p:spTree>
    <p:extLst>
      <p:ext uri="{BB962C8B-B14F-4D97-AF65-F5344CB8AC3E}">
        <p14:creationId xmlns:p14="http://schemas.microsoft.com/office/powerpoint/2010/main" val="155946250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r>
              <a:rPr lang="es-ES" dirty="0"/>
              <a:t>ESCAPULA , OMOPLATO O </a:t>
            </a:r>
            <a:r>
              <a:rPr lang="es-ES" dirty="0" smtClean="0"/>
              <a:t>PALETA</a:t>
            </a:r>
          </a:p>
          <a:p>
            <a:pPr algn="just" fontAlgn="base"/>
            <a:r>
              <a:rPr lang="es-CO" b="0" dirty="0"/>
              <a:t>Es un hueso par plano y triangular, situado en las parte superior y posterior del tórax, a la altura de la segunda a séptima costilla.</a:t>
            </a:r>
          </a:p>
          <a:p>
            <a:pPr algn="just" fontAlgn="base"/>
            <a:r>
              <a:rPr lang="es-CO" b="0" dirty="0"/>
              <a:t>Conecta con el húmero (hueso del brazo) y con la clavícula y forma la parte posterior de la cintura escapular.</a:t>
            </a:r>
          </a:p>
          <a:p>
            <a:endParaRPr lang="es-ES" b="0" dirty="0" smtClean="0"/>
          </a:p>
          <a:p>
            <a:endParaRPr lang="es-CO" b="0" dirty="0"/>
          </a:p>
        </p:txBody>
      </p:sp>
    </p:spTree>
    <p:extLst>
      <p:ext uri="{BB962C8B-B14F-4D97-AF65-F5344CB8AC3E}">
        <p14:creationId xmlns:p14="http://schemas.microsoft.com/office/powerpoint/2010/main" val="92624324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70762" y="1609452"/>
            <a:ext cx="11199812" cy="4844950"/>
          </a:xfrm>
        </p:spPr>
        <p:txBody>
          <a:bodyPr/>
          <a:lstStyle/>
          <a:p>
            <a:endParaRPr lang="es-CO" dirty="0"/>
          </a:p>
        </p:txBody>
      </p:sp>
      <p:pic>
        <p:nvPicPr>
          <p:cNvPr id="3" name="Picture 2" descr="untitled image"/>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3698140" y="2083298"/>
            <a:ext cx="4259317" cy="38972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966651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50"/>
            <a:ext cx="11199812" cy="4438650"/>
          </a:xfrm>
        </p:spPr>
        <p:txBody>
          <a:bodyPr/>
          <a:lstStyle/>
          <a:p>
            <a:pPr fontAlgn="base"/>
            <a:r>
              <a:rPr lang="es-CO" b="0" dirty="0"/>
              <a:t>CARA ANTERIOR O COSTAL</a:t>
            </a:r>
          </a:p>
          <a:p>
            <a:pPr algn="just" fontAlgn="base"/>
            <a:r>
              <a:rPr lang="es-CO" b="0" dirty="0"/>
              <a:t>Es cóncava en casi toda su extensión, a esta concavidad se le llama fosa subescapular, donde se insertan las láminas tendinosas del músculo subescapular. </a:t>
            </a:r>
          </a:p>
          <a:p>
            <a:pPr algn="just"/>
            <a:endParaRPr lang="es-CO" b="0" dirty="0"/>
          </a:p>
          <a:p>
            <a:endParaRPr lang="es-CO" dirty="0"/>
          </a:p>
        </p:txBody>
      </p:sp>
      <p:pic>
        <p:nvPicPr>
          <p:cNvPr id="3" name="Picture 2" descr="untitl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994" y="3317966"/>
            <a:ext cx="3657600" cy="3082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65461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49"/>
            <a:ext cx="11199812" cy="4477839"/>
          </a:xfrm>
        </p:spPr>
        <p:txBody>
          <a:bodyPr/>
          <a:lstStyle/>
          <a:p>
            <a:pPr fontAlgn="base"/>
            <a:r>
              <a:rPr lang="es-CO" sz="2400" b="0" dirty="0"/>
              <a:t>CARA POSTERIOR O DORSAL</a:t>
            </a:r>
          </a:p>
          <a:p>
            <a:pPr algn="just" fontAlgn="base"/>
            <a:r>
              <a:rPr lang="es-CO" sz="2400" b="0" dirty="0"/>
              <a:t>Es convexa y está dividida </a:t>
            </a:r>
            <a:r>
              <a:rPr lang="es-CO" b="0" dirty="0"/>
              <a:t>por la espina de la escápula en la fosa supraespinosa y la fosa infraespinosa. </a:t>
            </a:r>
          </a:p>
          <a:p>
            <a:endParaRPr lang="es-CO" b="0" dirty="0"/>
          </a:p>
          <a:p>
            <a:endParaRPr lang="es-CO" b="0" dirty="0"/>
          </a:p>
        </p:txBody>
      </p:sp>
      <p:pic>
        <p:nvPicPr>
          <p:cNvPr id="3" name="Picture 2" descr="untitl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88661" y="2899954"/>
            <a:ext cx="4256690" cy="35400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27608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algn="just" fontAlgn="base"/>
            <a:r>
              <a:rPr lang="es-CO" sz="2400" b="0" dirty="0" smtClean="0"/>
              <a:t>Fosa </a:t>
            </a:r>
            <a:r>
              <a:rPr lang="es-CO" sz="2400" b="0" dirty="0"/>
              <a:t>supraespinosa es lisa y sirve de inserción al músculo supraespinoso. </a:t>
            </a:r>
          </a:p>
          <a:p>
            <a:pPr algn="just" fontAlgn="base"/>
            <a:r>
              <a:rPr lang="es-CO" sz="2400" b="0" dirty="0" smtClean="0"/>
              <a:t>Fosa </a:t>
            </a:r>
            <a:r>
              <a:rPr lang="es-CO" sz="2400" b="0" dirty="0"/>
              <a:t>infraespinosa se encuentra dividida en dos partes por una cresta que discurre a lo largo de su borde lateral, la parte medial sirve para la inserción del músculo infraespinosoLa fosa supraespinosa es lisa y sirve de inserción al músculo supraespinoso. </a:t>
            </a:r>
          </a:p>
          <a:p>
            <a:endParaRPr lang="es-CO" sz="2400" b="0" dirty="0"/>
          </a:p>
          <a:p>
            <a:endParaRPr lang="es-CO" sz="2400" b="0" dirty="0"/>
          </a:p>
        </p:txBody>
      </p:sp>
    </p:spTree>
    <p:extLst>
      <p:ext uri="{BB962C8B-B14F-4D97-AF65-F5344CB8AC3E}">
        <p14:creationId xmlns:p14="http://schemas.microsoft.com/office/powerpoint/2010/main" val="204442078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7441" y="1672046"/>
            <a:ext cx="7057289" cy="4676502"/>
          </a:xfrm>
          <a:prstGeom prst="rect">
            <a:avLst/>
          </a:prstGeom>
        </p:spPr>
      </p:pic>
    </p:spTree>
    <p:extLst>
      <p:ext uri="{BB962C8B-B14F-4D97-AF65-F5344CB8AC3E}">
        <p14:creationId xmlns:p14="http://schemas.microsoft.com/office/powerpoint/2010/main" val="92461174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algn="ctr"/>
            <a:endParaRPr lang="es-ES" sz="4800" dirty="0" smtClean="0"/>
          </a:p>
          <a:p>
            <a:pPr algn="ctr"/>
            <a:r>
              <a:rPr lang="es-ES" sz="4800" dirty="0" smtClean="0"/>
              <a:t>CINTURON PELVICO</a:t>
            </a:r>
            <a:endParaRPr lang="es-CO" sz="4800" dirty="0"/>
          </a:p>
        </p:txBody>
      </p:sp>
    </p:spTree>
    <p:extLst>
      <p:ext uri="{BB962C8B-B14F-4D97-AF65-F5344CB8AC3E}">
        <p14:creationId xmlns:p14="http://schemas.microsoft.com/office/powerpoint/2010/main" val="168192714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algn="just"/>
            <a:r>
              <a:rPr lang="es-CO" b="0" dirty="0" smtClean="0"/>
              <a:t>La </a:t>
            </a:r>
            <a:r>
              <a:rPr lang="es-CO" b="0" dirty="0"/>
              <a:t>cintura es una zona del cuerpo humano situada en el abdomen entre el tórax y la cadera, siendo la parte más estrecha del tronco en personas proporcionadas </a:t>
            </a:r>
          </a:p>
          <a:p>
            <a:pPr algn="just"/>
            <a:endParaRPr lang="es-ES_tradnl" b="0" dirty="0" smtClean="0"/>
          </a:p>
          <a:p>
            <a:pPr algn="just"/>
            <a:r>
              <a:rPr lang="es-ES_tradnl" b="0" dirty="0" smtClean="0"/>
              <a:t>La</a:t>
            </a:r>
            <a:r>
              <a:rPr lang="es-ES_tradnl" b="0" dirty="0"/>
              <a:t> cintura pélvica es la parte inferior del tronco del cuerpo formada por dos huesos delanteros llamados coxales, que forman la cadera, y por los huesos sacros y cóccix, en la parte de atrás, que forman la parte más baja de la columna vertebral</a:t>
            </a:r>
          </a:p>
          <a:p>
            <a:endParaRPr lang="es-CO" dirty="0"/>
          </a:p>
        </p:txBody>
      </p:sp>
    </p:spTree>
    <p:extLst>
      <p:ext uri="{BB962C8B-B14F-4D97-AF65-F5344CB8AC3E}">
        <p14:creationId xmlns:p14="http://schemas.microsoft.com/office/powerpoint/2010/main" val="423859855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algn="just"/>
            <a:r>
              <a:rPr lang="es-CO" b="0" dirty="0" smtClean="0"/>
              <a:t>Se </a:t>
            </a:r>
            <a:r>
              <a:rPr lang="es-CO" b="0" dirty="0"/>
              <a:t>divide en dos regiones: La región superior en relación con la parte superior de los huesos pélvicos y las vértebras lumbares inferiores se llama pelvis mayor (pelvis falsa) y se suele considerar parte del abdomen. </a:t>
            </a:r>
          </a:p>
          <a:p>
            <a:endParaRPr lang="es-CO" dirty="0"/>
          </a:p>
        </p:txBody>
      </p:sp>
    </p:spTree>
    <p:extLst>
      <p:ext uri="{BB962C8B-B14F-4D97-AF65-F5344CB8AC3E}">
        <p14:creationId xmlns:p14="http://schemas.microsoft.com/office/powerpoint/2010/main" val="97755044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algn="just"/>
            <a:r>
              <a:rPr lang="es-ES_tradnl" b="0" dirty="0" smtClean="0"/>
              <a:t>FUNCION</a:t>
            </a:r>
          </a:p>
          <a:p>
            <a:pPr algn="just"/>
            <a:r>
              <a:rPr lang="es-CO" b="0" dirty="0" smtClean="0"/>
              <a:t>Resistir </a:t>
            </a:r>
            <a:r>
              <a:rPr lang="es-CO" b="0" dirty="0"/>
              <a:t>el peso de la parte superior del cuerpo en posición sentada y erecta.</a:t>
            </a:r>
          </a:p>
          <a:p>
            <a:pPr algn="just"/>
            <a:r>
              <a:rPr lang="es-CO" b="0" dirty="0"/>
              <a:t>Transferir el peso desde el esqueleto axial al de los miembros inferiores durante la bipedestación y la marcha.</a:t>
            </a:r>
          </a:p>
          <a:p>
            <a:pPr algn="just"/>
            <a:r>
              <a:rPr lang="es-CO" b="0" dirty="0"/>
              <a:t>Proporcionar una inserción para los potentes músculos locomotores y posturales, y para los músculos de la pared abdominal, resistiendo las fuerzas generadas por sus acciones.</a:t>
            </a:r>
          </a:p>
          <a:p>
            <a:pPr algn="just"/>
            <a:endParaRPr lang="es-CO" dirty="0"/>
          </a:p>
          <a:p>
            <a:pPr algn="just"/>
            <a:endParaRPr lang="es-CO" dirty="0"/>
          </a:p>
          <a:p>
            <a:endParaRPr lang="es-CO" dirty="0"/>
          </a:p>
        </p:txBody>
      </p:sp>
    </p:spTree>
    <p:extLst>
      <p:ext uri="{BB962C8B-B14F-4D97-AF65-F5344CB8AC3E}">
        <p14:creationId xmlns:p14="http://schemas.microsoft.com/office/powerpoint/2010/main" val="210570774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49"/>
            <a:ext cx="11199812" cy="4543153"/>
          </a:xfrm>
        </p:spPr>
        <p:txBody>
          <a:bodyPr/>
          <a:lstStyle/>
          <a:p>
            <a:pPr algn="just"/>
            <a:r>
              <a:rPr lang="es-CO" b="0" dirty="0"/>
              <a:t>Contener y proteger las vísceras pélvicas (porciones inferiores de las vías urinarias y los órganos reproductores internos) y las vísceras abdominales inferiores (intestinos), a la vez que permite el paso de sus porciones terminales (y, en las mujeres, de un feto a término) a través del periné.</a:t>
            </a:r>
          </a:p>
          <a:p>
            <a:pPr algn="just"/>
            <a:r>
              <a:rPr lang="es-CO" b="0" dirty="0"/>
              <a:t>Proporcionar sostén a las vísceras abdominopélvicas y al útero grávido (gestante).</a:t>
            </a:r>
          </a:p>
          <a:p>
            <a:pPr algn="just"/>
            <a:r>
              <a:rPr lang="es-CO" b="0" dirty="0"/>
              <a:t>Proporcionar inserción para los cuerpos eréctiles de los genitales externos</a:t>
            </a:r>
            <a:r>
              <a:rPr lang="es-CO" b="0" dirty="0" smtClean="0"/>
              <a:t>.</a:t>
            </a:r>
          </a:p>
          <a:p>
            <a:pPr algn="just"/>
            <a:r>
              <a:rPr lang="es-CO" b="0" dirty="0"/>
              <a:t>Proporcionar inserción para los músculos y las membranas que ayudan a las funciones antes citadas, formando el suelo de la pelvis y llenando los espacios que existen en él o a su alrededor.</a:t>
            </a:r>
          </a:p>
          <a:p>
            <a:pPr algn="just"/>
            <a:endParaRPr lang="es-CO" b="0" dirty="0"/>
          </a:p>
          <a:p>
            <a:pPr algn="just"/>
            <a:endParaRPr lang="es-CO" b="0" dirty="0"/>
          </a:p>
          <a:p>
            <a:endParaRPr lang="es-CO" b="0" dirty="0"/>
          </a:p>
          <a:p>
            <a:endParaRPr lang="es-CO" dirty="0"/>
          </a:p>
        </p:txBody>
      </p:sp>
    </p:spTree>
    <p:extLst>
      <p:ext uri="{BB962C8B-B14F-4D97-AF65-F5344CB8AC3E}">
        <p14:creationId xmlns:p14="http://schemas.microsoft.com/office/powerpoint/2010/main" val="214296144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algn="just"/>
            <a:r>
              <a:rPr lang="es-CO" b="0" dirty="0"/>
              <a:t>La cintura pélvica está formada por 2 COXALES y el SACRO </a:t>
            </a:r>
          </a:p>
          <a:p>
            <a:pPr algn="just"/>
            <a:r>
              <a:rPr lang="es-CO" b="0" dirty="0"/>
              <a:t>Un conjunto de huesos que unen el miembro inferior (FÉMUR) al tronco.</a:t>
            </a:r>
          </a:p>
          <a:p>
            <a:pPr algn="just"/>
            <a:r>
              <a:rPr lang="es-CO" b="0" dirty="0"/>
              <a:t> </a:t>
            </a:r>
          </a:p>
          <a:p>
            <a:r>
              <a:rPr lang="es-CO" b="0" dirty="0"/>
              <a:t/>
            </a:r>
            <a:br>
              <a:rPr lang="es-CO" b="0" dirty="0"/>
            </a:br>
            <a:endParaRPr lang="es-CO" b="0" dirty="0"/>
          </a:p>
          <a:p>
            <a:endParaRPr lang="es-CO" dirty="0"/>
          </a:p>
        </p:txBody>
      </p:sp>
    </p:spTree>
    <p:extLst>
      <p:ext uri="{BB962C8B-B14F-4D97-AF65-F5344CB8AC3E}">
        <p14:creationId xmlns:p14="http://schemas.microsoft.com/office/powerpoint/2010/main" val="396351140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523014" y="1779270"/>
            <a:ext cx="11199812" cy="4321084"/>
          </a:xfrm>
        </p:spPr>
        <p:txBody>
          <a:bodyPr/>
          <a:lstStyle/>
          <a:p>
            <a:r>
              <a:rPr lang="es-CO" dirty="0"/>
              <a:t>SACRO</a:t>
            </a:r>
          </a:p>
          <a:p>
            <a:pPr algn="just"/>
            <a:r>
              <a:rPr lang="es-CO" b="0" dirty="0"/>
              <a:t>El sacro son 5 piezas articuladas</a:t>
            </a:r>
            <a:r>
              <a:rPr lang="es-CO" b="0" dirty="0" smtClean="0"/>
              <a:t>.</a:t>
            </a:r>
          </a:p>
          <a:p>
            <a:pPr algn="just"/>
            <a:endParaRPr lang="es-CO" b="0" dirty="0" smtClean="0"/>
          </a:p>
          <a:p>
            <a:pPr algn="just"/>
            <a:r>
              <a:rPr lang="es-CO" b="0" dirty="0" smtClean="0"/>
              <a:t>Donde </a:t>
            </a:r>
            <a:r>
              <a:rPr lang="es-CO" b="0" dirty="0"/>
              <a:t>estaban los discos intervertebrales aquí encontraremos LÍNEA TRANSVERSAL que se forma por la fusión de los discos. </a:t>
            </a:r>
          </a:p>
          <a:p>
            <a:pPr algn="just"/>
            <a:r>
              <a:rPr lang="es-CO" b="0" dirty="0"/>
              <a:t>Su función principal es transmitir el peso del cuerpo a la cintura pélvica</a:t>
            </a:r>
            <a:r>
              <a:rPr lang="es-CO" b="0" dirty="0" smtClean="0"/>
              <a:t>.</a:t>
            </a:r>
          </a:p>
          <a:p>
            <a:pPr algn="just"/>
            <a:r>
              <a:rPr lang="es-CO" b="0" dirty="0" smtClean="0"/>
              <a:t>El </a:t>
            </a:r>
            <a:r>
              <a:rPr lang="es-CO" b="0" dirty="0"/>
              <a:t>borde anterior de S1 es sobresaliente y se denomina promontorio sacro. El vértice se articula con el cóccix. El orificio vertebral del sacro se denomina conducto sacro. </a:t>
            </a:r>
          </a:p>
        </p:txBody>
      </p:sp>
    </p:spTree>
    <p:extLst>
      <p:ext uri="{BB962C8B-B14F-4D97-AF65-F5344CB8AC3E}">
        <p14:creationId xmlns:p14="http://schemas.microsoft.com/office/powerpoint/2010/main" val="418654819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0159" y="1580604"/>
            <a:ext cx="8673737" cy="4127865"/>
          </a:xfrm>
          <a:prstGeom prst="rect">
            <a:avLst/>
          </a:prstGeom>
        </p:spPr>
      </p:pic>
    </p:spTree>
    <p:extLst>
      <p:ext uri="{BB962C8B-B14F-4D97-AF65-F5344CB8AC3E}">
        <p14:creationId xmlns:p14="http://schemas.microsoft.com/office/powerpoint/2010/main" val="68102589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algn="just"/>
            <a:r>
              <a:rPr lang="es-CO" dirty="0"/>
              <a:t>COXAL</a:t>
            </a:r>
          </a:p>
          <a:p>
            <a:pPr algn="just"/>
            <a:r>
              <a:rPr lang="es-CO" b="0" dirty="0" smtClean="0"/>
              <a:t>Los </a:t>
            </a:r>
            <a:r>
              <a:rPr lang="es-CO" b="0" dirty="0"/>
              <a:t>coxales son 2 huesos que se unen a nivel del sacro. </a:t>
            </a:r>
          </a:p>
          <a:p>
            <a:pPr algn="just"/>
            <a:r>
              <a:rPr lang="es-CO" b="0" dirty="0" smtClean="0"/>
              <a:t>El </a:t>
            </a:r>
            <a:r>
              <a:rPr lang="es-CO" b="0" dirty="0"/>
              <a:t>coxal es un hueso plano, que se origina de la fusión de 3 huesos:</a:t>
            </a:r>
          </a:p>
          <a:p>
            <a:pPr algn="just"/>
            <a:r>
              <a:rPr lang="es-CO" b="0" dirty="0"/>
              <a:t>IlION: disposición superior</a:t>
            </a:r>
          </a:p>
          <a:p>
            <a:pPr algn="just"/>
            <a:r>
              <a:rPr lang="es-CO" b="0" dirty="0"/>
              <a:t>ISQUION: disposición posterior</a:t>
            </a:r>
          </a:p>
          <a:p>
            <a:pPr algn="just"/>
            <a:r>
              <a:rPr lang="es-CO" b="0" dirty="0"/>
              <a:t>PUBIS: disposición anterior</a:t>
            </a:r>
          </a:p>
          <a:p>
            <a:pPr algn="just"/>
            <a:endParaRPr lang="es-CO" b="0" dirty="0"/>
          </a:p>
          <a:p>
            <a:pPr algn="just"/>
            <a:endParaRPr lang="es-CO" b="0" dirty="0"/>
          </a:p>
          <a:p>
            <a:endParaRPr lang="es-CO" b="0" dirty="0"/>
          </a:p>
          <a:p>
            <a:endParaRPr lang="es-CO" b="0" dirty="0"/>
          </a:p>
        </p:txBody>
      </p:sp>
    </p:spTree>
    <p:extLst>
      <p:ext uri="{BB962C8B-B14F-4D97-AF65-F5344CB8AC3E}">
        <p14:creationId xmlns:p14="http://schemas.microsoft.com/office/powerpoint/2010/main" val="134345138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r>
              <a:rPr lang="es-CO" b="0" dirty="0"/>
              <a:t>Los detalles anatómicos hacen referencia al hueso inicial y no al coxal, por ejemplo: </a:t>
            </a:r>
            <a:r>
              <a:rPr lang="es-CO" b="0" dirty="0" smtClean="0"/>
              <a:t>espina </a:t>
            </a:r>
            <a:r>
              <a:rPr lang="es-CO" b="0" dirty="0"/>
              <a:t>ilíaca, escotadura isquiática (ciática) mayor, etc. </a:t>
            </a:r>
            <a:endParaRPr lang="es-CO" b="0" dirty="0" smtClean="0"/>
          </a:p>
          <a:p>
            <a:r>
              <a:rPr lang="es-CO" b="0" dirty="0" smtClean="0"/>
              <a:t>Las </a:t>
            </a:r>
            <a:r>
              <a:rPr lang="es-CO" b="0" dirty="0"/>
              <a:t>principales referencias anatómicas están indicadas en los 3 dibujos de la pelvis: vista anterior, vista posterior y vista lateral.</a:t>
            </a:r>
          </a:p>
          <a:p>
            <a:endParaRPr lang="es-CO" dirty="0"/>
          </a:p>
        </p:txBody>
      </p:sp>
    </p:spTree>
    <p:extLst>
      <p:ext uri="{BB962C8B-B14F-4D97-AF65-F5344CB8AC3E}">
        <p14:creationId xmlns:p14="http://schemas.microsoft.com/office/powerpoint/2010/main" val="232637130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49"/>
            <a:ext cx="11199812" cy="4608467"/>
          </a:xfrm>
        </p:spPr>
        <p:txBody>
          <a:bodyPr/>
          <a:lstStyle/>
          <a:p>
            <a:pPr algn="just"/>
            <a:r>
              <a:rPr lang="es-CO" b="0" dirty="0" smtClean="0"/>
              <a:t>Un </a:t>
            </a:r>
            <a:r>
              <a:rPr lang="es-CO" b="0" dirty="0"/>
              <a:t>coxal se coloca de modo que la espina ilíaca antero-superior (EIAS) y el cuerpo del pubis están en el mismo plano</a:t>
            </a:r>
            <a:r>
              <a:rPr lang="es-CO" b="0" dirty="0" smtClean="0"/>
              <a:t>.</a:t>
            </a:r>
          </a:p>
          <a:p>
            <a:pPr algn="just"/>
            <a:r>
              <a:rPr lang="es-CO" b="0" dirty="0" smtClean="0"/>
              <a:t>Si </a:t>
            </a:r>
            <a:r>
              <a:rPr lang="es-CO" b="0" dirty="0"/>
              <a:t>la espina ilíaca antero-superior está por delante de este plano, hablamos de una pelvis en </a:t>
            </a:r>
            <a:r>
              <a:rPr lang="es-CO" b="0" dirty="0" smtClean="0"/>
              <a:t>ANTEVERSIÓN. Para </a:t>
            </a:r>
            <a:r>
              <a:rPr lang="es-CO" b="0" dirty="0"/>
              <a:t>compensar la columna quedará con una hiperlordosis. </a:t>
            </a:r>
            <a:endParaRPr lang="es-CO" b="0" dirty="0" smtClean="0"/>
          </a:p>
          <a:p>
            <a:pPr algn="just"/>
            <a:r>
              <a:rPr lang="es-CO" b="0" dirty="0" smtClean="0"/>
              <a:t>Si </a:t>
            </a:r>
            <a:r>
              <a:rPr lang="es-CO" b="0" dirty="0"/>
              <a:t>la espina ilíaca antero-superior está por detrás de este plano, hablamos de la pelvis en RETROVERSIÓN. Para compensar la columna quedará con una rectificación</a:t>
            </a:r>
            <a:r>
              <a:rPr lang="es-CO" b="0" dirty="0" smtClean="0"/>
              <a:t>.</a:t>
            </a:r>
            <a:endParaRPr lang="es-CO" b="0" dirty="0"/>
          </a:p>
        </p:txBody>
      </p:sp>
    </p:spTree>
    <p:extLst>
      <p:ext uri="{BB962C8B-B14F-4D97-AF65-F5344CB8AC3E}">
        <p14:creationId xmlns:p14="http://schemas.microsoft.com/office/powerpoint/2010/main" val="121291902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algn="just"/>
            <a:r>
              <a:rPr lang="es-CO" b="0" dirty="0"/>
              <a:t>La posición de las crestas ilíacas indica la longitud de las piernas. Si las dos crestas están en el mismo plano, las dos piernas tienen más o menos la misma longitud. Cualquier desvío (asimetría) de las crestas hará que la columna no esté bien asentada.</a:t>
            </a:r>
          </a:p>
          <a:p>
            <a:endParaRPr lang="es-CO" b="0" dirty="0"/>
          </a:p>
          <a:p>
            <a:endParaRPr lang="es-CO" b="0" dirty="0"/>
          </a:p>
        </p:txBody>
      </p:sp>
    </p:spTree>
    <p:extLst>
      <p:ext uri="{BB962C8B-B14F-4D97-AF65-F5344CB8AC3E}">
        <p14:creationId xmlns:p14="http://schemas.microsoft.com/office/powerpoint/2010/main" val="298796257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algn="just"/>
            <a:r>
              <a:rPr lang="es-CO" b="0" dirty="0"/>
              <a:t>Si el coxal va hacia adelante, el acetábulo baja; si el coxal va hacia atrás el acetábulo sube. Por lo tanto de forma generalizada un coxal anterior hace una pierna más larga y el coxal posterior hará una pierna más corta. </a:t>
            </a:r>
            <a:endParaRPr lang="es-CO" b="0" dirty="0" smtClean="0"/>
          </a:p>
          <a:p>
            <a:pPr algn="just"/>
            <a:r>
              <a:rPr lang="es-CO" b="0" dirty="0" smtClean="0"/>
              <a:t>Los </a:t>
            </a:r>
            <a:r>
              <a:rPr lang="es-CO" b="0" dirty="0"/>
              <a:t>problemas con el coxal revelan problemas con las piernas asimétricas, influyen en la columna y pueden provocar desviaciones y/o escoliosis.</a:t>
            </a:r>
          </a:p>
          <a:p>
            <a:pPr algn="just"/>
            <a:r>
              <a:rPr lang="es-CO" b="0" dirty="0"/>
              <a:t>Las dos espinas ilíacas postero-superiores (EIPS) son puntos de referencia para localizar S2 que se encuentra en el mismo plano. Las crestas ilíacas están a nivel de la vértebra L4.</a:t>
            </a:r>
          </a:p>
          <a:p>
            <a:endParaRPr lang="es-CO" dirty="0"/>
          </a:p>
        </p:txBody>
      </p:sp>
    </p:spTree>
    <p:extLst>
      <p:ext uri="{BB962C8B-B14F-4D97-AF65-F5344CB8AC3E}">
        <p14:creationId xmlns:p14="http://schemas.microsoft.com/office/powerpoint/2010/main" val="427876319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algn="just"/>
            <a:r>
              <a:rPr lang="es-CO" b="0" dirty="0"/>
              <a:t>Otras estructuras importantes que encontramos en el coxal son el ACETÁBULO - zona articular del coxal con la cabeza del fémur</a:t>
            </a:r>
          </a:p>
          <a:p>
            <a:pPr algn="just"/>
            <a:r>
              <a:rPr lang="es-CO" b="0" dirty="0"/>
              <a:t> y el AGUJERO OBTURADO. A veces se suele llamarlo erróneamente agujero obturador pero son las estructuras que lo tapan que se llaman obturadoras (ej: músculos obturadores, nervio obturador, la membrana obturadora).</a:t>
            </a:r>
          </a:p>
          <a:p>
            <a:pPr algn="just"/>
            <a:r>
              <a:rPr lang="es-CO" b="0" dirty="0"/>
              <a:t> Por tanto recordemos: las estructuras obturadoras tapan el agujero obturado.</a:t>
            </a:r>
          </a:p>
          <a:p>
            <a:endParaRPr lang="es-CO" dirty="0"/>
          </a:p>
        </p:txBody>
      </p:sp>
    </p:spTree>
    <p:extLst>
      <p:ext uri="{BB962C8B-B14F-4D97-AF65-F5344CB8AC3E}">
        <p14:creationId xmlns:p14="http://schemas.microsoft.com/office/powerpoint/2010/main" val="355938998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49"/>
            <a:ext cx="11199812" cy="4125141"/>
          </a:xfrm>
        </p:spPr>
        <p:txBody>
          <a:bodyPr/>
          <a:lstStyle/>
          <a:p>
            <a:pPr algn="just"/>
            <a:r>
              <a:rPr lang="es-CO" b="0" dirty="0"/>
              <a:t>En la pelvis se puede distinguir:</a:t>
            </a:r>
          </a:p>
          <a:p>
            <a:pPr algn="just"/>
            <a:r>
              <a:rPr lang="es-CO" b="0" dirty="0"/>
              <a:t>PELVIS MAYOR: donde hay vísceras abdominales.</a:t>
            </a:r>
          </a:p>
          <a:p>
            <a:pPr algn="just"/>
            <a:r>
              <a:rPr lang="es-CO" b="0" dirty="0"/>
              <a:t>PELVIS MENOR: espacio final del tubo digestivo y genitourinario.</a:t>
            </a:r>
          </a:p>
          <a:p>
            <a:pPr algn="just"/>
            <a:r>
              <a:rPr lang="es-CO" b="0" dirty="0"/>
              <a:t>La pelvis del hombre y de la mujer presentan algunas diferencias:</a:t>
            </a:r>
          </a:p>
          <a:p>
            <a:pPr algn="just"/>
            <a:r>
              <a:rPr lang="es-CO" b="0" dirty="0"/>
              <a:t>Las alas del coxal están más abiertas en la pelvis de la mujer porque es ahí donde estará el feto.</a:t>
            </a:r>
          </a:p>
          <a:p>
            <a:pPr algn="just"/>
            <a:r>
              <a:rPr lang="es-CO" b="0" dirty="0"/>
              <a:t>En la zona anterior del pubis de la mujer se forma un arco y del hombre un ángulo.</a:t>
            </a:r>
          </a:p>
          <a:p>
            <a:endParaRPr lang="es-CO" dirty="0"/>
          </a:p>
        </p:txBody>
      </p:sp>
    </p:spTree>
    <p:extLst>
      <p:ext uri="{BB962C8B-B14F-4D97-AF65-F5344CB8AC3E}">
        <p14:creationId xmlns:p14="http://schemas.microsoft.com/office/powerpoint/2010/main" val="251575349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r>
              <a:rPr lang="es-ES_tradnl" b="0" dirty="0"/>
              <a:t>Describe las articulaciones del cinturón pélvico?</a:t>
            </a:r>
            <a:endParaRPr lang="es-CO" b="0" dirty="0"/>
          </a:p>
          <a:p>
            <a:pPr algn="just"/>
            <a:r>
              <a:rPr lang="es-419" b="0" dirty="0"/>
              <a:t>El cinturón pélvico está compuesto por tres articulaciones: la articulación de la cadera (articulación coxofemoral), articulación sacro iliaca y sínfisis del pubis; todas trabajan al unísono para dar movilidad y estabilidad al cuerpo.</a:t>
            </a:r>
          </a:p>
          <a:p>
            <a:pPr algn="just"/>
            <a:r>
              <a:rPr lang="es-419" dirty="0"/>
              <a:t/>
            </a:r>
            <a:br>
              <a:rPr lang="es-419" dirty="0"/>
            </a:br>
            <a:endParaRPr lang="es-CO" dirty="0"/>
          </a:p>
          <a:p>
            <a:endParaRPr lang="es-CO" dirty="0"/>
          </a:p>
        </p:txBody>
      </p:sp>
    </p:spTree>
    <p:extLst>
      <p:ext uri="{BB962C8B-B14F-4D97-AF65-F5344CB8AC3E}">
        <p14:creationId xmlns:p14="http://schemas.microsoft.com/office/powerpoint/2010/main" val="228531993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49"/>
            <a:ext cx="11199812" cy="4112079"/>
          </a:xfrm>
        </p:spPr>
        <p:txBody>
          <a:bodyPr/>
          <a:lstStyle/>
          <a:p>
            <a:r>
              <a:rPr lang="es-CO" b="0" dirty="0"/>
              <a:t>ART. SACROILIACAS</a:t>
            </a:r>
          </a:p>
          <a:p>
            <a:r>
              <a:rPr lang="es-CO" b="0" dirty="0"/>
              <a:t>Unen las caretas auriculares del sacro con las caretas auriculares del coxal. Son articulaciones sinoviales con líquido sinovial y la cápsula. Tienen un cierto movimiento de deslizar que se puede generar con las cargas y durante el parto.</a:t>
            </a:r>
          </a:p>
          <a:p>
            <a:r>
              <a:rPr lang="es-CO" b="0" dirty="0"/>
              <a:t>Durante el parto, aparte de la OXITOCINA, se genera también la hormona RELAXINA que permite una cierta laxitud de los ligamentos y por tanto una apertura del espacio de la pelvis. El sacro hace un movimiento de caída anterior, el coxis se va hacia atrás y aumenta el diámetro de la parte inferior de la pelvis.</a:t>
            </a:r>
          </a:p>
          <a:p>
            <a:endParaRPr lang="es-CO" b="0" dirty="0"/>
          </a:p>
          <a:p>
            <a:endParaRPr lang="es-CO" b="0" dirty="0"/>
          </a:p>
        </p:txBody>
      </p:sp>
    </p:spTree>
    <p:extLst>
      <p:ext uri="{BB962C8B-B14F-4D97-AF65-F5344CB8AC3E}">
        <p14:creationId xmlns:p14="http://schemas.microsoft.com/office/powerpoint/2010/main" val="104153592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49"/>
            <a:ext cx="11199812" cy="4451713"/>
          </a:xfrm>
        </p:spPr>
        <p:txBody>
          <a:bodyPr/>
          <a:lstStyle/>
          <a:p>
            <a:r>
              <a:rPr lang="es-CO" b="0" dirty="0"/>
              <a:t>Art. sacroilíaca está reforzada </a:t>
            </a:r>
            <a:r>
              <a:rPr lang="es-CO" b="0" dirty="0" smtClean="0"/>
              <a:t>por los</a:t>
            </a:r>
            <a:r>
              <a:rPr lang="es-CO" b="0" dirty="0"/>
              <a:t> </a:t>
            </a:r>
            <a:r>
              <a:rPr lang="es-CO" b="0" dirty="0" smtClean="0"/>
              <a:t>LIGAMENTOS SACROILIACOS</a:t>
            </a:r>
            <a:r>
              <a:rPr lang="es-CO" b="0" dirty="0"/>
              <a:t>: ANTERIORES, POSTERIORES y INTERÓSEOS que están dentro de la articulación. Además está reforzada por los LIGAMENTOS ILIOLUMBARES desde el ilíaco en L4-L5 </a:t>
            </a:r>
            <a:endParaRPr lang="es-CO" b="0" dirty="0" smtClean="0"/>
          </a:p>
          <a:p>
            <a:pPr algn="just"/>
            <a:r>
              <a:rPr lang="es-CO" b="0" dirty="0"/>
              <a:t>Además tenemos otros ligamentos, que sirven para estabilizar esta articulación a distancia:</a:t>
            </a:r>
          </a:p>
          <a:p>
            <a:pPr algn="just"/>
            <a:r>
              <a:rPr lang="es-CO" b="0" dirty="0"/>
              <a:t>SACROESPINOSO: comienza en el sacro y termina en la espina ciática. Delimita el agujero ciático mayor, que en el hueso es la escotadura ciática mayor</a:t>
            </a:r>
            <a:r>
              <a:rPr lang="es-CO" b="0" dirty="0" smtClean="0"/>
              <a:t>.</a:t>
            </a:r>
            <a:endParaRPr lang="es-CO" b="0" dirty="0"/>
          </a:p>
        </p:txBody>
      </p:sp>
    </p:spTree>
    <p:extLst>
      <p:ext uri="{BB962C8B-B14F-4D97-AF65-F5344CB8AC3E}">
        <p14:creationId xmlns:p14="http://schemas.microsoft.com/office/powerpoint/2010/main" val="65731817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algn="just"/>
            <a:r>
              <a:rPr lang="es-CO" b="0" dirty="0"/>
              <a:t>SACROTUBEROSO: comienza en el sacro y termina en la tuberosidad isquiática. Delimita el agujero ciático menor que en el hueso es la escotadura ciática menor.</a:t>
            </a:r>
          </a:p>
          <a:p>
            <a:pPr algn="just"/>
            <a:endParaRPr lang="es-CO" b="0" dirty="0"/>
          </a:p>
          <a:p>
            <a:endParaRPr lang="es-CO" b="0" dirty="0"/>
          </a:p>
          <a:p>
            <a:endParaRPr lang="es-CO" b="0" dirty="0"/>
          </a:p>
          <a:p>
            <a:endParaRPr lang="es-CO" dirty="0"/>
          </a:p>
          <a:p>
            <a:endParaRPr lang="es-CO" dirty="0"/>
          </a:p>
        </p:txBody>
      </p:sp>
    </p:spTree>
    <p:extLst>
      <p:ext uri="{BB962C8B-B14F-4D97-AF65-F5344CB8AC3E}">
        <p14:creationId xmlns:p14="http://schemas.microsoft.com/office/powerpoint/2010/main" val="187216846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algn="just"/>
            <a:r>
              <a:rPr lang="es-CO" b="0" dirty="0"/>
              <a:t>Los agujeros ciáticos menor y mayor son importantes porque por aquí pasan las estructuras nerviosas, entre ellas el nervio ciático</a:t>
            </a:r>
            <a:r>
              <a:rPr lang="es-CO" b="0" dirty="0" smtClean="0"/>
              <a:t>.</a:t>
            </a:r>
          </a:p>
          <a:p>
            <a:pPr algn="just"/>
            <a:r>
              <a:rPr lang="es-CO" b="0" dirty="0" smtClean="0"/>
              <a:t>El </a:t>
            </a:r>
            <a:r>
              <a:rPr lang="es-CO" b="0" dirty="0"/>
              <a:t>ciático pasa muy cerca de la estructura ligamentosa y ósea y por debajo del MÚSCULO PIRIFORME. </a:t>
            </a:r>
            <a:endParaRPr lang="es-CO" b="0" dirty="0" smtClean="0"/>
          </a:p>
          <a:p>
            <a:pPr algn="just"/>
            <a:r>
              <a:rPr lang="es-CO" b="0" dirty="0" smtClean="0"/>
              <a:t>Una </a:t>
            </a:r>
            <a:r>
              <a:rPr lang="es-CO" b="0" dirty="0"/>
              <a:t>contractura o inflamación del piriforme podría generar un compromiso de espacio del nervio ciático.</a:t>
            </a:r>
          </a:p>
          <a:p>
            <a:pPr algn="just"/>
            <a:r>
              <a:rPr lang="es-CO" b="0" dirty="0"/>
              <a:t> </a:t>
            </a:r>
          </a:p>
          <a:p>
            <a:endParaRPr lang="es-CO" b="0" dirty="0"/>
          </a:p>
        </p:txBody>
      </p:sp>
    </p:spTree>
    <p:extLst>
      <p:ext uri="{BB962C8B-B14F-4D97-AF65-F5344CB8AC3E}">
        <p14:creationId xmlns:p14="http://schemas.microsoft.com/office/powerpoint/2010/main" val="315514603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r>
              <a:rPr lang="es-CO" b="0" dirty="0"/>
              <a:t>SÍNFISIS DEL PUBIS</a:t>
            </a:r>
          </a:p>
          <a:p>
            <a:pPr algn="just"/>
            <a:r>
              <a:rPr lang="es-CO" b="0" dirty="0"/>
              <a:t>Es una articulación cartilaginosa - AMFIARTROSIS, que une los 2 huesos. Casi no tiene libertad de movimiento. Está reforzada por los ligamentos:</a:t>
            </a:r>
          </a:p>
          <a:p>
            <a:pPr algn="just"/>
            <a:r>
              <a:rPr lang="es-CO" b="0" dirty="0"/>
              <a:t>SUPERIOR DEL PUBIS</a:t>
            </a:r>
          </a:p>
          <a:p>
            <a:pPr algn="just"/>
            <a:r>
              <a:rPr lang="es-CO" b="0" dirty="0"/>
              <a:t>INFERIOR DEL PUBIS</a:t>
            </a:r>
          </a:p>
          <a:p>
            <a:pPr algn="just"/>
            <a:endParaRPr lang="es-CO" b="0" dirty="0"/>
          </a:p>
          <a:p>
            <a:endParaRPr lang="es-CO" b="0" dirty="0"/>
          </a:p>
        </p:txBody>
      </p:sp>
    </p:spTree>
    <p:extLst>
      <p:ext uri="{BB962C8B-B14F-4D97-AF65-F5344CB8AC3E}">
        <p14:creationId xmlns:p14="http://schemas.microsoft.com/office/powerpoint/2010/main" val="177412489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561703" y="1881051"/>
            <a:ext cx="11396254" cy="3559085"/>
          </a:xfrm>
        </p:spPr>
        <p:txBody>
          <a:bodyPr/>
          <a:lstStyle/>
          <a:p>
            <a:pPr algn="just"/>
            <a:r>
              <a:rPr lang="es-CO" b="0" dirty="0"/>
              <a:t>Otro ligamento que encontramos en la pelvis es el LIGAMENTO INGUINAL que va desde la espina ilíaca antero-superior hasta la espina del pubis. </a:t>
            </a:r>
            <a:endParaRPr lang="es-CO" b="0" dirty="0" smtClean="0"/>
          </a:p>
          <a:p>
            <a:pPr algn="just"/>
            <a:r>
              <a:rPr lang="es-CO" b="0" dirty="0" smtClean="0"/>
              <a:t>El </a:t>
            </a:r>
            <a:r>
              <a:rPr lang="es-CO" b="0" dirty="0"/>
              <a:t>ligamento inguinal es el límite entre el abdomen y el miembro inferior. </a:t>
            </a:r>
            <a:endParaRPr lang="es-CO" b="0" dirty="0" smtClean="0"/>
          </a:p>
          <a:p>
            <a:pPr algn="just"/>
            <a:r>
              <a:rPr lang="es-CO" b="0" dirty="0" smtClean="0"/>
              <a:t>El </a:t>
            </a:r>
            <a:r>
              <a:rPr lang="es-CO" b="0" dirty="0"/>
              <a:t>ligamento inguinal es muy fácil de palpar - cuando llevamos la cadera a la flexión, el pliegue que se forma coincide con el ligamento inguinal.</a:t>
            </a:r>
          </a:p>
          <a:p>
            <a:endParaRPr lang="es-CO" b="0" dirty="0"/>
          </a:p>
          <a:p>
            <a:endParaRPr lang="es-CO" dirty="0"/>
          </a:p>
        </p:txBody>
      </p:sp>
    </p:spTree>
    <p:extLst>
      <p:ext uri="{BB962C8B-B14F-4D97-AF65-F5344CB8AC3E}">
        <p14:creationId xmlns:p14="http://schemas.microsoft.com/office/powerpoint/2010/main" val="282066173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50"/>
            <a:ext cx="11199812" cy="4556216"/>
          </a:xfrm>
        </p:spPr>
        <p:txBody>
          <a:bodyPr/>
          <a:lstStyle/>
          <a:p>
            <a:r>
              <a:rPr lang="es-CO" b="0" dirty="0"/>
              <a:t>ART. COXOFEMORAL</a:t>
            </a:r>
          </a:p>
          <a:p>
            <a:r>
              <a:rPr lang="es-CO" b="0" dirty="0"/>
              <a:t>Es una articulación sinovial de tipo esférico - ENARTROSIS. Tiene su cápsula y los ligamentos. </a:t>
            </a:r>
            <a:endParaRPr lang="es-CO" b="0" dirty="0" smtClean="0"/>
          </a:p>
          <a:p>
            <a:r>
              <a:rPr lang="es-CO" b="0" dirty="0" smtClean="0"/>
              <a:t>Puede </a:t>
            </a:r>
            <a:r>
              <a:rPr lang="es-CO" b="0" dirty="0"/>
              <a:t>realizar los movimientos de flexión-extensión, ABD-ADD y rotaciones</a:t>
            </a:r>
            <a:r>
              <a:rPr lang="es-CO" b="0" dirty="0" smtClean="0"/>
              <a:t>.</a:t>
            </a:r>
          </a:p>
          <a:p>
            <a:r>
              <a:rPr lang="es-CO" b="0" dirty="0"/>
              <a:t>Esta articulación es muy importante porque transmite el peso del tronco hacia las extremidades inferiores</a:t>
            </a:r>
            <a:r>
              <a:rPr lang="es-CO" b="0" dirty="0" smtClean="0"/>
              <a:t>.</a:t>
            </a:r>
          </a:p>
        </p:txBody>
      </p:sp>
    </p:spTree>
    <p:extLst>
      <p:ext uri="{BB962C8B-B14F-4D97-AF65-F5344CB8AC3E}">
        <p14:creationId xmlns:p14="http://schemas.microsoft.com/office/powerpoint/2010/main" val="250252646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r>
              <a:rPr lang="es-CO" b="0" dirty="0"/>
              <a:t>El ÁNGULO CERVICODIAFISARIO (que forma el cuello del fémur con la diáfisis) debería estar dentro de un rango normal - aproximadamente 125 grados. Este ángulo permite que haya una transmisión de fuerzas y que el peso del cuerpo no se quede a nivel del cuello de fémur, sino que pase hasta la cortical. Si cambia la angulación o hay una menor densidad de mineral óseo, cualquier peso o la tensión puede romper el cuello del fémur (fracturas espontáneas</a:t>
            </a:r>
          </a:p>
          <a:p>
            <a:endParaRPr lang="es-CO" b="0" dirty="0"/>
          </a:p>
          <a:p>
            <a:endParaRPr lang="es-CO" b="0" dirty="0"/>
          </a:p>
          <a:p>
            <a:endParaRPr lang="es-CO" dirty="0"/>
          </a:p>
        </p:txBody>
      </p:sp>
    </p:spTree>
    <p:extLst>
      <p:ext uri="{BB962C8B-B14F-4D97-AF65-F5344CB8AC3E}">
        <p14:creationId xmlns:p14="http://schemas.microsoft.com/office/powerpoint/2010/main" val="258325047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49"/>
            <a:ext cx="11199812" cy="4477839"/>
          </a:xfrm>
        </p:spPr>
        <p:txBody>
          <a:bodyPr/>
          <a:lstStyle/>
          <a:p>
            <a:r>
              <a:rPr lang="es-CO" b="0" dirty="0"/>
              <a:t>Articulación coxofemoral está reforzada por 3 ligamentos:</a:t>
            </a:r>
          </a:p>
          <a:p>
            <a:r>
              <a:rPr lang="es-CO" b="0" dirty="0"/>
              <a:t>ILIOFEMORAL</a:t>
            </a:r>
          </a:p>
          <a:p>
            <a:r>
              <a:rPr lang="es-CO" b="0" dirty="0"/>
              <a:t>ISQUIOFEMORAL</a:t>
            </a:r>
          </a:p>
          <a:p>
            <a:r>
              <a:rPr lang="es-CO" b="0" dirty="0"/>
              <a:t>PUBOFEMORAL</a:t>
            </a:r>
          </a:p>
          <a:p>
            <a:pPr algn="just"/>
            <a:r>
              <a:rPr lang="es-CO" b="0" dirty="0"/>
              <a:t>Estos ligamentos refuerzan una articulación muy móvil</a:t>
            </a:r>
            <a:r>
              <a:rPr lang="es-CO" b="0" dirty="0" smtClean="0"/>
              <a:t>.</a:t>
            </a:r>
          </a:p>
          <a:p>
            <a:pPr algn="just"/>
            <a:r>
              <a:rPr lang="es-CO" b="0" dirty="0" smtClean="0"/>
              <a:t>El </a:t>
            </a:r>
            <a:r>
              <a:rPr lang="es-CO" b="0" dirty="0"/>
              <a:t>ligamento iliofemoral, que va por delante, limita la extensión. En bipedestación ya está tenso y permite muy poca extensión. Para hacer más extensión, tenemos que flexionar la pelvis hacia adelante y forzar la columna lumbar, porque hemos pasado el límite de la extensión que nos permitía el ligamento.</a:t>
            </a:r>
          </a:p>
          <a:p>
            <a:endParaRPr lang="es-CO" dirty="0"/>
          </a:p>
        </p:txBody>
      </p:sp>
    </p:spTree>
    <p:extLst>
      <p:ext uri="{BB962C8B-B14F-4D97-AF65-F5344CB8AC3E}">
        <p14:creationId xmlns:p14="http://schemas.microsoft.com/office/powerpoint/2010/main" val="255343328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algn="just"/>
            <a:r>
              <a:rPr lang="es-CO" b="0" dirty="0"/>
              <a:t>Más importante aún es que el ligamento iliofemoral evita que la pelvis caiga hacia atrás.</a:t>
            </a:r>
          </a:p>
          <a:p>
            <a:pPr algn="just"/>
            <a:r>
              <a:rPr lang="es-CO" b="0" dirty="0"/>
              <a:t>Dentro de la articulación coxofemoral el cartílago de la cabeza del fémur se articula con la careta semilunar. Además la articulación coxofemoral tiene un RODETE o LABRUM que amplía la superficie de la articulación.</a:t>
            </a:r>
          </a:p>
          <a:p>
            <a:pPr algn="just"/>
            <a:r>
              <a:rPr lang="es-CO" b="0" dirty="0"/>
              <a:t> </a:t>
            </a:r>
          </a:p>
          <a:p>
            <a:pPr algn="just"/>
            <a:endParaRPr lang="es-CO" dirty="0"/>
          </a:p>
          <a:p>
            <a:endParaRPr lang="es-CO" dirty="0"/>
          </a:p>
        </p:txBody>
      </p:sp>
    </p:spTree>
    <p:extLst>
      <p:ext uri="{BB962C8B-B14F-4D97-AF65-F5344CB8AC3E}">
        <p14:creationId xmlns:p14="http://schemas.microsoft.com/office/powerpoint/2010/main" val="389230703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50"/>
            <a:ext cx="11199812" cy="4530090"/>
          </a:xfrm>
        </p:spPr>
        <p:txBody>
          <a:bodyPr/>
          <a:lstStyle/>
          <a:p>
            <a:pPr lvl="0"/>
            <a:r>
              <a:rPr lang="es-ES_tradnl" b="0" dirty="0"/>
              <a:t>Qué parte del hueso coxal se articula con el fémur y el sacro?</a:t>
            </a:r>
            <a:endParaRPr lang="es-CO" b="0" dirty="0"/>
          </a:p>
          <a:p>
            <a:r>
              <a:rPr lang="es-CO" b="0" dirty="0" smtClean="0"/>
              <a:t>La </a:t>
            </a:r>
            <a:r>
              <a:rPr lang="es-CO" b="0" dirty="0"/>
              <a:t>parte de la fosa de la cabeza del fémur que no se articula es donde está el LIGAMENTO DE LA CABEZA DEL FÉMUR.</a:t>
            </a:r>
          </a:p>
          <a:p>
            <a:pPr algn="just"/>
            <a:r>
              <a:rPr lang="es-CO" b="0" dirty="0"/>
              <a:t>El ligamento de la cabeza del fémur es un ligamento laxo que no tiene función estabilizadora de la articulación. </a:t>
            </a:r>
          </a:p>
          <a:p>
            <a:pPr algn="just"/>
            <a:r>
              <a:rPr lang="es-CO" b="0" dirty="0"/>
              <a:t>Su función es dejar que entren a través de él los vasos sanguíneos al interior de la cabeza y cuello del fémur. </a:t>
            </a:r>
          </a:p>
          <a:p>
            <a:pPr algn="just"/>
            <a:r>
              <a:rPr lang="es-CO" b="0" dirty="0"/>
              <a:t>Una luxación de la articulación que rompa este ligamento, puede conllevar que no llegue sangre y se produzca una NECROSIS</a:t>
            </a:r>
          </a:p>
        </p:txBody>
      </p:sp>
    </p:spTree>
    <p:extLst>
      <p:ext uri="{BB962C8B-B14F-4D97-AF65-F5344CB8AC3E}">
        <p14:creationId xmlns:p14="http://schemas.microsoft.com/office/powerpoint/2010/main" val="306884627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r>
              <a:rPr lang="es-ES_tradnl" b="0" dirty="0" smtClean="0"/>
              <a:t>Musculos</a:t>
            </a:r>
          </a:p>
          <a:p>
            <a:r>
              <a:rPr lang="es-ES" b="0" dirty="0" smtClean="0"/>
              <a:t>MUSCULOS </a:t>
            </a:r>
            <a:r>
              <a:rPr lang="es-ES" b="0" dirty="0"/>
              <a:t>POSTERIORES</a:t>
            </a:r>
          </a:p>
          <a:p>
            <a:r>
              <a:rPr lang="es-ES" b="0" dirty="0"/>
              <a:t>Gluteo mayor</a:t>
            </a:r>
          </a:p>
          <a:p>
            <a:r>
              <a:rPr lang="es-ES" b="0" dirty="0"/>
              <a:t>Piriforme</a:t>
            </a:r>
          </a:p>
          <a:p>
            <a:r>
              <a:rPr lang="es-ES" b="0" dirty="0"/>
              <a:t>Pelvitrocantereos: </a:t>
            </a:r>
            <a:r>
              <a:rPr lang="es-CO" b="0" dirty="0"/>
              <a:t>GÉMINO SUPERIOR: se origina en la espina ciática</a:t>
            </a:r>
            <a:r>
              <a:rPr lang="es-CO" dirty="0" smtClean="0"/>
              <a:t>.</a:t>
            </a:r>
            <a:endParaRPr lang="es-CO" dirty="0"/>
          </a:p>
        </p:txBody>
      </p:sp>
    </p:spTree>
    <p:extLst>
      <p:ext uri="{BB962C8B-B14F-4D97-AF65-F5344CB8AC3E}">
        <p14:creationId xmlns:p14="http://schemas.microsoft.com/office/powerpoint/2010/main" val="416201255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49"/>
            <a:ext cx="11199812" cy="4477839"/>
          </a:xfrm>
        </p:spPr>
        <p:txBody>
          <a:bodyPr/>
          <a:lstStyle/>
          <a:p>
            <a:r>
              <a:rPr lang="es-CO" b="0" dirty="0"/>
              <a:t>OBTURADOR INTERNO: se origina en la MEMBRANA OBTURATRIZ por dentro de la pelvis y sale hacia fuera dividiendo los 2 Géminos.</a:t>
            </a:r>
          </a:p>
          <a:p>
            <a:r>
              <a:rPr lang="es-CO" b="0" dirty="0"/>
              <a:t>GÉMINO INFERIOR: se origina en el BORDE DE LA ESCOTADURA CIÁTICA MENOR.</a:t>
            </a:r>
          </a:p>
          <a:p>
            <a:r>
              <a:rPr lang="es-CO" b="0" dirty="0"/>
              <a:t>CUADRADO FEMORAL: va desde la TUBEROSIDAD ISQUIÁTICA hasta la CRESTA INTERTROCANTERIA</a:t>
            </a:r>
            <a:r>
              <a:rPr lang="es-CO" b="0" dirty="0" smtClean="0"/>
              <a:t>.</a:t>
            </a:r>
          </a:p>
          <a:p>
            <a:r>
              <a:rPr lang="es-ES" b="0" dirty="0"/>
              <a:t>MUSCULOS LATERALES</a:t>
            </a:r>
          </a:p>
          <a:p>
            <a:r>
              <a:rPr lang="es-ES" b="0" dirty="0"/>
              <a:t>Gluteo medio y menor</a:t>
            </a:r>
          </a:p>
          <a:p>
            <a:r>
              <a:rPr lang="es-ES" b="0" dirty="0"/>
              <a:t>Anteriores ilepsoas: soas mayor y iliaco</a:t>
            </a:r>
            <a:endParaRPr lang="es-CO" b="0" dirty="0"/>
          </a:p>
          <a:p>
            <a:endParaRPr lang="es-ES" b="0" dirty="0"/>
          </a:p>
          <a:p>
            <a:endParaRPr lang="es-CO" b="0" dirty="0"/>
          </a:p>
          <a:p>
            <a:endParaRPr lang="es-CO" b="0" dirty="0"/>
          </a:p>
          <a:p>
            <a:endParaRPr lang="es-CO" b="0" dirty="0"/>
          </a:p>
          <a:p>
            <a:endParaRPr lang="es-CO" dirty="0"/>
          </a:p>
          <a:p>
            <a:endParaRPr lang="es-CO" dirty="0"/>
          </a:p>
        </p:txBody>
      </p:sp>
    </p:spTree>
    <p:extLst>
      <p:ext uri="{BB962C8B-B14F-4D97-AF65-F5344CB8AC3E}">
        <p14:creationId xmlns:p14="http://schemas.microsoft.com/office/powerpoint/2010/main" val="47440189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algn="just"/>
            <a:r>
              <a:rPr lang="es-CO" b="0" dirty="0"/>
              <a:t>En anatomía, el acetábulo (acetabulum, del latín acetum, "vinagre", y abulum, "pequeño receptáculo", "pequeña copa") es la porción articular cóncava de la superficie de la pelvis, formada por el ilion, el isquion y el pubis, a la cual se articula la cabeza del fémur, con lo que se forma la articulación de la cadera.</a:t>
            </a:r>
          </a:p>
          <a:p>
            <a:pPr algn="just"/>
            <a:r>
              <a:rPr lang="es-CO" b="0" dirty="0"/>
              <a:t> </a:t>
            </a:r>
          </a:p>
          <a:p>
            <a:endParaRPr lang="es-CO" b="0" dirty="0"/>
          </a:p>
        </p:txBody>
      </p:sp>
    </p:spTree>
    <p:extLst>
      <p:ext uri="{BB962C8B-B14F-4D97-AF65-F5344CB8AC3E}">
        <p14:creationId xmlns:p14="http://schemas.microsoft.com/office/powerpoint/2010/main" val="345887859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a:xfrm>
            <a:off x="496888" y="1962150"/>
            <a:ext cx="11199812" cy="4412524"/>
          </a:xfrm>
        </p:spPr>
        <p:txBody>
          <a:bodyPr/>
          <a:lstStyle/>
          <a:p>
            <a:r>
              <a:rPr lang="es-ES" dirty="0"/>
              <a:t>DIFERENCIAS  PELVIS MASCULINA Y </a:t>
            </a:r>
            <a:r>
              <a:rPr lang="es-ES" dirty="0" smtClean="0"/>
              <a:t>FEMENINA</a:t>
            </a:r>
          </a:p>
          <a:p>
            <a:pPr algn="just"/>
            <a:endParaRPr lang="es-CO" b="0" dirty="0" smtClean="0"/>
          </a:p>
          <a:p>
            <a:pPr algn="just"/>
            <a:r>
              <a:rPr lang="es-CO" b="0" dirty="0" smtClean="0"/>
              <a:t>Por </a:t>
            </a:r>
            <a:r>
              <a:rPr lang="es-CO" b="0" dirty="0"/>
              <a:t>lo general, los huesos de los varones son más grandes y más pesados, y presentan reparos superficiales más grandes que los de las mujeres de edad y talla comparables. </a:t>
            </a:r>
          </a:p>
          <a:p>
            <a:pPr algn="just"/>
            <a:endParaRPr lang="es-CO" b="0" dirty="0"/>
          </a:p>
          <a:p>
            <a:endParaRPr lang="es-CO" b="0" dirty="0"/>
          </a:p>
        </p:txBody>
      </p:sp>
    </p:spTree>
    <p:extLst>
      <p:ext uri="{BB962C8B-B14F-4D97-AF65-F5344CB8AC3E}">
        <p14:creationId xmlns:p14="http://schemas.microsoft.com/office/powerpoint/2010/main" val="222911027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pPr algn="just"/>
            <a:r>
              <a:rPr lang="es-CO" b="0" dirty="0"/>
              <a:t>Las diferencias relacionadas con el sexo –en los huesos– son fáciles de apreciar al comparar las pelvis de mujeres y de hombres adultos. </a:t>
            </a:r>
          </a:p>
          <a:p>
            <a:pPr algn="just"/>
            <a:r>
              <a:rPr lang="es-CO" b="0" dirty="0"/>
              <a:t>La mayoría de las diferencias estructurales entre estas dos pelvis son adaptaciones a los requerimientos del embarazo y el parto. </a:t>
            </a:r>
          </a:p>
          <a:p>
            <a:pPr algn="just"/>
            <a:r>
              <a:rPr lang="es-CO" b="0" dirty="0"/>
              <a:t>La pelvis femenina es más ancha y menos profunda que la masculina. </a:t>
            </a:r>
          </a:p>
          <a:p>
            <a:pPr algn="just"/>
            <a:r>
              <a:rPr lang="es-CO" b="0" dirty="0"/>
              <a:t>En consecuencia, hay más espacio en la pelvis menor de la mujer, especialmente en el estrecho superior y el estrecho inferior, para permitir el pasaje de la cabeza del niño durante el parto. </a:t>
            </a:r>
          </a:p>
          <a:p>
            <a:endParaRPr lang="es-CO" b="0" dirty="0"/>
          </a:p>
        </p:txBody>
      </p:sp>
    </p:spTree>
    <p:extLst>
      <p:ext uri="{BB962C8B-B14F-4D97-AF65-F5344CB8AC3E}">
        <p14:creationId xmlns:p14="http://schemas.microsoft.com/office/powerpoint/2010/main" val="2123971501"/>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81985" y="1502230"/>
            <a:ext cx="6586373" cy="4402182"/>
          </a:xfrm>
          <a:prstGeom prst="rect">
            <a:avLst/>
          </a:prstGeom>
        </p:spPr>
      </p:pic>
    </p:spTree>
    <p:extLst>
      <p:ext uri="{BB962C8B-B14F-4D97-AF65-F5344CB8AC3E}">
        <p14:creationId xmlns:p14="http://schemas.microsoft.com/office/powerpoint/2010/main" val="3189688372"/>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8036127"/>
      </p:ext>
    </p:extLst>
  </p:cSld>
  <p:clrMapOvr>
    <a:masterClrMapping/>
  </p:clrMapOvr>
  <p:timing>
    <p:tnLst>
      <p:par>
        <p:cTn id="1" dur="indefinite" restart="never" nodeType="tmRoot"/>
      </p:par>
    </p:tnLst>
  </p:timing>
</p:sld>
</file>

<file path=ppt/theme/theme1.xml><?xml version="1.0" encoding="utf-8"?>
<a:theme xmlns:a="http://schemas.openxmlformats.org/drawingml/2006/main" name="Plantilla Institucional">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lantilla Institucional" id="{947B6D36-C80C-47DC-8877-9BE59AA8E0E3}" vid="{9278E598-6D8D-40D3-9B91-1E1047E3E1DC}"/>
    </a:ext>
  </a:extLst>
</a:theme>
</file>

<file path=docProps/app.xml><?xml version="1.0" encoding="utf-8"?>
<Properties xmlns="http://schemas.openxmlformats.org/officeDocument/2006/extended-properties" xmlns:vt="http://schemas.openxmlformats.org/officeDocument/2006/docPropsVTypes">
  <Template>Plantilla Institucional</Template>
  <TotalTime>1107</TotalTime>
  <Words>6894</Words>
  <Application>Microsoft Office PowerPoint</Application>
  <PresentationFormat>Panorámica</PresentationFormat>
  <Paragraphs>430</Paragraphs>
  <Slides>132</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132</vt:i4>
      </vt:variant>
    </vt:vector>
  </HeadingPairs>
  <TitlesOfParts>
    <vt:vector size="138" baseType="lpstr">
      <vt:lpstr>Arial</vt:lpstr>
      <vt:lpstr>Calibri</vt:lpstr>
      <vt:lpstr>Calibri Light</vt:lpstr>
      <vt:lpstr>Montserrat</vt:lpstr>
      <vt:lpstr>Roboto</vt:lpstr>
      <vt:lpstr>Plantilla Institucional</vt:lpstr>
      <vt:lpstr>HUESOS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Ana Maria Moreno Ordosgoitia</dc:creator>
  <cp:lastModifiedBy>Rosana Martinez Carazo</cp:lastModifiedBy>
  <cp:revision>58</cp:revision>
  <dcterms:created xsi:type="dcterms:W3CDTF">2022-01-26T20:40:55Z</dcterms:created>
  <dcterms:modified xsi:type="dcterms:W3CDTF">2025-04-09T16:00:03Z</dcterms:modified>
</cp:coreProperties>
</file>