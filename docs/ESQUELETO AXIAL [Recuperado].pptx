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sldIdLst>
    <p:sldId id="256" r:id="rId3"/>
    <p:sldId id="358" r:id="rId4"/>
    <p:sldId id="269" r:id="rId5"/>
    <p:sldId id="257" r:id="rId6"/>
    <p:sldId id="267" r:id="rId7"/>
    <p:sldId id="266" r:id="rId8"/>
    <p:sldId id="307" r:id="rId9"/>
    <p:sldId id="308" r:id="rId10"/>
    <p:sldId id="272" r:id="rId11"/>
    <p:sldId id="271" r:id="rId12"/>
    <p:sldId id="274" r:id="rId13"/>
    <p:sldId id="270" r:id="rId14"/>
    <p:sldId id="273" r:id="rId15"/>
    <p:sldId id="265" r:id="rId16"/>
    <p:sldId id="275" r:id="rId17"/>
    <p:sldId id="276" r:id="rId18"/>
    <p:sldId id="277" r:id="rId19"/>
    <p:sldId id="278" r:id="rId20"/>
    <p:sldId id="279" r:id="rId21"/>
    <p:sldId id="281" r:id="rId22"/>
    <p:sldId id="280"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5" r:id="rId36"/>
    <p:sldId id="296" r:id="rId37"/>
    <p:sldId id="297" r:id="rId38"/>
    <p:sldId id="304" r:id="rId39"/>
    <p:sldId id="298" r:id="rId40"/>
    <p:sldId id="301" r:id="rId41"/>
    <p:sldId id="302" r:id="rId42"/>
    <p:sldId id="303" r:id="rId43"/>
    <p:sldId id="305" r:id="rId44"/>
    <p:sldId id="306" r:id="rId45"/>
    <p:sldId id="313" r:id="rId46"/>
    <p:sldId id="315" r:id="rId47"/>
    <p:sldId id="316" r:id="rId48"/>
    <p:sldId id="327" r:id="rId49"/>
    <p:sldId id="329" r:id="rId50"/>
    <p:sldId id="259" r:id="rId51"/>
    <p:sldId id="309" r:id="rId52"/>
    <p:sldId id="310" r:id="rId53"/>
    <p:sldId id="338" r:id="rId54"/>
    <p:sldId id="356" r:id="rId55"/>
    <p:sldId id="357" r:id="rId56"/>
    <p:sldId id="339" r:id="rId57"/>
    <p:sldId id="355" r:id="rId58"/>
    <p:sldId id="340" r:id="rId59"/>
    <p:sldId id="353" r:id="rId60"/>
    <p:sldId id="354" r:id="rId61"/>
    <p:sldId id="341" r:id="rId62"/>
    <p:sldId id="351" r:id="rId63"/>
    <p:sldId id="352" r:id="rId64"/>
    <p:sldId id="342" r:id="rId65"/>
    <p:sldId id="349" r:id="rId66"/>
    <p:sldId id="350" r:id="rId67"/>
    <p:sldId id="343" r:id="rId68"/>
    <p:sldId id="344" r:id="rId69"/>
    <p:sldId id="345" r:id="rId70"/>
    <p:sldId id="346" r:id="rId71"/>
    <p:sldId id="347" r:id="rId72"/>
    <p:sldId id="348" r:id="rId73"/>
    <p:sldId id="311" r:id="rId74"/>
    <p:sldId id="261" r:id="rId75"/>
    <p:sldId id="317" r:id="rId76"/>
    <p:sldId id="318" r:id="rId77"/>
    <p:sldId id="319" r:id="rId78"/>
    <p:sldId id="320" r:id="rId79"/>
    <p:sldId id="321" r:id="rId80"/>
    <p:sldId id="322" r:id="rId81"/>
    <p:sldId id="323" r:id="rId82"/>
    <p:sldId id="324" r:id="rId83"/>
    <p:sldId id="337" r:id="rId84"/>
    <p:sldId id="359" r:id="rId85"/>
    <p:sldId id="330" r:id="rId86"/>
    <p:sldId id="331" r:id="rId88"/>
    <p:sldId id="332" r:id="rId89"/>
    <p:sldId id="333" r:id="rId90"/>
    <p:sldId id="334" r:id="rId91"/>
    <p:sldId id="335" r:id="rId92"/>
    <p:sldId id="336" r:id="rId93"/>
    <p:sldId id="360" r:id="rId9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notesMaster" Target="notesMasters/notesMaster1.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8B7F08-804F-47FE-AA24-AA2640DCB042}" type="datetimeFigureOut">
              <a:rPr lang="es-CO" smtClean="0"/>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582F5-7ACD-49AE-BBC9-0A64ED3D15CC}" type="slidenum">
              <a:rPr lang="es-CO" smtClean="0"/>
            </a:fld>
            <a:endParaRPr lang="es-C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D09C86D6-F855-4BF4-96C8-179E409F931C}" type="slidenum">
              <a:rPr lang="es-CO" smtClean="0"/>
            </a:fld>
            <a:endParaRPr lang="es-C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D09C86D6-F855-4BF4-96C8-179E409F931C}" type="slidenum">
              <a:rPr lang="es-CO" smtClean="0"/>
            </a:fld>
            <a:endParaRPr lang="es-C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CO"/>
          </a:p>
        </p:txBody>
      </p:sp>
      <p:sp>
        <p:nvSpPr>
          <p:cNvPr id="4" name="Marcador de fecha 3"/>
          <p:cNvSpPr>
            <a:spLocks noGrp="1"/>
          </p:cNvSpPr>
          <p:nvPr>
            <p:ph type="dt" sz="half" idx="10"/>
          </p:nvPr>
        </p:nvSpPr>
        <p:spPr/>
        <p:txBody>
          <a:bodyPr/>
          <a:lstStyle/>
          <a:p>
            <a:fld id="{1B9C5C0F-E92D-41C4-AB31-672CB4E5EEC6}"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contenido 2"/>
          <p:cNvSpPr>
            <a:spLocks noGrp="1"/>
          </p:cNvSpPr>
          <p:nvPr>
            <p:ph idx="1"/>
          </p:nvPr>
        </p:nvSpPr>
        <p:spPr/>
        <p:txBody>
          <a:bodyPr/>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4" name="Marcador de fecha 3"/>
          <p:cNvSpPr>
            <a:spLocks noGrp="1"/>
          </p:cNvSpPr>
          <p:nvPr>
            <p:ph type="dt" sz="half" idx="10"/>
          </p:nvPr>
        </p:nvSpPr>
        <p:spPr/>
        <p:txBody>
          <a:bodyPr/>
          <a:lstStyle/>
          <a:p>
            <a:fld id="{1B9C5C0F-E92D-41C4-AB31-672CB4E5EEC6}"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endParaRPr lang="es-ES" smtClean="0"/>
          </a:p>
        </p:txBody>
      </p:sp>
      <p:sp>
        <p:nvSpPr>
          <p:cNvPr id="4" name="Marcador de fecha 3"/>
          <p:cNvSpPr>
            <a:spLocks noGrp="1"/>
          </p:cNvSpPr>
          <p:nvPr>
            <p:ph type="dt" sz="half" idx="10"/>
          </p:nvPr>
        </p:nvSpPr>
        <p:spPr/>
        <p:txBody>
          <a:bodyPr/>
          <a:lstStyle/>
          <a:p>
            <a:fld id="{1B9C5C0F-E92D-41C4-AB31-672CB4E5EEC6}"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5" name="Marcador de fecha 4"/>
          <p:cNvSpPr>
            <a:spLocks noGrp="1"/>
          </p:cNvSpPr>
          <p:nvPr>
            <p:ph type="dt" sz="half" idx="10"/>
          </p:nvPr>
        </p:nvSpPr>
        <p:spPr/>
        <p:txBody>
          <a:bodyPr/>
          <a:lstStyle/>
          <a:p>
            <a:fld id="{1B9C5C0F-E92D-41C4-AB31-672CB4E5EEC6}"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endParaRPr lang="es-ES" smtClean="0"/>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endParaRPr lang="es-ES" smtClean="0"/>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7" name="Marcador de fecha 6"/>
          <p:cNvSpPr>
            <a:spLocks noGrp="1"/>
          </p:cNvSpPr>
          <p:nvPr>
            <p:ph type="dt" sz="half" idx="10"/>
          </p:nvPr>
        </p:nvSpPr>
        <p:spPr/>
        <p:txBody>
          <a:bodyPr/>
          <a:lstStyle/>
          <a:p>
            <a:fld id="{1B9C5C0F-E92D-41C4-AB31-672CB4E5EEC6}" type="datetimeFigureOut">
              <a:rPr lang="es-CO" smtClean="0"/>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fecha 2"/>
          <p:cNvSpPr>
            <a:spLocks noGrp="1"/>
          </p:cNvSpPr>
          <p:nvPr>
            <p:ph type="dt" sz="half" idx="10"/>
          </p:nvPr>
        </p:nvSpPr>
        <p:spPr/>
        <p:txBody>
          <a:bodyPr/>
          <a:lstStyle/>
          <a:p>
            <a:fld id="{1B9C5C0F-E92D-41C4-AB31-672CB4E5EEC6}" type="datetimeFigureOut">
              <a:rPr lang="es-CO" smtClean="0"/>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B9C5C0F-E92D-41C4-AB31-672CB4E5EEC6}" type="datetimeFigureOut">
              <a:rPr lang="es-CO" smtClean="0"/>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B716A225-33B0-48DC-9E62-94088ADC178D}" type="slidenum">
              <a:rPr lang="es-CO" smtClean="0"/>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endParaRPr lang="es-ES" smtClean="0"/>
          </a:p>
        </p:txBody>
      </p:sp>
      <p:sp>
        <p:nvSpPr>
          <p:cNvPr id="5" name="Marcador de fecha 4"/>
          <p:cNvSpPr>
            <a:spLocks noGrp="1"/>
          </p:cNvSpPr>
          <p:nvPr>
            <p:ph type="dt" sz="half" idx="10"/>
          </p:nvPr>
        </p:nvSpPr>
        <p:spPr/>
        <p:txBody>
          <a:bodyPr/>
          <a:lstStyle/>
          <a:p>
            <a:fld id="{1B9C5C0F-E92D-41C4-AB31-672CB4E5EEC6}"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endParaRPr lang="es-ES" smtClean="0"/>
          </a:p>
        </p:txBody>
      </p:sp>
      <p:sp>
        <p:nvSpPr>
          <p:cNvPr id="5" name="Marcador de fecha 4"/>
          <p:cNvSpPr>
            <a:spLocks noGrp="1"/>
          </p:cNvSpPr>
          <p:nvPr>
            <p:ph type="dt" sz="half" idx="10"/>
          </p:nvPr>
        </p:nvSpPr>
        <p:spPr/>
        <p:txBody>
          <a:bodyPr/>
          <a:lstStyle/>
          <a:p>
            <a:fld id="{1B9C5C0F-E92D-41C4-AB31-672CB4E5EEC6}" type="datetimeFigureOut">
              <a:rPr lang="es-CO" smtClean="0"/>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4" name="Marcador de fecha 3"/>
          <p:cNvSpPr>
            <a:spLocks noGrp="1"/>
          </p:cNvSpPr>
          <p:nvPr>
            <p:ph type="dt" sz="half" idx="10"/>
          </p:nvPr>
        </p:nvSpPr>
        <p:spPr/>
        <p:txBody>
          <a:bodyPr/>
          <a:lstStyle/>
          <a:p>
            <a:fld id="{1B9C5C0F-E92D-41C4-AB31-672CB4E5EEC6}"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4" name="Marcador de fecha 3"/>
          <p:cNvSpPr>
            <a:spLocks noGrp="1"/>
          </p:cNvSpPr>
          <p:nvPr>
            <p:ph type="dt" sz="half" idx="10"/>
          </p:nvPr>
        </p:nvSpPr>
        <p:spPr/>
        <p:txBody>
          <a:bodyPr/>
          <a:lstStyle/>
          <a:p>
            <a:fld id="{1B9C5C0F-E92D-41C4-AB31-672CB4E5EEC6}" type="datetimeFigureOut">
              <a:rPr lang="es-CO" smtClean="0"/>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E609833-A38D-4EB6-901E-6156D1A180FF}" type="slidenum">
              <a:rPr lang="es-CO" smtClean="0"/>
            </a:fld>
            <a:endParaRPr lang="es-CO"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Diapositiva de título">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8686800" y="5661025"/>
            <a:ext cx="2743200" cy="365125"/>
          </a:xfrm>
          <a:prstGeom prst="rect">
            <a:avLst/>
          </a:prstGeom>
        </p:spPr>
        <p:txBody>
          <a:bodyPr/>
          <a:lstStyle>
            <a:lvl1pPr>
              <a:defRPr>
                <a:solidFill>
                  <a:schemeClr val="bg1"/>
                </a:solidFill>
              </a:defRPr>
            </a:lvl1pPr>
          </a:lstStyle>
          <a:p>
            <a:fld id="{FE609833-A38D-4EB6-901E-6156D1A180FF}" type="slidenum">
              <a:rPr lang="es-CO" smtClean="0"/>
            </a:fld>
            <a:endParaRPr lang="es-CO" dirty="0"/>
          </a:p>
        </p:txBody>
      </p:sp>
      <p:sp>
        <p:nvSpPr>
          <p:cNvPr id="7" name="Marcador de título 1"/>
          <p:cNvSpPr>
            <a:spLocks noGrp="1"/>
          </p:cNvSpPr>
          <p:nvPr>
            <p:ph type="title"/>
          </p:nvPr>
        </p:nvSpPr>
        <p:spPr>
          <a:xfrm>
            <a:off x="1257300" y="2095500"/>
            <a:ext cx="7067550" cy="2747963"/>
          </a:xfrm>
          <a:prstGeom prst="rect">
            <a:avLst/>
          </a:prstGeom>
        </p:spPr>
        <p:txBody>
          <a:bodyPr vert="horz" lIns="91440" tIns="45720" rIns="91440" bIns="45720" rtlCol="0" anchor="ctr">
            <a:noAutofit/>
          </a:bodyPr>
          <a:lstStyle/>
          <a:p>
            <a:r>
              <a:rPr lang="es-ES" smtClean="0"/>
              <a:t>Haga clic para modificar el estilo de título del patrón</a:t>
            </a:r>
            <a:endParaRPr lang="es-CO"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506413" y="5721351"/>
            <a:ext cx="2743200" cy="365125"/>
          </a:xfrm>
          <a:prstGeom prst="rect">
            <a:avLst/>
          </a:prstGeom>
        </p:spPr>
        <p:txBody>
          <a:bodyPr/>
          <a:lstStyle>
            <a:lvl1pPr algn="l">
              <a:defRPr>
                <a:solidFill>
                  <a:schemeClr val="tx1"/>
                </a:solidFill>
              </a:defRPr>
            </a:lvl1pPr>
          </a:lstStyle>
          <a:p>
            <a:fld id="{FE609833-A38D-4EB6-901E-6156D1A180FF}" type="slidenum">
              <a:rPr lang="es-CO" smtClean="0"/>
            </a:fld>
            <a:endParaRPr lang="es-CO"/>
          </a:p>
        </p:txBody>
      </p:sp>
      <p:sp>
        <p:nvSpPr>
          <p:cNvPr id="8" name="Marcador de texto 2"/>
          <p:cNvSpPr>
            <a:spLocks noGrp="1"/>
          </p:cNvSpPr>
          <p:nvPr>
            <p:ph type="body" idx="1" hasCustomPrompt="1"/>
          </p:nvPr>
        </p:nvSpPr>
        <p:spPr>
          <a:xfrm>
            <a:off x="506413" y="1962150"/>
            <a:ext cx="5551487" cy="3543300"/>
          </a:xfrm>
          <a:prstGeom prst="rect">
            <a:avLst/>
          </a:prstGeom>
        </p:spPr>
        <p:txBody>
          <a:bodyPr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endParaRPr lang="es-ES" dirty="0" smtClean="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496888" y="6022974"/>
            <a:ext cx="2743200" cy="365125"/>
          </a:xfrm>
          <a:prstGeom prst="rect">
            <a:avLst/>
          </a:prstGeom>
        </p:spPr>
        <p:txBody>
          <a:bodyPr/>
          <a:lstStyle>
            <a:lvl1pPr algn="l">
              <a:defRPr>
                <a:solidFill>
                  <a:schemeClr val="tx1"/>
                </a:solidFill>
              </a:defRPr>
            </a:lvl1pPr>
          </a:lstStyle>
          <a:p>
            <a:fld id="{FE609833-A38D-4EB6-901E-6156D1A180FF}" type="slidenum">
              <a:rPr lang="es-CO" smtClean="0"/>
            </a:fld>
            <a:endParaRPr lang="es-CO"/>
          </a:p>
        </p:txBody>
      </p:sp>
      <p:sp>
        <p:nvSpPr>
          <p:cNvPr id="7" name="Marcador de texto 2"/>
          <p:cNvSpPr>
            <a:spLocks noGrp="1"/>
          </p:cNvSpPr>
          <p:nvPr>
            <p:ph type="body" idx="1" hasCustomPrompt="1"/>
          </p:nvPr>
        </p:nvSpPr>
        <p:spPr>
          <a:xfrm>
            <a:off x="496888" y="1962150"/>
            <a:ext cx="11199812" cy="3543300"/>
          </a:xfrm>
          <a:prstGeom prst="rect">
            <a:avLst/>
          </a:prstGeom>
        </p:spPr>
        <p:txBody>
          <a:bodyPr anchor="t"/>
          <a:lstStyle>
            <a:lvl1pPr marL="0" indent="0">
              <a:buNone/>
              <a:defRPr sz="2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endParaRPr lang="es-ES" dirty="0" smtClean="0"/>
          </a:p>
          <a:p>
            <a:pPr lvl="0"/>
            <a:endParaRPr lang="es-ES" dirty="0"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Dos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Marcador de texto 2"/>
          <p:cNvSpPr>
            <a:spLocks noGrp="1"/>
          </p:cNvSpPr>
          <p:nvPr>
            <p:ph type="body" idx="1" hasCustomPrompt="1"/>
          </p:nvPr>
        </p:nvSpPr>
        <p:spPr>
          <a:xfrm>
            <a:off x="4792663" y="1800225"/>
            <a:ext cx="6886575" cy="3543300"/>
          </a:xfrm>
          <a:prstGeom prst="rect">
            <a:avLst/>
          </a:prstGeom>
        </p:spPr>
        <p:txBody>
          <a:bodyPr anchor="t"/>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endParaRPr lang="es-ES" dirty="0" smtClean="0"/>
          </a:p>
        </p:txBody>
      </p:sp>
      <p:sp>
        <p:nvSpPr>
          <p:cNvPr id="9" name="Marcador de número de diapositiva 5"/>
          <p:cNvSpPr>
            <a:spLocks noGrp="1"/>
          </p:cNvSpPr>
          <p:nvPr>
            <p:ph type="sldNum" sz="quarter" idx="12"/>
          </p:nvPr>
        </p:nvSpPr>
        <p:spPr>
          <a:xfrm>
            <a:off x="8936038" y="5683251"/>
            <a:ext cx="2743200" cy="365125"/>
          </a:xfrm>
          <a:prstGeom prst="rect">
            <a:avLst/>
          </a:prstGeom>
        </p:spPr>
        <p:txBody>
          <a:bodyPr/>
          <a:lstStyle>
            <a:lvl1pPr algn="r">
              <a:defRPr>
                <a:solidFill>
                  <a:schemeClr val="tx1"/>
                </a:solidFill>
              </a:defRPr>
            </a:lvl1pPr>
          </a:lstStyle>
          <a:p>
            <a:fld id="{FE609833-A38D-4EB6-901E-6156D1A180FF}" type="slidenum">
              <a:rPr lang="es-CO" smtClean="0"/>
            </a:fld>
            <a:endParaRPr lang="es-CO"/>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Compara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Marcador de texto 2"/>
          <p:cNvSpPr>
            <a:spLocks noGrp="1"/>
          </p:cNvSpPr>
          <p:nvPr>
            <p:ph type="body" idx="1" hasCustomPrompt="1"/>
          </p:nvPr>
        </p:nvSpPr>
        <p:spPr>
          <a:xfrm>
            <a:off x="4030663" y="1809750"/>
            <a:ext cx="7580312" cy="3543300"/>
          </a:xfrm>
          <a:prstGeom prst="rect">
            <a:avLst/>
          </a:prstGeom>
        </p:spPr>
        <p:txBody>
          <a:bodyPr anchor="t"/>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endParaRPr lang="es-ES" dirty="0" smtClean="0"/>
          </a:p>
        </p:txBody>
      </p:sp>
      <p:sp>
        <p:nvSpPr>
          <p:cNvPr id="11" name="Marcador de número de diapositiva 5"/>
          <p:cNvSpPr>
            <a:spLocks noGrp="1"/>
          </p:cNvSpPr>
          <p:nvPr>
            <p:ph type="sldNum" sz="quarter" idx="12"/>
          </p:nvPr>
        </p:nvSpPr>
        <p:spPr>
          <a:xfrm>
            <a:off x="477838" y="5635626"/>
            <a:ext cx="2036762" cy="365125"/>
          </a:xfrm>
          <a:prstGeom prst="rect">
            <a:avLst/>
          </a:prstGeom>
        </p:spPr>
        <p:txBody>
          <a:bodyPr/>
          <a:lstStyle>
            <a:lvl1pPr algn="l">
              <a:defRPr>
                <a:solidFill>
                  <a:schemeClr val="tx1"/>
                </a:solidFill>
              </a:defRPr>
            </a:lvl1pPr>
          </a:lstStyle>
          <a:p>
            <a:fld id="{FE609833-A38D-4EB6-901E-6156D1A180FF}" type="slidenum">
              <a:rPr lang="es-CO" smtClean="0"/>
            </a:fld>
            <a:endParaRPr lang="es-CO"/>
          </a:p>
        </p:txBody>
      </p:sp>
      <p:sp>
        <p:nvSpPr>
          <p:cNvPr id="12" name="Marcador de texto 2"/>
          <p:cNvSpPr>
            <a:spLocks noGrp="1"/>
          </p:cNvSpPr>
          <p:nvPr>
            <p:ph type="body" idx="13" hasCustomPrompt="1"/>
          </p:nvPr>
        </p:nvSpPr>
        <p:spPr>
          <a:xfrm>
            <a:off x="477838" y="1809750"/>
            <a:ext cx="2808287" cy="3543300"/>
          </a:xfrm>
          <a:prstGeom prst="rect">
            <a:avLst/>
          </a:prstGeom>
        </p:spPr>
        <p:txBody>
          <a:bodyPr anchor="t"/>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subtítulo</a:t>
            </a:r>
            <a:endParaRPr lang="es-ES" dirty="0" smtClean="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Solo el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Marcador de texto 2"/>
          <p:cNvSpPr>
            <a:spLocks noGrp="1"/>
          </p:cNvSpPr>
          <p:nvPr>
            <p:ph type="body" idx="1" hasCustomPrompt="1"/>
          </p:nvPr>
        </p:nvSpPr>
        <p:spPr>
          <a:xfrm>
            <a:off x="496888" y="1905000"/>
            <a:ext cx="5741987" cy="3543300"/>
          </a:xfrm>
          <a:prstGeom prst="rect">
            <a:avLst/>
          </a:prstGeom>
        </p:spPr>
        <p:txBody>
          <a:bodyPr anchor="t"/>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endParaRPr lang="es-ES" dirty="0" smtClean="0"/>
          </a:p>
        </p:txBody>
      </p:sp>
      <p:sp>
        <p:nvSpPr>
          <p:cNvPr id="7" name="Marcador de número de diapositiva 5"/>
          <p:cNvSpPr>
            <a:spLocks noGrp="1"/>
          </p:cNvSpPr>
          <p:nvPr>
            <p:ph type="sldNum" sz="quarter" idx="12"/>
          </p:nvPr>
        </p:nvSpPr>
        <p:spPr>
          <a:xfrm>
            <a:off x="496888" y="5673726"/>
            <a:ext cx="2036762" cy="365125"/>
          </a:xfrm>
          <a:prstGeom prst="rect">
            <a:avLst/>
          </a:prstGeom>
        </p:spPr>
        <p:txBody>
          <a:bodyPr/>
          <a:lstStyle>
            <a:lvl1pPr algn="l">
              <a:defRPr>
                <a:solidFill>
                  <a:schemeClr val="tx1"/>
                </a:solidFill>
              </a:defRPr>
            </a:lvl1pPr>
          </a:lstStyle>
          <a:p>
            <a:fld id="{FE609833-A38D-4EB6-901E-6156D1A180FF}" type="slidenum">
              <a:rPr lang="es-CO" smtClean="0"/>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9C5C0F-E92D-41C4-AB31-672CB4E5EEC6}" type="datetimeFigureOut">
              <a:rPr lang="es-CO" smtClean="0"/>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609833-A38D-4EB6-901E-6156D1A180FF}" type="slidenum">
              <a:rPr lang="es-CO" smtClean="0"/>
            </a:fld>
            <a:endParaRPr lang="es-CO"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9.jpe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s://hmong.es/wiki/Human_skull" TargetMode="External"/><Relationship Id="rId1" Type="http://schemas.openxmlformats.org/officeDocument/2006/relationships/hyperlink" Target="https://hmong.es/wiki/Fibrous_joint" TargetMode="Externa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s://www.fisioterapia-online.com/glosario/hueso-occipital" TargetMode="External"/><Relationship Id="rId1" Type="http://schemas.openxmlformats.org/officeDocument/2006/relationships/hyperlink" Target="https://www.fisioterapia-online.com/glosario/hueso-frontal"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4.jpe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6.jpeg"/><Relationship Id="rId1"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hyperlink" Target="https://www.fisioterapia-online.com/glosario/musculo-temporal" TargetMode="Externa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8.jpeg"/><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9.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hyperlink" Target="https://www.fisioterapia-online.com/glosario/foramen-magnum-o-agujero-occipita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1.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hyperlink" Target="https://www.fisioterapia-online.com/glosario/hueso-etmoide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4.jpeg"/><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hyperlink" Target="https://www.fisioterapia-online.com/glosario/nervio-oculomotor-motor-ocular-comun-o-iii-par-cranea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s://www.fisioterapia-online.com/glosario/nervio-trigemino-trigeminal-o-v-par-craneal" TargetMode="External"/><Relationship Id="rId1" Type="http://schemas.openxmlformats.org/officeDocument/2006/relationships/hyperlink" Target="https://www.fisioterapia-online.com/glosario/nervio-olfativo-u-olfatorio-o-i-par-craneal" TargetMode="Externa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6.png"/><Relationship Id="rId1" Type="http://schemas.openxmlformats.org/officeDocument/2006/relationships/image" Target="../media/image25.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7.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hyperlink" Target="https://www.fisioterapia-online.com/osteoporosis-que-es-causas-sintomas-diagnostico-tratamiento" TargetMode="External"/><Relationship Id="rId1" Type="http://schemas.openxmlformats.org/officeDocument/2006/relationships/hyperlink" Target="https://www.fisioterapia-online.com/glosario/hueso-palatino-o-del-paladar" TargetMode="Externa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0.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1.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hyperlink" Target="https://www.fisioterapia-online.com/glosario/disfagia-o-dificultad-para-deglutir" TargetMode="External"/><Relationship Id="rId3" Type="http://schemas.openxmlformats.org/officeDocument/2006/relationships/hyperlink" Target="https://www.fisioterapia-online.com/glosario/musculo-pterigoideo-interno-o-medial" TargetMode="External"/><Relationship Id="rId2" Type="http://schemas.openxmlformats.org/officeDocument/2006/relationships/hyperlink" Target="https://www.fisioterapia-online.com/glosario/musculo-pterigoideo-externo-o-lateral" TargetMode="External"/><Relationship Id="rId1" Type="http://schemas.openxmlformats.org/officeDocument/2006/relationships/hyperlink" Target="https://www.fisioterapia-online.com/glosario/hueso-maxilar-superior" TargetMode="Externa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2.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3.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hyperlink" Target="https://www.fisioterapia-online.com/glosario/hueso-maxilar-superior" TargetMode="Externa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hyperlink" Target="https://www.fisioterapia-online.com/glosario/capa-mucosa" TargetMode="External"/><Relationship Id="rId1" Type="http://schemas.openxmlformats.org/officeDocument/2006/relationships/hyperlink" Target="https://www.fisioterapia-online.com/glosario/craneo" TargetMode="Externa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4.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hyperlink" Target="https://www.kenhub.com/es/library/anatomia-es/nariz-y-fosas-nasales"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hyperlink" Target="https://www.kenhub.com/es/library/anatomia-es/hueso-etmoides" TargetMode="Externa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hyperlink" Target="https://www.kenhub.com/es/library/anatomia-es/seno-maxilar" TargetMode="External"/><Relationship Id="rId1" Type="http://schemas.openxmlformats.org/officeDocument/2006/relationships/hyperlink" Target="https://www.kenhub.com/es/library/anatomia-es/hueso-frontal"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5.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36.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37.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38.jpe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39.jpe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40.jpe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4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40.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4.xml"/><Relationship Id="rId2" Type="http://schemas.openxmlformats.org/officeDocument/2006/relationships/image" Target="../media/image43.jpeg"/><Relationship Id="rId1" Type="http://schemas.openxmlformats.org/officeDocument/2006/relationships/image" Target="../media/image42.jpe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4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5.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6.jpe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7.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78535" y="981710"/>
            <a:ext cx="10334625" cy="3862070"/>
          </a:xfrm>
        </p:spPr>
        <p:txBody>
          <a:bodyPr/>
          <a:lstStyle/>
          <a:p>
            <a:br>
              <a:rPr lang="en-US" altLang="es-ES" sz="1400" dirty="0"/>
            </a:br>
            <a:r>
              <a:rPr lang="es-ES" altLang="en-US" sz="1400" dirty="0"/>
              <a:t>Proposito</a:t>
            </a:r>
            <a:br>
              <a:rPr lang="en-US" altLang="es-ES" sz="1400" dirty="0"/>
            </a:br>
            <a:br>
              <a:rPr lang="en-US" altLang="es-ES" sz="1400" dirty="0"/>
            </a:br>
            <a:r>
              <a:rPr lang="en-US" altLang="es-ES" sz="1400" dirty="0"/>
              <a:t>Al finalizar la sesi</a:t>
            </a:r>
            <a:r>
              <a:rPr lang="en-US" altLang="en-US" sz="1400" dirty="0"/>
              <a:t>ó</a:t>
            </a:r>
            <a:r>
              <a:rPr lang="en-US" altLang="es-ES" sz="1400" dirty="0"/>
              <a:t>n, el estudiante identificar</a:t>
            </a:r>
            <a:r>
              <a:rPr lang="en-US" altLang="en-US" sz="1400" dirty="0"/>
              <a:t>á, </a:t>
            </a:r>
            <a:r>
              <a:rPr lang="en-US" altLang="es-ES" sz="1400" dirty="0"/>
              <a:t>describir</a:t>
            </a:r>
            <a:r>
              <a:rPr lang="en-US" altLang="en-US" sz="1400" dirty="0"/>
              <a:t>á </a:t>
            </a:r>
            <a:r>
              <a:rPr lang="en-US" altLang="es-ES" sz="1400" dirty="0"/>
              <a:t>y ubicar</a:t>
            </a:r>
            <a:r>
              <a:rPr lang="en-US" altLang="en-US" sz="1400" dirty="0"/>
              <a:t>á </a:t>
            </a:r>
            <a:r>
              <a:rPr lang="en-US" altLang="es-ES" sz="1400" dirty="0"/>
              <a:t>los principales huesos del esqueleto axial y apendicular, utilizando correctamente las regiones corporales y los t</a:t>
            </a:r>
            <a:r>
              <a:rPr lang="en-US" altLang="en-US" sz="1400" dirty="0"/>
              <a:t>é</a:t>
            </a:r>
            <a:r>
              <a:rPr lang="en-US" altLang="es-ES" sz="1400" dirty="0"/>
              <a:t>rminos anat</a:t>
            </a:r>
            <a:r>
              <a:rPr lang="en-US" altLang="en-US" sz="1400" dirty="0"/>
              <a:t>ó</a:t>
            </a:r>
            <a:r>
              <a:rPr lang="en-US" altLang="es-ES" sz="1400" dirty="0"/>
              <a:t>micos de posici</a:t>
            </a:r>
            <a:r>
              <a:rPr lang="en-US" altLang="en-US" sz="1400" dirty="0"/>
              <a:t>ó</a:t>
            </a:r>
            <a:r>
              <a:rPr lang="en-US" altLang="es-ES" sz="1400" dirty="0"/>
              <a:t>n, y relacionar</a:t>
            </a:r>
            <a:r>
              <a:rPr lang="en-US" altLang="en-US" sz="1400" dirty="0"/>
              <a:t>á </a:t>
            </a:r>
            <a:r>
              <a:rPr lang="en-US" altLang="es-ES" sz="1400" dirty="0"/>
              <a:t>su organizaci</a:t>
            </a:r>
            <a:r>
              <a:rPr lang="en-US" altLang="en-US" sz="1400" dirty="0"/>
              <a:t>ó</a:t>
            </a:r>
            <a:r>
              <a:rPr lang="en-US" altLang="es-ES" sz="1400" dirty="0"/>
              <a:t>n con el movimiento corporal, la pr</a:t>
            </a:r>
            <a:r>
              <a:rPr lang="en-US" altLang="en-US" sz="1400" dirty="0"/>
              <a:t>á</a:t>
            </a:r>
            <a:r>
              <a:rPr lang="en-US" altLang="es-ES" sz="1400" dirty="0"/>
              <a:t>ctica deportiva y la actividad f</a:t>
            </a:r>
            <a:r>
              <a:rPr lang="en-US" altLang="en-US" sz="1400" dirty="0"/>
              <a:t>í</a:t>
            </a:r>
            <a:r>
              <a:rPr lang="en-US" altLang="es-ES" sz="1400" dirty="0"/>
              <a:t>sica.</a:t>
            </a:r>
            <a:br>
              <a:rPr lang="en-US" altLang="es-ES" sz="1400" dirty="0"/>
            </a:br>
            <a:r>
              <a:rPr lang="en-US" altLang="es-ES" sz="1400" dirty="0"/>
              <a:t>Al finalizar la clase, el estudiante estar</a:t>
            </a:r>
            <a:r>
              <a:rPr lang="en-US" altLang="en-US" sz="1400" dirty="0"/>
              <a:t>á </a:t>
            </a:r>
            <a:r>
              <a:rPr lang="en-US" altLang="es-ES" sz="1400" dirty="0"/>
              <a:t>en capacidad de:</a:t>
            </a:r>
            <a:br>
              <a:rPr lang="en-US" altLang="es-ES" sz="1400" dirty="0"/>
            </a:br>
            <a:br>
              <a:rPr lang="en-US" altLang="es-ES" sz="1400" dirty="0"/>
            </a:br>
            <a:r>
              <a:rPr lang="es-ES" altLang="en-US" sz="1400" dirty="0"/>
              <a:t> RA</a:t>
            </a:r>
            <a:br>
              <a:rPr lang="es-ES" altLang="en-US" sz="1400" dirty="0"/>
            </a:br>
            <a:r>
              <a:rPr lang="en-US" altLang="es-ES" sz="1400" dirty="0"/>
              <a:t>Diferenciar el esqueleto axial del esqueleto apendicular.</a:t>
            </a:r>
            <a:br>
              <a:rPr lang="en-US" altLang="es-ES" sz="1400" dirty="0"/>
            </a:br>
            <a:r>
              <a:rPr lang="en-US" altLang="es-ES" sz="1400" dirty="0"/>
              <a:t>Identificar y ubicar los principales huesos de ambos componentes.</a:t>
            </a:r>
            <a:br>
              <a:rPr lang="en-US" altLang="es-ES" sz="1400" dirty="0"/>
            </a:br>
            <a:r>
              <a:rPr lang="en-US" altLang="es-ES" sz="1400" dirty="0"/>
              <a:t>Utilizar correctamente t</a:t>
            </a:r>
            <a:r>
              <a:rPr lang="en-US" altLang="en-US" sz="1400" dirty="0"/>
              <a:t>é</a:t>
            </a:r>
            <a:r>
              <a:rPr lang="en-US" altLang="es-ES" sz="1400" dirty="0"/>
              <a:t>rminos como superior, inferior, anterior, posterior, medial, lateral, proximal y distal.</a:t>
            </a:r>
            <a:br>
              <a:rPr lang="en-US" altLang="es-ES" sz="1400" dirty="0"/>
            </a:br>
            <a:r>
              <a:rPr lang="en-US" altLang="es-ES" sz="1400" dirty="0"/>
              <a:t>Relacionar los huesos con las regiones corporales y cavidades correspondientes.</a:t>
            </a:r>
            <a:br>
              <a:rPr lang="en-US" altLang="es-ES" sz="1400" dirty="0"/>
            </a:br>
            <a:r>
              <a:rPr lang="en-US" altLang="es-ES" sz="1400" dirty="0"/>
              <a:t>Explicar la funci</a:t>
            </a:r>
            <a:r>
              <a:rPr lang="en-US" altLang="en-US" sz="1400" dirty="0"/>
              <a:t>ó</a:t>
            </a:r>
            <a:r>
              <a:rPr lang="en-US" altLang="es-ES" sz="1400" dirty="0"/>
              <a:t>n del esqueleto en el movimiento y la actividad f</a:t>
            </a:r>
            <a:r>
              <a:rPr lang="en-US" altLang="en-US" sz="1400" dirty="0"/>
              <a:t>í</a:t>
            </a:r>
            <a:r>
              <a:rPr lang="en-US" altLang="es-ES" sz="1400" dirty="0"/>
              <a:t>sica.</a:t>
            </a:r>
            <a:br>
              <a:rPr lang="en-US" altLang="es-ES" sz="1400" dirty="0"/>
            </a:br>
            <a:r>
              <a:rPr lang="en-US" altLang="es-ES" sz="1400" dirty="0"/>
              <a:t>Analizar situaciones sencillas relacionadas con lesiones o patolog</a:t>
            </a:r>
            <a:r>
              <a:rPr lang="en-US" altLang="en-US" sz="1400" dirty="0"/>
              <a:t>í</a:t>
            </a:r>
            <a:r>
              <a:rPr lang="en-US" altLang="es-ES" sz="1400" dirty="0"/>
              <a:t>as frecuentes del sistema esquel</a:t>
            </a:r>
            <a:r>
              <a:rPr lang="en-US" altLang="en-US" sz="1400" dirty="0"/>
              <a:t>é</a:t>
            </a:r>
            <a:r>
              <a:rPr lang="en-US" altLang="es-ES" sz="1400" dirty="0"/>
              <a:t>tico.</a:t>
            </a:r>
            <a:endParaRPr lang="en-US" altLang="es-E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a:xfrm>
            <a:off x="1257300" y="373380"/>
            <a:ext cx="10626090" cy="6048375"/>
          </a:xfrm>
        </p:spPr>
        <p:txBody>
          <a:bodyPr/>
          <a:p>
            <a:r>
              <a:rPr lang="en-US" altLang="es-ES" sz="2400"/>
              <a:t>Preguntas de activaci</a:t>
            </a:r>
            <a:r>
              <a:rPr lang="en-US" altLang="en-US" sz="2400"/>
              <a:t>ó</a:t>
            </a:r>
            <a:r>
              <a:rPr lang="en-US" altLang="es-ES" sz="2400"/>
              <a:t>n</a:t>
            </a:r>
            <a:br>
              <a:rPr lang="en-US" altLang="es-ES" sz="2400"/>
            </a:br>
            <a:r>
              <a:rPr lang="en-US" altLang="es-ES" sz="2400"/>
              <a:t>¿Cu</a:t>
            </a:r>
            <a:r>
              <a:rPr lang="en-US" altLang="en-US" sz="2400"/>
              <a:t>á</a:t>
            </a:r>
            <a:r>
              <a:rPr lang="en-US" altLang="es-ES" sz="2400"/>
              <a:t>ntos huesos aproximadamente tiene el cuerpo humano adulto?</a:t>
            </a:r>
            <a:br>
              <a:rPr lang="en-US" altLang="es-ES" sz="2400"/>
            </a:br>
            <a:r>
              <a:rPr lang="en-US" altLang="es-ES" sz="2400"/>
              <a:t>¿Cu</a:t>
            </a:r>
            <a:r>
              <a:rPr lang="en-US" altLang="en-US" sz="2400"/>
              <a:t>á</a:t>
            </a:r>
            <a:r>
              <a:rPr lang="en-US" altLang="es-ES" sz="2400"/>
              <a:t>l es la diferencia entre hueso y esqueleto?</a:t>
            </a:r>
            <a:br>
              <a:rPr lang="en-US" altLang="es-ES" sz="2400"/>
            </a:br>
            <a:r>
              <a:rPr lang="en-US" altLang="es-ES" sz="2400"/>
              <a:t>¿Qu</a:t>
            </a:r>
            <a:r>
              <a:rPr lang="en-US" altLang="en-US" sz="2400"/>
              <a:t>é </a:t>
            </a:r>
            <a:r>
              <a:rPr lang="en-US" altLang="es-ES" sz="2400"/>
              <a:t>huesos forman el cr</a:t>
            </a:r>
            <a:r>
              <a:rPr lang="en-US" altLang="en-US" sz="2400"/>
              <a:t>á</a:t>
            </a:r>
            <a:r>
              <a:rPr lang="en-US" altLang="es-ES" sz="2400"/>
              <a:t>neo?</a:t>
            </a:r>
            <a:br>
              <a:rPr lang="en-US" altLang="es-ES" sz="2400"/>
            </a:br>
            <a:r>
              <a:rPr lang="en-US" altLang="es-ES" sz="2400"/>
              <a:t>¿El f</a:t>
            </a:r>
            <a:r>
              <a:rPr lang="en-US" altLang="en-US" sz="2400"/>
              <a:t>é</a:t>
            </a:r>
            <a:r>
              <a:rPr lang="en-US" altLang="es-ES" sz="2400"/>
              <a:t>mur pertenece al esqueleto axial o apendicular?</a:t>
            </a:r>
            <a:br>
              <a:rPr lang="en-US" altLang="es-ES" sz="2400"/>
            </a:br>
            <a:r>
              <a:rPr lang="en-US" altLang="es-ES" sz="2400"/>
              <a:t>¿La columna vertebral pertenece al esqueleto axial o apendicular?</a:t>
            </a:r>
            <a:br>
              <a:rPr lang="en-US" altLang="es-ES" sz="2400"/>
            </a:br>
            <a:r>
              <a:rPr lang="en-US" altLang="es-ES" sz="2400"/>
              <a:t>¿Qu</a:t>
            </a:r>
            <a:r>
              <a:rPr lang="en-US" altLang="en-US" sz="2400"/>
              <a:t>é </a:t>
            </a:r>
            <a:r>
              <a:rPr lang="en-US" altLang="es-ES" sz="2400"/>
              <a:t>significa que una estructura sea proximal?</a:t>
            </a:r>
            <a:br>
              <a:rPr lang="en-US" altLang="es-ES" sz="2400"/>
            </a:br>
            <a:r>
              <a:rPr lang="en-US" altLang="es-ES" sz="2400"/>
              <a:t>¿Qu</a:t>
            </a:r>
            <a:r>
              <a:rPr lang="en-US" altLang="en-US" sz="2400"/>
              <a:t>é </a:t>
            </a:r>
            <a:r>
              <a:rPr lang="en-US" altLang="es-ES" sz="2400"/>
              <a:t>hueso se encuentra distal al h</a:t>
            </a:r>
            <a:r>
              <a:rPr lang="en-US" altLang="en-US" sz="2400"/>
              <a:t>ú</a:t>
            </a:r>
            <a:r>
              <a:rPr lang="en-US" altLang="es-ES" sz="2400"/>
              <a:t>mero?</a:t>
            </a:r>
            <a:br>
              <a:rPr lang="en-US" altLang="es-ES" sz="2400"/>
            </a:br>
            <a:r>
              <a:rPr lang="en-US" altLang="es-ES" sz="2400"/>
              <a:t>¿Qu</a:t>
            </a:r>
            <a:r>
              <a:rPr lang="en-US" altLang="en-US" sz="2400"/>
              <a:t>é </a:t>
            </a:r>
            <a:r>
              <a:rPr lang="en-US" altLang="es-ES" sz="2400"/>
              <a:t>relaci</a:t>
            </a:r>
            <a:r>
              <a:rPr lang="en-US" altLang="en-US" sz="2400"/>
              <a:t>ó</a:t>
            </a:r>
            <a:r>
              <a:rPr lang="en-US" altLang="es-ES" sz="2400"/>
              <a:t>n existe entre el esqueleto y el movimiento deportivo?</a:t>
            </a:r>
            <a:br>
              <a:rPr lang="en-US" altLang="es-ES" sz="2400"/>
            </a:br>
            <a:r>
              <a:rPr lang="en-US" altLang="es-ES" sz="2400"/>
              <a:t>Por qu</a:t>
            </a:r>
            <a:r>
              <a:rPr lang="en-US" altLang="en-US" sz="2400"/>
              <a:t>é </a:t>
            </a:r>
            <a:r>
              <a:rPr lang="en-US" altLang="es-ES" sz="2400"/>
              <a:t>un deportista necesita conocer la organizaci</a:t>
            </a:r>
            <a:r>
              <a:rPr lang="en-US" altLang="en-US" sz="2400"/>
              <a:t>ó</a:t>
            </a:r>
            <a:r>
              <a:rPr lang="en-US" altLang="es-ES" sz="2400"/>
              <a:t>n del esqueleto para comprender el movimiento?</a:t>
            </a:r>
            <a:br>
              <a:rPr lang="en-US" altLang="es-ES" sz="2400"/>
            </a:br>
            <a:r>
              <a:rPr lang="en-US" altLang="es-ES" sz="2400"/>
              <a:t>Un deportista necesita conocer la organizaci</a:t>
            </a:r>
            <a:r>
              <a:rPr lang="en-US" altLang="en-US" sz="2400"/>
              <a:t>ó</a:t>
            </a:r>
            <a:r>
              <a:rPr lang="en-US" altLang="es-ES" sz="2400"/>
              <a:t>n de su esqueleto porque este funciona como un sistema de palancas que transforma la fuerza de los m</a:t>
            </a:r>
            <a:r>
              <a:rPr lang="en-US" altLang="en-US" sz="2400"/>
              <a:t>ú</a:t>
            </a:r>
            <a:r>
              <a:rPr lang="en-US" altLang="es-ES" sz="2400"/>
              <a:t>sculos en movimiento eficiente y protege al cuerpo de las lesiones.</a:t>
            </a:r>
            <a:br>
              <a:rPr lang="en-US" altLang="es-ES" sz="2400"/>
            </a:br>
            <a:r>
              <a:rPr lang="en-US" altLang="es-ES" sz="2400"/>
              <a:t>Beneficios para el deportistaMejor t</a:t>
            </a:r>
            <a:r>
              <a:rPr lang="en-US" altLang="en-US" sz="2400"/>
              <a:t>é</a:t>
            </a:r>
            <a:r>
              <a:rPr lang="en-US" altLang="es-ES" sz="2400"/>
              <a:t>cnica: Entender qu</a:t>
            </a:r>
            <a:r>
              <a:rPr lang="en-US" altLang="en-US" sz="2400"/>
              <a:t>é </a:t>
            </a:r>
            <a:r>
              <a:rPr lang="en-US" altLang="es-ES" sz="2400"/>
              <a:t>hueso o articulaci</a:t>
            </a:r>
            <a:r>
              <a:rPr lang="en-US" altLang="en-US" sz="2400"/>
              <a:t>ó</a:t>
            </a:r>
            <a:r>
              <a:rPr lang="en-US" altLang="es-ES" sz="2400"/>
              <a:t>n lidera un gesto deportivo ayuda a aplicar la fuerza en la direcci</a:t>
            </a:r>
            <a:r>
              <a:rPr lang="en-US" altLang="en-US" sz="2400"/>
              <a:t>ó</a:t>
            </a:r>
            <a:r>
              <a:rPr lang="en-US" altLang="es-ES" sz="2400"/>
              <a:t>n correcta.Mayor eficiencia: Con una postura alineada, el cuerpo gasta menos energ</a:t>
            </a:r>
            <a:r>
              <a:rPr lang="en-US" altLang="en-US" sz="2400"/>
              <a:t>í</a:t>
            </a:r>
            <a:r>
              <a:rPr lang="en-US" altLang="es-ES" sz="2400"/>
              <a:t>a al correr, saltar o levantar peso.Prevenci</a:t>
            </a:r>
            <a:r>
              <a:rPr lang="en-US" altLang="en-US" sz="2400"/>
              <a:t>ó</a:t>
            </a:r>
            <a:r>
              <a:rPr lang="en-US" altLang="es-ES" sz="2400"/>
              <a:t>n de lesiones: Conocer los l</a:t>
            </a:r>
            <a:r>
              <a:rPr lang="en-US" altLang="en-US" sz="2400"/>
              <a:t>í</a:t>
            </a:r>
            <a:r>
              <a:rPr lang="en-US" altLang="es-ES" sz="2400"/>
              <a:t>mites de la estructura </a:t>
            </a:r>
            <a:r>
              <a:rPr lang="en-US" altLang="en-US" sz="2400"/>
              <a:t>ó</a:t>
            </a:r>
            <a:r>
              <a:rPr lang="en-US" altLang="es-ES" sz="2400"/>
              <a:t>sea y articular evita malas posturas, giros peligrosos y sobrecargas.</a:t>
            </a:r>
            <a:endParaRPr lang="en-US" altLang="es-E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endParaRPr lang="es-ES" sz="5400" dirty="0" smtClean="0"/>
          </a:p>
          <a:p>
            <a:r>
              <a:rPr lang="es-ES" sz="5400" dirty="0" smtClean="0"/>
              <a:t>ESQUELETO AXIAL</a:t>
            </a:r>
            <a:endParaRPr lang="es-CO" sz="5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50"/>
            <a:ext cx="5659256" cy="4438650"/>
          </a:xfrm>
        </p:spPr>
        <p:txBody>
          <a:bodyPr/>
          <a:lstStyle/>
          <a:p>
            <a:pPr algn="ctr"/>
            <a:r>
              <a:rPr lang="es-CO" dirty="0"/>
              <a:t>EL ESQUELETO AXIAL Y LA HOMEOSTASIS </a:t>
            </a:r>
            <a:endParaRPr lang="es-CO" dirty="0"/>
          </a:p>
          <a:p>
            <a:pPr algn="just"/>
            <a:r>
              <a:rPr lang="es-CO" b="0" dirty="0"/>
              <a:t>Los huesos del esqueleto axial participan en el mantenimiento de la homeostasis protegiendo muchos de los órganos del cuerpo: el cerebro, la médula espinal, el corazón y los pulmones. También son importantes como sostén y para almacenamiento y liberación del calcio</a:t>
            </a:r>
            <a:endParaRPr lang="es-ES" b="0" dirty="0"/>
          </a:p>
          <a:p>
            <a:endParaRPr lang="es-CO" b="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371600"/>
            <a:ext cx="11199812" cy="5238206"/>
          </a:xfrm>
        </p:spPr>
        <p:txBody>
          <a:bodyPr/>
          <a:lstStyle/>
          <a:p>
            <a:r>
              <a:rPr lang="es-ES" dirty="0" smtClean="0"/>
              <a:t>HUESOS DEL ESQUELETO AXIAL</a:t>
            </a:r>
            <a:endParaRPr lang="es-ES" dirty="0" smtClean="0"/>
          </a:p>
          <a:p>
            <a:pPr algn="just"/>
            <a:r>
              <a:rPr lang="es-ES" b="0" dirty="0"/>
              <a:t>Cabeza: cráneo y cara</a:t>
            </a:r>
            <a:endParaRPr lang="es-ES" b="0" dirty="0"/>
          </a:p>
          <a:p>
            <a:pPr algn="just"/>
            <a:r>
              <a:rPr lang="es-ES" b="0" dirty="0"/>
              <a:t>Hueso Hioides</a:t>
            </a:r>
            <a:endParaRPr lang="es-ES" b="0" dirty="0"/>
          </a:p>
          <a:p>
            <a:pPr algn="just"/>
            <a:r>
              <a:rPr lang="es-ES" b="0" dirty="0"/>
              <a:t>Huesecillos auditivos</a:t>
            </a:r>
            <a:endParaRPr lang="es-ES" b="0" dirty="0"/>
          </a:p>
          <a:p>
            <a:pPr algn="just"/>
            <a:r>
              <a:rPr lang="es-ES" b="0" dirty="0"/>
              <a:t>Columna vertebral</a:t>
            </a:r>
            <a:endParaRPr lang="es-ES" b="0" dirty="0"/>
          </a:p>
          <a:p>
            <a:pPr algn="just"/>
            <a:r>
              <a:rPr lang="es-ES" b="0" dirty="0"/>
              <a:t>Tórax: esternón y costillas</a:t>
            </a:r>
            <a:endParaRPr lang="es-ES" b="0" dirty="0"/>
          </a:p>
          <a:p>
            <a:pPr algn="just"/>
            <a:endParaRPr lang="es-ES" b="0" dirty="0"/>
          </a:p>
          <a:p>
            <a:endParaRPr lang="es-CO" dirty="0"/>
          </a:p>
        </p:txBody>
      </p:sp>
      <p:pic>
        <p:nvPicPr>
          <p:cNvPr id="3" name="Imagen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33703" y="1371600"/>
            <a:ext cx="5865223" cy="47287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ctr"/>
            <a:endParaRPr lang="es-ES" sz="4000" dirty="0" smtClean="0"/>
          </a:p>
          <a:p>
            <a:pPr algn="ctr"/>
            <a:endParaRPr lang="es-ES" sz="4000" dirty="0"/>
          </a:p>
          <a:p>
            <a:pPr algn="ctr"/>
            <a:r>
              <a:rPr lang="es-ES" sz="4000" dirty="0" smtClean="0"/>
              <a:t>HUESOS DE  LA CABEZA</a:t>
            </a:r>
            <a:endParaRPr lang="es-ES" sz="4000" dirty="0" smtClean="0"/>
          </a:p>
          <a:p>
            <a:endParaRPr lang="es-CO"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fontScale="92500" lnSpcReduction="10000"/>
          </a:bodyPr>
          <a:lstStyle/>
          <a:p>
            <a:pPr algn="just"/>
            <a:r>
              <a:rPr lang="es-CO" b="0" dirty="0"/>
              <a:t>No se observan en otros huesos del cuerpo: </a:t>
            </a:r>
            <a:endParaRPr lang="es-CO" b="0" dirty="0"/>
          </a:p>
          <a:p>
            <a:pPr algn="just"/>
            <a:r>
              <a:rPr lang="es-CO" b="0" dirty="0"/>
              <a:t>Las suturas: es una estructura con forma de pirámide que contiene el globo ocular y estructuras asociadas. </a:t>
            </a:r>
            <a:endParaRPr lang="es-CO" b="0" dirty="0"/>
          </a:p>
          <a:p>
            <a:pPr algn="just"/>
            <a:r>
              <a:rPr lang="es-CO" b="0" dirty="0"/>
              <a:t>Los senos paranasales: (para-, al lado) son cavidades presentes dentro de ciertos huesos craneanos y de la cara, próximos a la cavidad nasal. </a:t>
            </a:r>
            <a:endParaRPr lang="es-CO" b="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Las fontanelas: La cabeza de un embrión en desarrollo está formada por cartílago y por mesénquima dispuestos en placas alrededor del cerebro. Gradualmente, se va osificando, y la mayor parte del cartílago y el mesénquima son lentamente remplazados por hueso. </a:t>
            </a:r>
            <a:endParaRPr lang="es-CO" b="0" dirty="0"/>
          </a:p>
          <a:p>
            <a:pPr algn="just"/>
            <a:endParaRPr lang="es-CO" b="0" dirty="0"/>
          </a:p>
          <a:p>
            <a:endParaRPr lang="es-CO" dirty="0"/>
          </a:p>
          <a:p>
            <a:endParaRPr lang="es-CO"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ctr"/>
            <a:endParaRPr lang="es-ES" sz="8800" dirty="0" smtClean="0"/>
          </a:p>
          <a:p>
            <a:pPr algn="ctr"/>
            <a:r>
              <a:rPr lang="es-ES" sz="8800" dirty="0" smtClean="0"/>
              <a:t>CRANEO</a:t>
            </a:r>
            <a:endParaRPr lang="es-CO" sz="8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endParaRPr lang="es-CO" b="0" dirty="0" smtClean="0">
              <a:latin typeface="Arial" panose="020B0604020202020204" pitchFamily="34" charset="0"/>
              <a:cs typeface="Arial" panose="020B0604020202020204" pitchFamily="34" charset="0"/>
            </a:endParaRPr>
          </a:p>
          <a:p>
            <a:pPr algn="just"/>
            <a:r>
              <a:rPr lang="es-CO" b="0" dirty="0" smtClean="0">
                <a:latin typeface="Arial" panose="020B0604020202020204" pitchFamily="34" charset="0"/>
                <a:cs typeface="Arial" panose="020B0604020202020204" pitchFamily="34" charset="0"/>
              </a:rPr>
              <a:t>El </a:t>
            </a:r>
            <a:r>
              <a:rPr lang="es-CO" b="0" dirty="0">
                <a:latin typeface="Arial" panose="020B0604020202020204" pitchFamily="34" charset="0"/>
                <a:cs typeface="Arial" panose="020B0604020202020204" pitchFamily="34" charset="0"/>
              </a:rPr>
              <a:t>cráneo humano está formado por una articulación de 8 huesos, ésta es la parte más compleja de nuestro </a:t>
            </a:r>
            <a:r>
              <a:rPr lang="es-CO" b="0" dirty="0" smtClean="0">
                <a:latin typeface="Arial" panose="020B0604020202020204" pitchFamily="34" charset="0"/>
                <a:cs typeface="Arial" panose="020B0604020202020204" pitchFamily="34" charset="0"/>
              </a:rPr>
              <a:t>esqueleto.</a:t>
            </a:r>
            <a:endParaRPr lang="es-CO" b="0" dirty="0" smtClean="0">
              <a:latin typeface="Arial" panose="020B0604020202020204" pitchFamily="34" charset="0"/>
              <a:cs typeface="Arial" panose="020B0604020202020204" pitchFamily="34" charset="0"/>
            </a:endParaRPr>
          </a:p>
          <a:p>
            <a:pPr algn="just"/>
            <a:r>
              <a:rPr lang="es-CO" b="0" dirty="0" smtClean="0">
                <a:latin typeface="Arial" panose="020B0604020202020204" pitchFamily="34" charset="0"/>
                <a:cs typeface="Arial" panose="020B0604020202020204" pitchFamily="34" charset="0"/>
              </a:rPr>
              <a:t>El </a:t>
            </a:r>
            <a:r>
              <a:rPr lang="es-CO" b="0" dirty="0">
                <a:latin typeface="Arial" panose="020B0604020202020204" pitchFamily="34" charset="0"/>
                <a:cs typeface="Arial" panose="020B0604020202020204" pitchFamily="34" charset="0"/>
              </a:rPr>
              <a:t>cráneo es el que le da forma a nuestra cara y </a:t>
            </a:r>
            <a:r>
              <a:rPr lang="es-CO" b="0" dirty="0" smtClean="0">
                <a:latin typeface="Arial" panose="020B0604020202020204" pitchFamily="34" charset="0"/>
                <a:cs typeface="Arial" panose="020B0604020202020204" pitchFamily="34" charset="0"/>
              </a:rPr>
              <a:t>cabeza</a:t>
            </a:r>
            <a:endParaRPr lang="es-CO" b="0" dirty="0" smtClean="0">
              <a:latin typeface="Arial" panose="020B0604020202020204" pitchFamily="34" charset="0"/>
              <a:cs typeface="Arial" panose="020B0604020202020204" pitchFamily="34" charset="0"/>
            </a:endParaRPr>
          </a:p>
          <a:p>
            <a:pPr algn="just"/>
            <a:r>
              <a:rPr lang="es-CO" b="0" dirty="0" smtClean="0">
                <a:latin typeface="Arial" panose="020B0604020202020204" pitchFamily="34" charset="0"/>
                <a:cs typeface="Arial" panose="020B0604020202020204" pitchFamily="34" charset="0"/>
              </a:rPr>
              <a:t>Protege </a:t>
            </a:r>
            <a:r>
              <a:rPr lang="es-CO" b="0" dirty="0">
                <a:latin typeface="Arial" panose="020B0604020202020204" pitchFamily="34" charset="0"/>
                <a:cs typeface="Arial" panose="020B0604020202020204" pitchFamily="34" charset="0"/>
              </a:rPr>
              <a:t>el cerebro humano y aloja los órganos de los sentidos.</a:t>
            </a:r>
            <a:endParaRPr lang="es-CO" b="0" dirty="0">
              <a:latin typeface="Arial" panose="020B0604020202020204" pitchFamily="34" charset="0"/>
              <a:cs typeface="Arial" panose="020B0604020202020204" pitchFamily="34" charset="0"/>
            </a:endParaRPr>
          </a:p>
          <a:p>
            <a:pPr algn="just"/>
            <a:endParaRPr lang="es-CO"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95404"/>
          </a:xfrm>
        </p:spPr>
        <p:txBody>
          <a:bodyPr/>
          <a:lstStyle/>
          <a:p>
            <a:pPr algn="just"/>
            <a:r>
              <a:rPr lang="es-CO" b="0" dirty="0">
                <a:latin typeface="Arial" panose="020B0604020202020204" pitchFamily="34" charset="0"/>
                <a:cs typeface="Arial" panose="020B0604020202020204" pitchFamily="34" charset="0"/>
              </a:rPr>
              <a:t>Los huesos del cráneo se dividen en dos conjuntos: </a:t>
            </a:r>
            <a:endParaRPr lang="es-CO" b="0" dirty="0">
              <a:latin typeface="Arial" panose="020B0604020202020204" pitchFamily="34" charset="0"/>
              <a:cs typeface="Arial" panose="020B0604020202020204" pitchFamily="34" charset="0"/>
            </a:endParaRPr>
          </a:p>
          <a:p>
            <a:pPr algn="just"/>
            <a:r>
              <a:rPr lang="es-CO" b="0" dirty="0">
                <a:latin typeface="Arial" panose="020B0604020202020204" pitchFamily="34" charset="0"/>
                <a:cs typeface="Arial" panose="020B0604020202020204" pitchFamily="34" charset="0"/>
              </a:rPr>
              <a:t>Los craneales son la parte cóncava superior, que rodea, sujeta y protege el cerebro y los órganos auditivos.</a:t>
            </a:r>
            <a:endParaRPr lang="es-CO" b="0" dirty="0">
              <a:latin typeface="Arial" panose="020B0604020202020204" pitchFamily="34" charset="0"/>
              <a:cs typeface="Arial" panose="020B0604020202020204" pitchFamily="34" charset="0"/>
            </a:endParaRPr>
          </a:p>
          <a:p>
            <a:pPr algn="just"/>
            <a:endParaRPr lang="es-CO" b="0" dirty="0">
              <a:latin typeface="Arial" panose="020B0604020202020204" pitchFamily="34" charset="0"/>
              <a:cs typeface="Arial" panose="020B0604020202020204" pitchFamily="34" charset="0"/>
            </a:endParaRPr>
          </a:p>
          <a:p>
            <a:pPr algn="just"/>
            <a:r>
              <a:rPr lang="es-CO" b="0" dirty="0">
                <a:latin typeface="Arial" panose="020B0604020202020204" pitchFamily="34" charset="0"/>
                <a:cs typeface="Arial" panose="020B0604020202020204" pitchFamily="34" charset="0"/>
              </a:rPr>
              <a:t>Los huesos faciales son el marco de la cara y nuestra mandíbula, y nos proporcionan soporte a los músculos de las expresiones faciales. </a:t>
            </a:r>
            <a:endParaRPr lang="es-CO" b="0" dirty="0">
              <a:latin typeface="Arial" panose="020B0604020202020204" pitchFamily="34" charset="0"/>
              <a:cs typeface="Arial" panose="020B0604020202020204" pitchFamily="34" charset="0"/>
            </a:endParaRPr>
          </a:p>
          <a:p>
            <a:pPr algn="just"/>
            <a:endParaRPr lang="es-CO" b="0" dirty="0">
              <a:latin typeface="Arial" panose="020B0604020202020204" pitchFamily="34" charset="0"/>
              <a:cs typeface="Arial" panose="020B0604020202020204" pitchFamily="34" charset="0"/>
            </a:endParaRPr>
          </a:p>
          <a:p>
            <a:pPr algn="just"/>
            <a:r>
              <a:rPr lang="es-CO" b="0" dirty="0">
                <a:latin typeface="Arial" panose="020B0604020202020204" pitchFamily="34" charset="0"/>
                <a:cs typeface="Arial" panose="020B0604020202020204" pitchFamily="34" charset="0"/>
              </a:rPr>
              <a:t>Los huesos craneales y faciales forman las órbitas (cuencas oculares) y la cavidad nasal</a:t>
            </a:r>
            <a:endParaRPr lang="es-CO" b="0" dirty="0"/>
          </a:p>
          <a:p>
            <a:pPr algn="just"/>
            <a:endParaRPr lang="es-CO"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371600"/>
            <a:ext cx="11199812" cy="5238206"/>
          </a:xfrm>
        </p:spPr>
        <p:txBody>
          <a:bodyPr/>
          <a:lstStyle/>
          <a:p>
            <a:r>
              <a:rPr lang="es-ES" sz="3600" dirty="0"/>
              <a:t>CRANEO</a:t>
            </a:r>
            <a:endParaRPr lang="es-ES" sz="3600" dirty="0"/>
          </a:p>
          <a:p>
            <a:r>
              <a:rPr lang="es-ES" b="0" dirty="0"/>
              <a:t>8 </a:t>
            </a:r>
            <a:r>
              <a:rPr lang="es-ES" b="0" dirty="0" smtClean="0"/>
              <a:t>HUESOS: pares e impares</a:t>
            </a:r>
            <a:endParaRPr lang="es-ES" b="0" dirty="0"/>
          </a:p>
          <a:p>
            <a:r>
              <a:rPr lang="es-CO" b="0" dirty="0" smtClean="0">
                <a:latin typeface="Arial" panose="020B0604020202020204" pitchFamily="34" charset="0"/>
                <a:cs typeface="Arial" panose="020B0604020202020204" pitchFamily="34" charset="0"/>
              </a:rPr>
              <a:t>Parietales (2)</a:t>
            </a:r>
            <a:endParaRPr lang="es-CO" b="0" dirty="0">
              <a:latin typeface="Arial" panose="020B0604020202020204" pitchFamily="34" charset="0"/>
              <a:cs typeface="Arial" panose="020B0604020202020204" pitchFamily="34" charset="0"/>
            </a:endParaRPr>
          </a:p>
          <a:p>
            <a:r>
              <a:rPr lang="es-CO" b="0" dirty="0" smtClean="0">
                <a:latin typeface="Arial" panose="020B0604020202020204" pitchFamily="34" charset="0"/>
                <a:cs typeface="Arial" panose="020B0604020202020204" pitchFamily="34" charset="0"/>
              </a:rPr>
              <a:t>Frontal (1)</a:t>
            </a:r>
            <a:endParaRPr lang="es-CO" b="0" dirty="0">
              <a:latin typeface="Arial" panose="020B0604020202020204" pitchFamily="34" charset="0"/>
              <a:cs typeface="Arial" panose="020B0604020202020204" pitchFamily="34" charset="0"/>
            </a:endParaRPr>
          </a:p>
          <a:p>
            <a:r>
              <a:rPr lang="es-CO" b="0" dirty="0" smtClean="0">
                <a:latin typeface="Arial" panose="020B0604020202020204" pitchFamily="34" charset="0"/>
                <a:cs typeface="Arial" panose="020B0604020202020204" pitchFamily="34" charset="0"/>
              </a:rPr>
              <a:t>Temporal (2)</a:t>
            </a:r>
            <a:endParaRPr lang="es-CO" b="0" dirty="0">
              <a:latin typeface="Arial" panose="020B0604020202020204" pitchFamily="34" charset="0"/>
              <a:cs typeface="Arial" panose="020B0604020202020204" pitchFamily="34" charset="0"/>
            </a:endParaRPr>
          </a:p>
          <a:p>
            <a:r>
              <a:rPr lang="es-CO" b="0" dirty="0">
                <a:latin typeface="Arial" panose="020B0604020202020204" pitchFamily="34" charset="0"/>
                <a:cs typeface="Arial" panose="020B0604020202020204" pitchFamily="34" charset="0"/>
              </a:rPr>
              <a:t>Occipital </a:t>
            </a:r>
            <a:r>
              <a:rPr lang="es-CO" b="0" dirty="0" smtClean="0">
                <a:latin typeface="Arial" panose="020B0604020202020204" pitchFamily="34" charset="0"/>
                <a:cs typeface="Arial" panose="020B0604020202020204" pitchFamily="34" charset="0"/>
              </a:rPr>
              <a:t>(1)</a:t>
            </a:r>
            <a:endParaRPr lang="es-CO" b="0" dirty="0">
              <a:latin typeface="Arial" panose="020B0604020202020204" pitchFamily="34" charset="0"/>
              <a:cs typeface="Arial" panose="020B0604020202020204" pitchFamily="34" charset="0"/>
            </a:endParaRPr>
          </a:p>
          <a:p>
            <a:r>
              <a:rPr lang="es-CO" b="0" dirty="0" smtClean="0">
                <a:latin typeface="Arial" panose="020B0604020202020204" pitchFamily="34" charset="0"/>
                <a:cs typeface="Arial" panose="020B0604020202020204" pitchFamily="34" charset="0"/>
              </a:rPr>
              <a:t>Esfenoides (1)</a:t>
            </a:r>
            <a:endParaRPr lang="es-CO" b="0" dirty="0">
              <a:latin typeface="Arial" panose="020B0604020202020204" pitchFamily="34" charset="0"/>
              <a:cs typeface="Arial" panose="020B0604020202020204" pitchFamily="34" charset="0"/>
            </a:endParaRPr>
          </a:p>
          <a:p>
            <a:r>
              <a:rPr lang="es-CO" b="0" dirty="0" smtClean="0">
                <a:latin typeface="Arial" panose="020B0604020202020204" pitchFamily="34" charset="0"/>
                <a:cs typeface="Arial" panose="020B0604020202020204" pitchFamily="34" charset="0"/>
              </a:rPr>
              <a:t>Etmoides (1)</a:t>
            </a:r>
            <a:endParaRPr lang="es-CO" b="0" dirty="0">
              <a:latin typeface="Arial" panose="020B0604020202020204" pitchFamily="34" charset="0"/>
              <a:cs typeface="Arial" panose="020B0604020202020204" pitchFamily="34" charset="0"/>
            </a:endParaRPr>
          </a:p>
          <a:p>
            <a:endParaRPr lang="es-CO" b="0" dirty="0"/>
          </a:p>
          <a:p>
            <a:endParaRPr lang="es-CO" dirty="0"/>
          </a:p>
        </p:txBody>
      </p:sp>
      <p:pic>
        <p:nvPicPr>
          <p:cNvPr id="4" name="Marcador de contenido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81452" y="1502229"/>
            <a:ext cx="5643154" cy="461118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56216"/>
          </a:xfrm>
        </p:spPr>
        <p:txBody>
          <a:bodyPr>
            <a:normAutofit fontScale="85000" lnSpcReduction="20000"/>
          </a:bodyPr>
          <a:lstStyle/>
          <a:p>
            <a:r>
              <a:rPr lang="es-ES" dirty="0" smtClean="0"/>
              <a:t>HUESO FRONTAL</a:t>
            </a:r>
            <a:endParaRPr lang="es-ES" dirty="0" smtClean="0"/>
          </a:p>
          <a:p>
            <a:pPr algn="just"/>
            <a:r>
              <a:rPr lang="es-CO" altLang="es-CO" b="0" dirty="0" smtClean="0">
                <a:latin typeface="Arial" panose="020B0604020202020204" pitchFamily="34" charset="0"/>
              </a:rPr>
              <a:t>Zona ubicada da entre los ojos y las orejas</a:t>
            </a:r>
            <a:endParaRPr lang="es-CO" b="0" dirty="0"/>
          </a:p>
          <a:p>
            <a:pPr algn="just"/>
            <a:r>
              <a:rPr lang="es-CO" b="0" dirty="0" smtClean="0"/>
              <a:t>Hueso </a:t>
            </a:r>
            <a:r>
              <a:rPr lang="es-CO" b="0" dirty="0"/>
              <a:t>impar, simétrico y central </a:t>
            </a:r>
            <a:endParaRPr lang="es-CO" b="0" dirty="0"/>
          </a:p>
          <a:p>
            <a:pPr algn="just"/>
            <a:r>
              <a:rPr lang="es-CO" b="0" dirty="0" smtClean="0"/>
              <a:t>Tiene </a:t>
            </a:r>
            <a:r>
              <a:rPr lang="es-CO" b="0" dirty="0"/>
              <a:t>3 caras: anterior, posterior e inferior. </a:t>
            </a:r>
            <a:endParaRPr lang="es-CO" b="0" dirty="0"/>
          </a:p>
          <a:p>
            <a:pPr algn="just"/>
            <a:r>
              <a:rPr lang="es-CO" b="0" dirty="0" smtClean="0"/>
              <a:t>Tiene </a:t>
            </a:r>
            <a:r>
              <a:rPr lang="es-CO" b="0" dirty="0"/>
              <a:t>3 bordes: anterior, posterior y superior. </a:t>
            </a:r>
            <a:endParaRPr lang="es-CO" b="0" dirty="0"/>
          </a:p>
          <a:p>
            <a:pPr algn="just"/>
            <a:r>
              <a:rPr lang="es-CO" b="0" dirty="0" smtClean="0"/>
              <a:t>Protege </a:t>
            </a:r>
            <a:r>
              <a:rPr lang="es-CO" b="0" dirty="0"/>
              <a:t>al encéfalo y órganos de la </a:t>
            </a:r>
            <a:r>
              <a:rPr lang="es-CO" b="0" dirty="0" smtClean="0"/>
              <a:t>audición</a:t>
            </a:r>
            <a:endParaRPr lang="es-CO" b="0" dirty="0" smtClean="0"/>
          </a:p>
          <a:p>
            <a:pPr algn="just"/>
            <a:r>
              <a:rPr lang="es-ES" b="0" dirty="0"/>
              <a:t>FORMA </a:t>
            </a:r>
            <a:r>
              <a:rPr lang="es-ES" dirty="0" smtClean="0"/>
              <a:t>: </a:t>
            </a:r>
            <a:r>
              <a:rPr lang="es-ES" b="0" dirty="0" smtClean="0"/>
              <a:t>De </a:t>
            </a:r>
            <a:r>
              <a:rPr lang="es-ES" b="0" dirty="0"/>
              <a:t>concha o </a:t>
            </a:r>
            <a:r>
              <a:rPr lang="es-ES" b="0" dirty="0" smtClean="0"/>
              <a:t>abanico, es </a:t>
            </a:r>
            <a:r>
              <a:rPr lang="es-ES" b="0" dirty="0"/>
              <a:t>un hueso neumatico</a:t>
            </a:r>
            <a:endParaRPr lang="es-ES" b="0" dirty="0"/>
          </a:p>
          <a:p>
            <a:pPr algn="just"/>
            <a:endParaRPr lang="es-CO" b="0" dirty="0"/>
          </a:p>
          <a:p>
            <a:pPr lvl="0" algn="just" eaLnBrk="0" fontAlgn="base" hangingPunct="0">
              <a:lnSpc>
                <a:spcPct val="100000"/>
              </a:lnSpc>
              <a:spcBef>
                <a:spcPct val="0"/>
              </a:spcBef>
              <a:spcAft>
                <a:spcPct val="0"/>
              </a:spcAft>
            </a:pPr>
            <a:endParaRPr lang="es-CO" altLang="es-CO" b="0" dirty="0">
              <a:latin typeface="Arial" panose="020B0604020202020204" pitchFamily="34" charset="0"/>
            </a:endParaRPr>
          </a:p>
          <a:p>
            <a:r>
              <a:rPr lang="es-CO" b="0" dirty="0" smtClean="0"/>
              <a:t> </a:t>
            </a:r>
            <a:endParaRPr lang="es-CO" b="0" dirty="0" smtClean="0"/>
          </a:p>
          <a:p>
            <a:endParaRPr lang="es-ES" dirty="0" smtClean="0"/>
          </a:p>
          <a:p>
            <a:r>
              <a:rPr lang="es-ES" dirty="0" smtClean="0"/>
              <a:t> </a:t>
            </a:r>
            <a:endParaRPr lang="es-CO"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69279"/>
          </a:xfrm>
        </p:spPr>
        <p:txBody>
          <a:bodyPr/>
          <a:lstStyle/>
          <a:p>
            <a:pPr algn="just"/>
            <a:r>
              <a:rPr lang="es-CO" b="0" dirty="0"/>
              <a:t>Ubicación: </a:t>
            </a:r>
            <a:endParaRPr lang="es-CO" b="0" dirty="0" smtClean="0"/>
          </a:p>
          <a:p>
            <a:pPr algn="just"/>
            <a:r>
              <a:rPr lang="es-CO" b="0" dirty="0" smtClean="0"/>
              <a:t>Localizado </a:t>
            </a:r>
            <a:r>
              <a:rPr lang="es-CO" b="0" dirty="0"/>
              <a:t>en la porción anterior del cráneo. Superior al macizo </a:t>
            </a:r>
            <a:endParaRPr lang="es-CO" b="0" dirty="0"/>
          </a:p>
          <a:p>
            <a:pPr algn="just"/>
            <a:r>
              <a:rPr lang="es-CO" b="0" dirty="0"/>
              <a:t>facial. </a:t>
            </a:r>
            <a:endParaRPr lang="es-CO" b="0" dirty="0"/>
          </a:p>
          <a:p>
            <a:pPr algn="just"/>
            <a:r>
              <a:rPr lang="es-CO" b="0" dirty="0"/>
              <a:t>Presenta dos caras</a:t>
            </a:r>
            <a:r>
              <a:rPr lang="es-CO" b="0" dirty="0" smtClean="0"/>
              <a:t>:</a:t>
            </a:r>
            <a:endParaRPr lang="es-CO" b="0" dirty="0" smtClean="0"/>
          </a:p>
          <a:p>
            <a:pPr marL="514350" indent="-514350" algn="just">
              <a:buAutoNum type="alphaLcParenR"/>
            </a:pPr>
            <a:r>
              <a:rPr lang="es-CO" b="0" dirty="0" smtClean="0"/>
              <a:t>posterior </a:t>
            </a:r>
            <a:r>
              <a:rPr lang="es-CO" b="0" dirty="0"/>
              <a:t>y cóncava, es la cara interna también </a:t>
            </a:r>
            <a:r>
              <a:rPr lang="es-CO" b="0" dirty="0" smtClean="0"/>
              <a:t>conocida como endocraneal </a:t>
            </a:r>
            <a:r>
              <a:rPr lang="es-CO" b="0" dirty="0"/>
              <a:t>o cerebral. </a:t>
            </a:r>
            <a:endParaRPr lang="es-CO" b="0" dirty="0" smtClean="0"/>
          </a:p>
          <a:p>
            <a:pPr marL="514350" indent="-514350" algn="just">
              <a:buAutoNum type="alphaLcParenR"/>
            </a:pPr>
            <a:r>
              <a:rPr lang="es-CO" b="0" dirty="0" smtClean="0"/>
              <a:t> </a:t>
            </a:r>
            <a:r>
              <a:rPr lang="es-CO" b="0" dirty="0"/>
              <a:t>Anterior, angulosa y proyectada </a:t>
            </a:r>
            <a:r>
              <a:rPr lang="es-CO" b="0" dirty="0" smtClean="0"/>
              <a:t>hacia </a:t>
            </a:r>
            <a:r>
              <a:rPr lang="es-CO" b="0" dirty="0"/>
              <a:t>adelante, es la cara externa también conocida como exocraneal o </a:t>
            </a:r>
            <a:r>
              <a:rPr lang="es-CO" b="0" dirty="0" smtClean="0"/>
              <a:t>cutánea</a:t>
            </a:r>
            <a:r>
              <a:rPr lang="es-CO" b="0" dirty="0"/>
              <a:t>. </a:t>
            </a:r>
            <a:endParaRPr lang="es-CO" b="0" dirty="0"/>
          </a:p>
          <a:p>
            <a:pPr algn="just"/>
            <a:r>
              <a:rPr lang="es-CO" b="0" dirty="0"/>
              <a:t>Las dos caras se separan por el borde circunferencial</a:t>
            </a:r>
            <a:endParaRPr lang="es-CO" b="0" dirty="0"/>
          </a:p>
          <a:p>
            <a:pPr algn="just"/>
            <a:endParaRPr lang="es-CO" dirty="0"/>
          </a:p>
          <a:p>
            <a:pPr algn="just"/>
            <a:endParaRPr lang="es-CO"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2332" y="2037806"/>
            <a:ext cx="4096294" cy="4023360"/>
          </a:xfrm>
          <a:prstGeom prst="rect">
            <a:avLst/>
          </a:prstGeom>
        </p:spPr>
      </p:pic>
      <p:pic>
        <p:nvPicPr>
          <p:cNvPr id="8" name="Imagen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2080" y="1489167"/>
            <a:ext cx="6061166" cy="51206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7711" y="2495028"/>
            <a:ext cx="3513910" cy="3317967"/>
          </a:xfrm>
          <a:prstGeom prst="rect">
            <a:avLst/>
          </a:prstGeom>
        </p:spPr>
      </p:pic>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4961" y="1860665"/>
            <a:ext cx="3108960" cy="2757056"/>
          </a:xfrm>
          <a:prstGeom prst="rect">
            <a:avLst/>
          </a:prstGeom>
        </p:spPr>
      </p:pic>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6354" y="3135086"/>
            <a:ext cx="3070044" cy="29652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82341"/>
          </a:xfrm>
        </p:spPr>
        <p:txBody>
          <a:bodyPr/>
          <a:lstStyle/>
          <a:p>
            <a:r>
              <a:rPr lang="es-ES" dirty="0" smtClean="0"/>
              <a:t>HUESO PARIETAL</a:t>
            </a:r>
            <a:endParaRPr lang="es-ES" dirty="0" smtClean="0"/>
          </a:p>
          <a:p>
            <a:pPr algn="just"/>
            <a:r>
              <a:rPr lang="es-CO" b="0" dirty="0" smtClean="0"/>
              <a:t>Aquello que estaba relacionado con la pared, </a:t>
            </a:r>
            <a:r>
              <a:rPr lang="es-CO" dirty="0" smtClean="0"/>
              <a:t>“parietalis”.</a:t>
            </a:r>
            <a:endParaRPr lang="es-CO" dirty="0" smtClean="0"/>
          </a:p>
          <a:p>
            <a:pPr algn="just"/>
            <a:r>
              <a:rPr lang="es-ES" dirty="0" smtClean="0"/>
              <a:t>E</a:t>
            </a:r>
            <a:r>
              <a:rPr lang="es-CO" b="0" dirty="0" smtClean="0"/>
              <a:t>s una estructura firme y resistente del </a:t>
            </a:r>
            <a:r>
              <a:rPr lang="es-CO" dirty="0" smtClean="0"/>
              <a:t>cráneo</a:t>
            </a:r>
            <a:r>
              <a:rPr lang="es-CO" b="0" dirty="0" smtClean="0"/>
              <a:t>, que tiene como rasgo característico ser </a:t>
            </a:r>
            <a:r>
              <a:rPr lang="es-CO" dirty="0" smtClean="0"/>
              <a:t>aplanado</a:t>
            </a:r>
            <a:r>
              <a:rPr lang="es-CO" b="0" dirty="0" smtClean="0"/>
              <a:t> y con parecido a una figura cuadrada. </a:t>
            </a:r>
            <a:endParaRPr lang="es-CO" b="0" dirty="0" smtClean="0"/>
          </a:p>
          <a:p>
            <a:pPr algn="just"/>
            <a:r>
              <a:rPr lang="es-CO" b="0" dirty="0" smtClean="0"/>
              <a:t>En la cavidad craneal podemos encontrar </a:t>
            </a:r>
            <a:r>
              <a:rPr lang="es-CO" dirty="0" smtClean="0"/>
              <a:t>dos parietales</a:t>
            </a:r>
            <a:r>
              <a:rPr lang="es-CO" b="0" dirty="0" smtClean="0"/>
              <a:t>, situados cada uno, a un lado de la línea o sutura que divide en dos partes a los huesos de la cabeza. </a:t>
            </a:r>
            <a:endParaRPr lang="es-CO" b="0" dirty="0" smtClean="0"/>
          </a:p>
          <a:p>
            <a:pPr algn="just"/>
            <a:r>
              <a:rPr lang="es-CO" b="0" dirty="0" smtClean="0"/>
              <a:t>Cada </a:t>
            </a:r>
            <a:r>
              <a:rPr lang="es-CO" b="0" dirty="0"/>
              <a:t>hueso tiene una forma aproximada de cuadrilátero y tiene dos superficies, cuatro bordes y cuatro ángulos. </a:t>
            </a:r>
            <a:endParaRPr lang="es-CO" b="0" dirty="0"/>
          </a:p>
          <a:p>
            <a:pPr algn="just"/>
            <a:endParaRPr lang="es-CO" b="0" dirty="0" smtClean="0"/>
          </a:p>
          <a:p>
            <a:pPr algn="just"/>
            <a:endParaRPr lang="es-CO" b="0" dirty="0" smtClean="0"/>
          </a:p>
          <a:p>
            <a:endParaRPr lang="es-CO" b="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smtClean="0"/>
              <a:t>Cuando </a:t>
            </a:r>
            <a:r>
              <a:rPr lang="es-CO" b="0" dirty="0"/>
              <a:t>se unen entre sí en una </a:t>
            </a:r>
            <a:r>
              <a:rPr lang="es-CO" b="0" dirty="0">
                <a:hlinkClick r:id="rId1" tooltip="Articulación fibrosa"/>
              </a:rPr>
              <a:t>articulación fibrosa</a:t>
            </a:r>
            <a:r>
              <a:rPr lang="es-CO" b="0" dirty="0"/>
              <a:t> , forman los lados y el techo del </a:t>
            </a:r>
            <a:r>
              <a:rPr lang="es-CO" b="0" dirty="0">
                <a:hlinkClick r:id="rId2" tooltip="Cráneo humano"/>
              </a:rPr>
              <a:t>cráneo</a:t>
            </a:r>
            <a:r>
              <a:rPr lang="es-CO" b="0" dirty="0"/>
              <a:t> . </a:t>
            </a:r>
            <a:r>
              <a:rPr lang="es-CO" b="0" dirty="0" smtClean="0"/>
              <a:t> </a:t>
            </a:r>
            <a:endParaRPr lang="es-CO" dirty="0"/>
          </a:p>
          <a:p>
            <a:pPr algn="just"/>
            <a:r>
              <a:rPr lang="es-CO" b="0" dirty="0" smtClean="0"/>
              <a:t>La </a:t>
            </a:r>
            <a:r>
              <a:rPr lang="es-CO" b="0" dirty="0"/>
              <a:t>mayor parte de cada </a:t>
            </a:r>
            <a:r>
              <a:rPr lang="es-CO" dirty="0"/>
              <a:t>hueso parietal</a:t>
            </a:r>
            <a:r>
              <a:rPr lang="es-CO" b="0" dirty="0"/>
              <a:t> forma la calvaria (bóveda craneal), mientras que la pequeña porción restante es un componente de la base del cráneo. </a:t>
            </a:r>
            <a:endParaRPr lang="es-CO" b="0" dirty="0" smtClean="0"/>
          </a:p>
          <a:p>
            <a:pPr algn="just"/>
            <a:r>
              <a:rPr lang="es-CO" b="0" dirty="0" smtClean="0"/>
              <a:t>La</a:t>
            </a:r>
            <a:r>
              <a:rPr lang="es-CO" b="0" dirty="0"/>
              <a:t> </a:t>
            </a:r>
            <a:r>
              <a:rPr lang="es-CO" dirty="0"/>
              <a:t>función</a:t>
            </a:r>
            <a:r>
              <a:rPr lang="es-CO" b="0" dirty="0"/>
              <a:t> </a:t>
            </a:r>
            <a:r>
              <a:rPr lang="es-CO" b="0" dirty="0" smtClean="0"/>
              <a:t>es </a:t>
            </a:r>
            <a:r>
              <a:rPr lang="es-CO" b="0" dirty="0"/>
              <a:t>proteger al encéfalo subyacente</a:t>
            </a:r>
            <a:r>
              <a:rPr lang="es-CO" b="0" dirty="0" smtClean="0"/>
              <a:t>.</a:t>
            </a:r>
            <a:endParaRPr lang="es-CO" b="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Ambos parietales, están localizados a los lados de la línea o sutura media del cráneo, y se encuentran en relación directa con los otros huesos de la cavidad craneal (frontal, occipital, temporal). </a:t>
            </a:r>
            <a:endParaRPr lang="es-CO" b="0" dirty="0" smtClean="0"/>
          </a:p>
          <a:p>
            <a:pPr algn="just"/>
            <a:endParaRPr lang="es-CO" b="0" dirty="0" smtClean="0"/>
          </a:p>
          <a:p>
            <a:pPr algn="just"/>
            <a:r>
              <a:rPr lang="es-CO" b="0" dirty="0" smtClean="0"/>
              <a:t>Está </a:t>
            </a:r>
            <a:r>
              <a:rPr lang="es-CO" b="0" dirty="0"/>
              <a:t>limitado por su parte anterior con el </a:t>
            </a:r>
            <a:r>
              <a:rPr lang="es-CO" u="sng" dirty="0">
                <a:hlinkClick r:id="rId1"/>
              </a:rPr>
              <a:t>hueso frontal</a:t>
            </a:r>
            <a:r>
              <a:rPr lang="es-CO" b="0" dirty="0"/>
              <a:t>, por su parte posterior articula con el </a:t>
            </a:r>
            <a:r>
              <a:rPr lang="es-CO" u="sng" dirty="0">
                <a:hlinkClick r:id="rId2"/>
              </a:rPr>
              <a:t>hueso occipital</a:t>
            </a:r>
            <a:r>
              <a:rPr lang="es-CO" b="0" dirty="0"/>
              <a:t> y en la parte superior se articula con el </a:t>
            </a:r>
            <a:r>
              <a:rPr lang="es-CO" dirty="0"/>
              <a:t>hueso temporal</a:t>
            </a:r>
            <a:r>
              <a:rPr lang="es-CO" dirty="0" smtClean="0"/>
              <a:t>.</a:t>
            </a:r>
            <a:endParaRPr lang="es-CO"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7646" y="2063931"/>
            <a:ext cx="4428307" cy="3958046"/>
          </a:xfrm>
          <a:prstGeom prst="rect">
            <a:avLst/>
          </a:prstGeom>
        </p:spPr>
      </p:pic>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2526" y="1962150"/>
            <a:ext cx="5682343" cy="4229644"/>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1155" y="2319609"/>
            <a:ext cx="3827418" cy="3336608"/>
          </a:xfrm>
          <a:prstGeom prst="rect">
            <a:avLst/>
          </a:prstGeom>
        </p:spPr>
      </p:pic>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7371" y="2319609"/>
            <a:ext cx="4114800" cy="304922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621530"/>
          </a:xfrm>
        </p:spPr>
        <p:txBody>
          <a:bodyPr/>
          <a:lstStyle/>
          <a:p>
            <a:r>
              <a:rPr lang="es-ES" dirty="0" smtClean="0"/>
              <a:t>HUESO TEMPORAL</a:t>
            </a:r>
            <a:endParaRPr lang="es-ES" dirty="0" smtClean="0"/>
          </a:p>
          <a:p>
            <a:endParaRPr lang="es-ES" dirty="0" smtClean="0"/>
          </a:p>
          <a:p>
            <a:pPr algn="just"/>
            <a:r>
              <a:rPr lang="es-CO" b="0" dirty="0"/>
              <a:t>Es una </a:t>
            </a:r>
            <a:r>
              <a:rPr lang="es-CO" dirty="0"/>
              <a:t>estructura ósea </a:t>
            </a:r>
            <a:r>
              <a:rPr lang="es-CO" b="0" dirty="0"/>
              <a:t>que se comienza a formar incluso antes del parto, es decir, durante el tiempo del desarrollo del feto</a:t>
            </a:r>
            <a:r>
              <a:rPr lang="es-CO" b="0" dirty="0" smtClean="0"/>
              <a:t>.</a:t>
            </a:r>
            <a:endParaRPr lang="es-CO" b="0" dirty="0" smtClean="0"/>
          </a:p>
          <a:p>
            <a:pPr algn="just"/>
            <a:r>
              <a:rPr lang="es-CO" b="0" dirty="0" smtClean="0"/>
              <a:t>Tiene </a:t>
            </a:r>
            <a:r>
              <a:rPr lang="es-CO" b="0" dirty="0"/>
              <a:t>una forma irregular, y se encuentra dividido en 3 porciones, cada segmento </a:t>
            </a:r>
            <a:r>
              <a:rPr lang="es-CO" b="0" dirty="0" smtClean="0"/>
              <a:t>constituye </a:t>
            </a:r>
            <a:r>
              <a:rPr lang="es-CO" b="0" dirty="0"/>
              <a:t>una parte importante para la </a:t>
            </a:r>
            <a:r>
              <a:rPr lang="es-CO" dirty="0"/>
              <a:t>anatomía del hueso</a:t>
            </a:r>
            <a:r>
              <a:rPr lang="es-CO" b="0" dirty="0" smtClean="0"/>
              <a:t>.</a:t>
            </a:r>
            <a:endParaRPr lang="es-CO" b="0" dirty="0" smtClean="0"/>
          </a:p>
          <a:p>
            <a:pPr algn="just"/>
            <a:r>
              <a:rPr lang="es-CO" b="0" dirty="0"/>
              <a:t>Está localizado en la </a:t>
            </a:r>
            <a:r>
              <a:rPr lang="es-CO" dirty="0"/>
              <a:t>cavidad craneal</a:t>
            </a:r>
            <a:r>
              <a:rPr lang="es-CO" b="0" dirty="0"/>
              <a:t>, justamente en el área inferior y lateral. Además se ubica</a:t>
            </a:r>
            <a:r>
              <a:rPr lang="es-CO" dirty="0"/>
              <a:t> </a:t>
            </a:r>
            <a:r>
              <a:rPr lang="es-CO" b="0" dirty="0"/>
              <a:t>cercano al</a:t>
            </a:r>
            <a:r>
              <a:rPr lang="es-CO" dirty="0"/>
              <a:t> </a:t>
            </a:r>
            <a:r>
              <a:rPr lang="es-CO" b="0" dirty="0"/>
              <a:t>esfenoides, occipital y el parietal.</a:t>
            </a:r>
            <a:endParaRPr lang="es-CO"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007576"/>
          </a:xfrm>
        </p:spPr>
        <p:txBody>
          <a:bodyPr/>
          <a:lstStyle/>
          <a:p>
            <a:pPr algn="just"/>
            <a:r>
              <a:rPr lang="es-CO" b="0" dirty="0"/>
              <a:t>Al estar compuesto por diferentes porciones (escamosa, petrosa, mastoidea), encontramos la parte posterior del </a:t>
            </a:r>
            <a:r>
              <a:rPr lang="es-CO" u="sng" dirty="0">
                <a:hlinkClick r:id="rId1"/>
              </a:rPr>
              <a:t>músculo temporal</a:t>
            </a:r>
            <a:r>
              <a:rPr lang="es-CO" b="0" dirty="0"/>
              <a:t>, el tubérculo cigomático posterior, el cóndilo, diversos canales por los que transcurren la</a:t>
            </a:r>
            <a:r>
              <a:rPr lang="es-CO" dirty="0"/>
              <a:t> arteria temporal profunda posterior</a:t>
            </a:r>
            <a:r>
              <a:rPr lang="es-CO" b="0" dirty="0"/>
              <a:t> y ramas de la </a:t>
            </a:r>
            <a:r>
              <a:rPr lang="es-CO" dirty="0"/>
              <a:t>arteria meníngea media</a:t>
            </a:r>
            <a:r>
              <a:rPr lang="es-CO" b="0" dirty="0"/>
              <a:t>. Así mismo, encontramos la cisura petroescamosa y la cisura timpanoescamosa</a:t>
            </a:r>
            <a:r>
              <a:rPr lang="es-CO" b="0" dirty="0" smtClean="0"/>
              <a:t>.</a:t>
            </a:r>
            <a:endParaRPr lang="es-CO" b="0" dirty="0" smtClean="0"/>
          </a:p>
          <a:p>
            <a:pPr algn="just"/>
            <a:r>
              <a:rPr lang="es-CO" b="0" dirty="0" smtClean="0"/>
              <a:t>Se </a:t>
            </a:r>
            <a:r>
              <a:rPr lang="es-CO" b="0" dirty="0"/>
              <a:t>encarga de </a:t>
            </a:r>
            <a:r>
              <a:rPr lang="es-CO" dirty="0"/>
              <a:t>resguardar al cerebro</a:t>
            </a:r>
            <a:r>
              <a:rPr lang="es-CO" b="0" dirty="0"/>
              <a:t> frente a traumatismos y lesiones que vienen del medio exterior, y de mantener a salvo a todos los órganos que se encargan de la audición. </a:t>
            </a:r>
            <a:endParaRPr lang="es-CO"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C:\Users\rosana.martinez\Desktop\2.webp"/>
          <p:cNvSpPr>
            <a:spLocks noGrp="1" noChangeAspect="1" noChangeArrowheads="1"/>
          </p:cNvSpPr>
          <p:nvPr>
            <p:ph type="body" idx="1"/>
          </p:nvPr>
        </p:nvSpPr>
        <p:spPr bwMode="auto">
          <a:xfrm>
            <a:off x="496888" y="1962149"/>
            <a:ext cx="11199812" cy="47260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s-ES" dirty="0" smtClean="0"/>
          </a:p>
          <a:p>
            <a:endParaRPr lang="es-CO" dirty="0"/>
          </a:p>
        </p:txBody>
      </p:sp>
      <p:sp>
        <p:nvSpPr>
          <p:cNvPr id="6" name="AutoShape 6" descr="C:\Users\rosana.martinez\Desktop\2.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s-CO"/>
          </a:p>
        </p:txBody>
      </p:sp>
      <p:pic>
        <p:nvPicPr>
          <p:cNvPr id="8" name="Imagen 7"/>
          <p:cNvPicPr>
            <a:picLocks noChangeAspect="1"/>
          </p:cNvPicPr>
          <p:nvPr/>
        </p:nvPicPr>
        <p:blipFill>
          <a:blip r:embed="rId1"/>
          <a:stretch>
            <a:fillRect/>
          </a:stretch>
        </p:blipFill>
        <p:spPr>
          <a:xfrm>
            <a:off x="1119053" y="1962149"/>
            <a:ext cx="3400696" cy="3879669"/>
          </a:xfrm>
          <a:prstGeom prst="rect">
            <a:avLst/>
          </a:prstGeom>
        </p:spPr>
      </p:pic>
      <p:pic>
        <p:nvPicPr>
          <p:cNvPr id="11" name="Imagen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3337" y="1567542"/>
            <a:ext cx="5904411" cy="399723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71109" y="2142309"/>
            <a:ext cx="5313022" cy="41148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56216"/>
          </a:xfrm>
        </p:spPr>
        <p:txBody>
          <a:bodyPr>
            <a:normAutofit lnSpcReduction="10000"/>
          </a:bodyPr>
          <a:lstStyle/>
          <a:p>
            <a:r>
              <a:rPr lang="es-ES" dirty="0" smtClean="0"/>
              <a:t>HUESO OCCIPITAL</a:t>
            </a:r>
            <a:endParaRPr lang="es-ES" dirty="0" smtClean="0"/>
          </a:p>
          <a:p>
            <a:pPr algn="just"/>
            <a:r>
              <a:rPr lang="es-ES" dirty="0" smtClean="0"/>
              <a:t>Z</a:t>
            </a:r>
            <a:r>
              <a:rPr lang="es-CO" dirty="0" smtClean="0"/>
              <a:t>ona </a:t>
            </a:r>
            <a:r>
              <a:rPr lang="es-CO" dirty="0"/>
              <a:t>postero-superior del cuello</a:t>
            </a:r>
            <a:r>
              <a:rPr lang="es-CO" b="0" dirty="0"/>
              <a:t>, conocida comúnmente como </a:t>
            </a:r>
            <a:r>
              <a:rPr lang="es-CO" dirty="0"/>
              <a:t>nuca</a:t>
            </a:r>
            <a:r>
              <a:rPr lang="es-CO" b="0" dirty="0"/>
              <a:t>. </a:t>
            </a:r>
            <a:endParaRPr lang="es-ES" dirty="0" smtClean="0"/>
          </a:p>
          <a:p>
            <a:pPr algn="just"/>
            <a:endParaRPr lang="es-CO" b="0" dirty="0" smtClean="0"/>
          </a:p>
          <a:p>
            <a:pPr algn="just"/>
            <a:r>
              <a:rPr lang="es-CO" b="0" dirty="0" smtClean="0"/>
              <a:t>Es </a:t>
            </a:r>
            <a:r>
              <a:rPr lang="es-CO" b="0" dirty="0"/>
              <a:t>un elemento óseo que forma una parte importante del </a:t>
            </a:r>
            <a:r>
              <a:rPr lang="es-CO" dirty="0"/>
              <a:t>cráneo</a:t>
            </a:r>
            <a:r>
              <a:rPr lang="es-CO" b="0" dirty="0"/>
              <a:t>, este hueso está acompañado del </a:t>
            </a:r>
            <a:r>
              <a:rPr lang="es-CO" dirty="0"/>
              <a:t>parietal, frontal, temporal, etmoides y del esfenoides</a:t>
            </a:r>
            <a:r>
              <a:rPr lang="es-CO" b="0" dirty="0"/>
              <a:t>. </a:t>
            </a:r>
            <a:endParaRPr lang="es-CO" b="0" dirty="0" smtClean="0"/>
          </a:p>
          <a:p>
            <a:pPr algn="just"/>
            <a:endParaRPr lang="es-CO" b="0" dirty="0" smtClean="0"/>
          </a:p>
          <a:p>
            <a:pPr algn="just"/>
            <a:r>
              <a:rPr lang="es-CO" b="0" dirty="0" smtClean="0"/>
              <a:t>Esta </a:t>
            </a:r>
            <a:r>
              <a:rPr lang="es-CO" b="0" dirty="0"/>
              <a:t>estructura, al igual que las otras zonas de la cavidad craneal, está compuesto por distintas porciones que se unen para formar la totalidad del </a:t>
            </a:r>
            <a:r>
              <a:rPr lang="es-CO" dirty="0"/>
              <a:t>occipital</a:t>
            </a:r>
            <a:r>
              <a:rPr lang="es-CO" b="0" dirty="0" smtClean="0"/>
              <a:t>.</a:t>
            </a:r>
            <a:endParaRPr lang="es-CO" b="0"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Cuando ya se es adulto, el occipital termina de fusionar sus 4 partes, estas son la </a:t>
            </a:r>
            <a:r>
              <a:rPr lang="es-CO" dirty="0"/>
              <a:t>apófisis basilar</a:t>
            </a:r>
            <a:r>
              <a:rPr lang="es-CO" b="0" dirty="0"/>
              <a:t>, las </a:t>
            </a:r>
            <a:r>
              <a:rPr lang="es-CO" dirty="0"/>
              <a:t>masas laterales</a:t>
            </a:r>
            <a:r>
              <a:rPr lang="es-CO" b="0" dirty="0"/>
              <a:t> y la </a:t>
            </a:r>
            <a:r>
              <a:rPr lang="es-CO" dirty="0"/>
              <a:t>escama occipital</a:t>
            </a:r>
            <a:r>
              <a:rPr lang="es-CO" b="0" dirty="0"/>
              <a:t>, y es así que se forma el orificio o </a:t>
            </a:r>
            <a:r>
              <a:rPr lang="es-CO" u="sng" dirty="0">
                <a:hlinkClick r:id="rId1"/>
              </a:rPr>
              <a:t>agujero occipital.</a:t>
            </a:r>
            <a:endParaRPr lang="es-CO" b="0" dirty="0"/>
          </a:p>
          <a:p>
            <a:pPr algn="just"/>
            <a:endParaRPr lang="es-CO" b="0" dirty="0" smtClean="0"/>
          </a:p>
          <a:p>
            <a:pPr algn="just"/>
            <a:r>
              <a:rPr lang="es-CO" b="0" dirty="0" smtClean="0"/>
              <a:t>En </a:t>
            </a:r>
            <a:r>
              <a:rPr lang="es-CO" b="0" dirty="0"/>
              <a:t>la </a:t>
            </a:r>
            <a:r>
              <a:rPr lang="es-CO" dirty="0"/>
              <a:t>apófisis basilar</a:t>
            </a:r>
            <a:r>
              <a:rPr lang="es-CO" b="0" dirty="0"/>
              <a:t> se ubican una cara exocraneal en la que encontramos al tubérculo faríngeo y la cara endocraneal la cual en anatomía es importante porque se relaciona directamente con la </a:t>
            </a:r>
            <a:r>
              <a:rPr lang="es-CO" dirty="0"/>
              <a:t>protuberancia anular.</a:t>
            </a:r>
            <a:endParaRPr lang="es-CO" b="0" dirty="0"/>
          </a:p>
          <a:p>
            <a:pPr algn="just"/>
            <a:endParaRPr lang="es-CO"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smtClean="0"/>
              <a:t>LOCALISACIÓN</a:t>
            </a:r>
            <a:endParaRPr lang="es-CO" b="0" dirty="0" smtClean="0"/>
          </a:p>
          <a:p>
            <a:pPr algn="just"/>
            <a:r>
              <a:rPr lang="es-CO" b="0" dirty="0" smtClean="0"/>
              <a:t>Zona </a:t>
            </a:r>
            <a:r>
              <a:rPr lang="es-CO" b="0" dirty="0"/>
              <a:t>postero-inferior del cráneo y tiene un rasgo muy </a:t>
            </a:r>
            <a:r>
              <a:rPr lang="es-CO" b="0" dirty="0" smtClean="0"/>
              <a:t>característico</a:t>
            </a:r>
            <a:endParaRPr lang="es-CO" b="0" dirty="0" smtClean="0"/>
          </a:p>
          <a:p>
            <a:pPr algn="just"/>
            <a:r>
              <a:rPr lang="es-CO" b="0" dirty="0" smtClean="0"/>
              <a:t>FORMA</a:t>
            </a:r>
            <a:endParaRPr lang="es-CO" b="0" dirty="0" smtClean="0"/>
          </a:p>
          <a:p>
            <a:pPr algn="just"/>
            <a:r>
              <a:rPr lang="es-CO" b="0" dirty="0" smtClean="0"/>
              <a:t>Polígono </a:t>
            </a:r>
            <a:r>
              <a:rPr lang="es-CO" b="0" dirty="0"/>
              <a:t>y un </a:t>
            </a:r>
            <a:r>
              <a:rPr lang="es-CO" dirty="0"/>
              <a:t>agujero</a:t>
            </a:r>
            <a:r>
              <a:rPr lang="es-CO" b="0" dirty="0"/>
              <a:t>, llamado </a:t>
            </a:r>
            <a:r>
              <a:rPr lang="es-CO" dirty="0"/>
              <a:t>foramen magnum</a:t>
            </a:r>
            <a:r>
              <a:rPr lang="es-CO" b="0" dirty="0"/>
              <a:t>, por el que transitan distintos elementos nerviosos. </a:t>
            </a:r>
            <a:endParaRPr lang="es-CO"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621530"/>
          </a:xfrm>
        </p:spPr>
        <p:txBody>
          <a:bodyPr/>
          <a:lstStyle/>
          <a:p>
            <a:r>
              <a:rPr lang="es-CO" dirty="0" smtClean="0"/>
              <a:t>FUNCION</a:t>
            </a:r>
            <a:endParaRPr lang="es-CO" dirty="0"/>
          </a:p>
          <a:p>
            <a:pPr algn="just"/>
            <a:r>
              <a:rPr lang="es-CO" b="0" dirty="0"/>
              <a:t>En el centro de este hueso, encontramos un agujero, conocido como </a:t>
            </a:r>
            <a:r>
              <a:rPr lang="es-CO" dirty="0"/>
              <a:t>foramen magnum</a:t>
            </a:r>
            <a:r>
              <a:rPr lang="es-CO" b="0" dirty="0"/>
              <a:t>, por el cual transcurren los diferentes elementos del sistema nervioso, como es el caso del </a:t>
            </a:r>
            <a:r>
              <a:rPr lang="es-CO" dirty="0"/>
              <a:t>bulbo raquídeo.</a:t>
            </a:r>
            <a:r>
              <a:rPr lang="es-CO" b="0" dirty="0"/>
              <a:t> Además se encarga de que se pueda mantener la comunicación entre el cráneo con el </a:t>
            </a:r>
            <a:r>
              <a:rPr lang="es-CO" dirty="0"/>
              <a:t>agujero raquídeo o espinal</a:t>
            </a:r>
            <a:r>
              <a:rPr lang="es-CO" b="0" dirty="0"/>
              <a:t>, es decir, que permite que los nervios y arterias sean transferidos al resto del cuerpo.</a:t>
            </a:r>
            <a:endParaRPr lang="es-CO" b="0" dirty="0"/>
          </a:p>
          <a:p>
            <a:pPr algn="just"/>
            <a:r>
              <a:rPr lang="es-CO" b="0" dirty="0" smtClean="0"/>
              <a:t>Así </a:t>
            </a:r>
            <a:r>
              <a:rPr lang="es-CO" b="0" dirty="0"/>
              <a:t>mismo, por dentro de la cavidad craneal, específicamente por la </a:t>
            </a:r>
            <a:r>
              <a:rPr lang="es-CO" dirty="0"/>
              <a:t>parte interna del occipital,</a:t>
            </a:r>
            <a:r>
              <a:rPr lang="es-CO" b="0" dirty="0"/>
              <a:t> encontramos el </a:t>
            </a:r>
            <a:r>
              <a:rPr lang="es-CO" dirty="0"/>
              <a:t>lóbulo occipital</a:t>
            </a:r>
            <a:r>
              <a:rPr lang="es-CO" b="0" dirty="0"/>
              <a:t>, el cual posee funciones importantes para la visión.</a:t>
            </a:r>
            <a:endParaRPr lang="es-CO" b="0" dirty="0"/>
          </a:p>
          <a:p>
            <a:pPr algn="just"/>
            <a:endParaRPr lang="es-CO"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b="0" i="1" dirty="0"/>
              <a:t>El agujero occipital sirve como un canal para el tránsito del nervio espinal y del sistema arterial”</a:t>
            </a:r>
            <a:endParaRPr lang="es-CO"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53743" y="1907177"/>
            <a:ext cx="3897880" cy="3814354"/>
          </a:xfrm>
          <a:prstGeom prst="rect">
            <a:avLst/>
          </a:prstGeom>
        </p:spPr>
      </p:pic>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029" y="1802674"/>
            <a:ext cx="5289165" cy="459812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73780" y="1817914"/>
            <a:ext cx="5410200" cy="392974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673781"/>
          </a:xfrm>
        </p:spPr>
        <p:txBody>
          <a:bodyPr/>
          <a:lstStyle/>
          <a:p>
            <a:r>
              <a:rPr lang="es-ES" dirty="0" smtClean="0"/>
              <a:t>HUESO ESFENOIDES</a:t>
            </a:r>
            <a:endParaRPr lang="es-ES" dirty="0" smtClean="0"/>
          </a:p>
          <a:p>
            <a:pPr algn="just"/>
            <a:r>
              <a:rPr lang="es-CO" b="0" dirty="0" smtClean="0"/>
              <a:t>Es </a:t>
            </a:r>
            <a:r>
              <a:rPr lang="es-CO" b="0" dirty="0"/>
              <a:t>un único hueso, tipo plano, que se encuentra en la cabeza y que forma parte de las estructuras firmes del cráneo. </a:t>
            </a:r>
            <a:endParaRPr lang="es-CO" b="0" dirty="0" smtClean="0"/>
          </a:p>
          <a:p>
            <a:pPr algn="just"/>
            <a:r>
              <a:rPr lang="es-CO" b="0" dirty="0" smtClean="0"/>
              <a:t>Cuando </a:t>
            </a:r>
            <a:r>
              <a:rPr lang="es-CO" b="0" dirty="0"/>
              <a:t>describimos a este hueso, nos damos cuenta que posee un cuerpo, con 6 perfiles o caras, y del cual provienen 3 apófisis o prominencias óseas, conocidas como </a:t>
            </a:r>
            <a:r>
              <a:rPr lang="es-CO" dirty="0"/>
              <a:t>ala menor, mayor</a:t>
            </a:r>
            <a:r>
              <a:rPr lang="es-CO" b="0" dirty="0"/>
              <a:t> y otra denominada </a:t>
            </a:r>
            <a:r>
              <a:rPr lang="es-CO" dirty="0"/>
              <a:t>apófisis </a:t>
            </a:r>
            <a:r>
              <a:rPr lang="es-CO" dirty="0" smtClean="0"/>
              <a:t>pterigoides</a:t>
            </a:r>
            <a:endParaRPr lang="es-CO" dirty="0" smtClean="0"/>
          </a:p>
          <a:p>
            <a:pPr algn="just"/>
            <a:r>
              <a:rPr lang="es-CO" altLang="es-CO" b="0" dirty="0">
                <a:solidFill>
                  <a:srgbClr val="010101"/>
                </a:solidFill>
                <a:latin typeface="Roboto"/>
              </a:rPr>
              <a:t>Las </a:t>
            </a:r>
            <a:r>
              <a:rPr lang="es-CO" altLang="es-CO" dirty="0">
                <a:solidFill>
                  <a:srgbClr val="454545"/>
                </a:solidFill>
                <a:latin typeface="Roboto"/>
              </a:rPr>
              <a:t>alas menores</a:t>
            </a:r>
            <a:r>
              <a:rPr lang="es-CO" altLang="es-CO" b="0" dirty="0">
                <a:solidFill>
                  <a:srgbClr val="010101"/>
                </a:solidFill>
                <a:latin typeface="Roboto"/>
              </a:rPr>
              <a:t>, están localizadas en los laterales del cuerpo del esfenoides y están delimitadas superiormente por una zona llamada </a:t>
            </a:r>
            <a:r>
              <a:rPr lang="es-CO" altLang="es-CO" dirty="0">
                <a:solidFill>
                  <a:srgbClr val="454545"/>
                </a:solidFill>
                <a:latin typeface="Roboto"/>
              </a:rPr>
              <a:t>hendidura esfenoidal</a:t>
            </a:r>
            <a:r>
              <a:rPr lang="es-CO" altLang="es-CO" b="0" dirty="0">
                <a:solidFill>
                  <a:srgbClr val="010101"/>
                </a:solidFill>
                <a:latin typeface="Roboto"/>
              </a:rPr>
              <a:t>. Ahora bien, las </a:t>
            </a:r>
            <a:r>
              <a:rPr lang="es-CO" altLang="es-CO" dirty="0">
                <a:solidFill>
                  <a:srgbClr val="454545"/>
                </a:solidFill>
                <a:latin typeface="Roboto"/>
              </a:rPr>
              <a:t>alas mayores</a:t>
            </a:r>
            <a:r>
              <a:rPr lang="es-CO" altLang="es-CO" b="0" dirty="0">
                <a:solidFill>
                  <a:srgbClr val="010101"/>
                </a:solidFill>
                <a:latin typeface="Roboto"/>
              </a:rPr>
              <a:t> son más amplias y también se crean a partir del </a:t>
            </a:r>
            <a:r>
              <a:rPr lang="es-CO" altLang="es-CO" dirty="0">
                <a:solidFill>
                  <a:srgbClr val="454545"/>
                </a:solidFill>
                <a:latin typeface="Roboto"/>
              </a:rPr>
              <a:t>cuerpo esfenoidal.</a:t>
            </a:r>
            <a:endParaRPr lang="es-CO" altLang="es-CO" sz="2000" b="0" dirty="0"/>
          </a:p>
          <a:p>
            <a:pPr algn="just"/>
            <a:endParaRPr lang="es-CO" dirty="0" smtClean="0"/>
          </a:p>
          <a:p>
            <a:pPr algn="just"/>
            <a:endParaRPr lang="es-CO"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lvl="0" algn="just" eaLnBrk="0" fontAlgn="base" hangingPunct="0">
              <a:lnSpc>
                <a:spcPct val="100000"/>
              </a:lnSpc>
              <a:spcBef>
                <a:spcPct val="0"/>
              </a:spcBef>
              <a:spcAft>
                <a:spcPct val="0"/>
              </a:spcAft>
            </a:pPr>
            <a:r>
              <a:rPr lang="es-CO" altLang="es-CO" b="0" dirty="0" smtClean="0">
                <a:solidFill>
                  <a:srgbClr val="010101"/>
                </a:solidFill>
                <a:latin typeface="Roboto"/>
              </a:rPr>
              <a:t>En </a:t>
            </a:r>
            <a:r>
              <a:rPr lang="es-CO" altLang="es-CO" b="0" dirty="0">
                <a:solidFill>
                  <a:srgbClr val="010101"/>
                </a:solidFill>
                <a:latin typeface="Roboto"/>
              </a:rPr>
              <a:t>cada cara ubicamos distintas zonas que lo complementan. Los segmentos que resultan de mayor importancia, a parte de las alas mayores y menores, son el jugum esfenoidal situado en la zona superior, la cresta esfenoidal, el canal óptico, conducto óptico, las fosas nasales ubicadas en el área anterior del hueso, el tubérculo pituitario y la silla turca. </a:t>
            </a:r>
            <a:endParaRPr lang="es-CO" altLang="es-CO" sz="3600" dirty="0">
              <a:solidFill>
                <a:srgbClr val="004E56"/>
              </a:solidFill>
              <a:latin typeface="Montserrat"/>
            </a:endParaRPr>
          </a:p>
          <a:p>
            <a:endParaRPr lang="es-CO"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30090"/>
          </a:xfrm>
        </p:spPr>
        <p:txBody>
          <a:bodyPr/>
          <a:lstStyle/>
          <a:p>
            <a:r>
              <a:rPr lang="es-ES" b="0" dirty="0" smtClean="0"/>
              <a:t>UBICACION</a:t>
            </a:r>
            <a:endParaRPr lang="es-ES" b="0" dirty="0" smtClean="0"/>
          </a:p>
          <a:p>
            <a:pPr lvl="0" algn="just" eaLnBrk="0" fontAlgn="base" hangingPunct="0">
              <a:lnSpc>
                <a:spcPct val="100000"/>
              </a:lnSpc>
              <a:spcBef>
                <a:spcPct val="0"/>
              </a:spcBef>
              <a:spcAft>
                <a:spcPct val="0"/>
              </a:spcAft>
            </a:pPr>
            <a:r>
              <a:rPr lang="es-CO" altLang="es-CO" b="0" dirty="0">
                <a:solidFill>
                  <a:srgbClr val="010101"/>
                </a:solidFill>
                <a:latin typeface="Roboto"/>
              </a:rPr>
              <a:t>Ubicado en la cabeza, específicamente en la zona media de la base craneal, llamada </a:t>
            </a:r>
            <a:r>
              <a:rPr lang="es-CO" altLang="es-CO" dirty="0">
                <a:solidFill>
                  <a:srgbClr val="454545"/>
                </a:solidFill>
                <a:latin typeface="Roboto"/>
              </a:rPr>
              <a:t>esfenotemporal</a:t>
            </a:r>
            <a:r>
              <a:rPr lang="es-CO" altLang="es-CO" b="0" dirty="0">
                <a:solidFill>
                  <a:srgbClr val="010101"/>
                </a:solidFill>
                <a:latin typeface="Roboto"/>
              </a:rPr>
              <a:t>. </a:t>
            </a: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Así </a:t>
            </a:r>
            <a:r>
              <a:rPr lang="es-CO" altLang="es-CO" b="0" dirty="0">
                <a:solidFill>
                  <a:srgbClr val="010101"/>
                </a:solidFill>
                <a:latin typeface="Roboto"/>
              </a:rPr>
              <a:t>mismo, se encuentra justo en el medio de los huesos </a:t>
            </a:r>
            <a:r>
              <a:rPr lang="es-CO" altLang="es-CO" u="sng" dirty="0">
                <a:solidFill>
                  <a:srgbClr val="B61E1D"/>
                </a:solidFill>
                <a:latin typeface="Roboto"/>
                <a:hlinkClick r:id="rId1"/>
              </a:rPr>
              <a:t>etmoides</a:t>
            </a:r>
            <a:r>
              <a:rPr lang="es-CO" altLang="es-CO" b="0" dirty="0">
                <a:solidFill>
                  <a:srgbClr val="010101"/>
                </a:solidFill>
                <a:latin typeface="Roboto"/>
              </a:rPr>
              <a:t>, frontal, el hueso temporal y el hueso occipital que está posterior, que también forman parte de la anatomía del cráneo. </a:t>
            </a:r>
            <a:endParaRPr lang="es-CO" altLang="es-CO" sz="2000" b="0" dirty="0"/>
          </a:p>
          <a:p>
            <a:pPr lvl="0" algn="just" eaLnBrk="0" fontAlgn="base" hangingPunct="0">
              <a:lnSpc>
                <a:spcPct val="100000"/>
              </a:lnSpc>
              <a:spcBef>
                <a:spcPct val="0"/>
              </a:spcBef>
              <a:spcAft>
                <a:spcPct val="0"/>
              </a:spcAft>
            </a:pPr>
            <a:r>
              <a:rPr lang="es-CO" altLang="es-CO" sz="3600" b="0" i="1" dirty="0">
                <a:latin typeface="Arial" panose="020B0604020202020204" pitchFamily="34" charset="0"/>
              </a:rPr>
              <a:t>“Situado entre el hueso etmoides, frontal, occipital y temporal”</a:t>
            </a:r>
            <a:endParaRPr lang="es-CO"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634593"/>
          </a:xfrm>
        </p:spPr>
        <p:txBody>
          <a:bodyPr/>
          <a:lstStyle/>
          <a:p>
            <a:pPr lvl="0" algn="just" eaLnBrk="0" fontAlgn="base" hangingPunct="0">
              <a:lnSpc>
                <a:spcPct val="100000"/>
              </a:lnSpc>
              <a:spcBef>
                <a:spcPct val="0"/>
              </a:spcBef>
              <a:spcAft>
                <a:spcPct val="0"/>
              </a:spcAft>
            </a:pPr>
            <a:r>
              <a:rPr lang="es-CO" altLang="es-CO" b="0" dirty="0" smtClean="0">
                <a:solidFill>
                  <a:srgbClr val="010101"/>
                </a:solidFill>
              </a:rPr>
              <a:t>FUNCION</a:t>
            </a:r>
            <a:endParaRPr lang="es-CO" altLang="es-CO" b="0" dirty="0" smtClean="0">
              <a:solidFill>
                <a:srgbClr val="010101"/>
              </a:solidFill>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Ya </a:t>
            </a:r>
            <a:r>
              <a:rPr lang="es-CO" altLang="es-CO" b="0" dirty="0">
                <a:solidFill>
                  <a:srgbClr val="010101"/>
                </a:solidFill>
                <a:latin typeface="Roboto"/>
              </a:rPr>
              <a:t>que en el hueso esfenoides, se encuentra localizada la </a:t>
            </a:r>
            <a:r>
              <a:rPr lang="es-CO" altLang="es-CO" dirty="0">
                <a:solidFill>
                  <a:srgbClr val="454545"/>
                </a:solidFill>
                <a:latin typeface="Roboto"/>
              </a:rPr>
              <a:t>silla turca</a:t>
            </a:r>
            <a:r>
              <a:rPr lang="es-CO" altLang="es-CO" b="0" dirty="0">
                <a:solidFill>
                  <a:srgbClr val="010101"/>
                </a:solidFill>
                <a:latin typeface="Roboto"/>
              </a:rPr>
              <a:t>, la cual alberga a la </a:t>
            </a:r>
            <a:r>
              <a:rPr lang="es-CO" altLang="es-CO" dirty="0">
                <a:solidFill>
                  <a:srgbClr val="454545"/>
                </a:solidFill>
                <a:latin typeface="Roboto"/>
              </a:rPr>
              <a:t>glándula pituitaria</a:t>
            </a:r>
            <a:r>
              <a:rPr lang="es-CO" altLang="es-CO" b="0" dirty="0">
                <a:solidFill>
                  <a:srgbClr val="010101"/>
                </a:solidFill>
                <a:latin typeface="Roboto"/>
              </a:rPr>
              <a:t>, es que sirve como protector y base, para que esta estructura del sistema endocrinológico, pueda ejercer sus funciones específicas de regulación hormonal. Y que además, es parte importante de la bóveda que contiene a la nariz, que se encuentra en la parte inferior del hueso</a:t>
            </a:r>
            <a:r>
              <a:rPr lang="es-CO" altLang="es-CO" b="0" dirty="0" smtClean="0">
                <a:solidFill>
                  <a:srgbClr val="010101"/>
                </a:solidFill>
                <a:latin typeface="Roboto"/>
              </a:rPr>
              <a:t>.</a:t>
            </a:r>
            <a:endParaRPr lang="es-CO" altLang="es-CO" sz="2000" b="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8532" y="2340973"/>
            <a:ext cx="5091250" cy="3876947"/>
          </a:xfrm>
          <a:prstGeom prst="rect">
            <a:avLst/>
          </a:prstGeom>
        </p:spPr>
      </p:pic>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1875" y="2340973"/>
            <a:ext cx="3892732" cy="35895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Marcador de texto 10"/>
          <p:cNvSpPr>
            <a:spLocks noGrp="1"/>
          </p:cNvSpPr>
          <p:nvPr>
            <p:ph type="body" idx="1"/>
          </p:nvPr>
        </p:nvSpPr>
        <p:spPr>
          <a:xfrm>
            <a:off x="496888" y="1962149"/>
            <a:ext cx="11199812" cy="4033701"/>
          </a:xfrm>
        </p:spPr>
        <p:txBody>
          <a:bodyPr/>
          <a:lstStyle/>
          <a:p>
            <a:r>
              <a:rPr lang="es-ES" dirty="0" smtClean="0"/>
              <a:t>HUESO ETMOIDES</a:t>
            </a:r>
            <a:endParaRPr lang="es-ES" dirty="0" smtClean="0"/>
          </a:p>
          <a:p>
            <a:pPr algn="just"/>
            <a:r>
              <a:rPr lang="es-CO" b="0" dirty="0"/>
              <a:t>El </a:t>
            </a:r>
            <a:r>
              <a:rPr lang="es-CO" dirty="0"/>
              <a:t>etmoides</a:t>
            </a:r>
            <a:r>
              <a:rPr lang="es-CO" b="0" dirty="0"/>
              <a:t>, es un elemento óseo que está conformado por 2 </a:t>
            </a:r>
            <a:r>
              <a:rPr lang="es-CO" dirty="0"/>
              <a:t>láminas</a:t>
            </a:r>
            <a:r>
              <a:rPr lang="es-CO" b="0" dirty="0"/>
              <a:t> (lámina vertical y lámina horizontal o cribosa), y por dos partes conocidas como </a:t>
            </a:r>
            <a:r>
              <a:rPr lang="es-CO" dirty="0"/>
              <a:t>masas laterales</a:t>
            </a:r>
            <a:r>
              <a:rPr lang="es-CO" b="0" dirty="0"/>
              <a:t>. </a:t>
            </a:r>
            <a:endParaRPr lang="es-CO" b="0" dirty="0" smtClean="0"/>
          </a:p>
          <a:p>
            <a:pPr lvl="0" algn="just" eaLnBrk="0" fontAlgn="base" hangingPunct="0">
              <a:lnSpc>
                <a:spcPct val="100000"/>
              </a:lnSpc>
              <a:spcBef>
                <a:spcPct val="0"/>
              </a:spcBef>
              <a:spcAft>
                <a:spcPct val="0"/>
              </a:spcAft>
            </a:pPr>
            <a:r>
              <a:rPr lang="es-CO" altLang="es-CO" b="0" dirty="0">
                <a:solidFill>
                  <a:srgbClr val="010101"/>
                </a:solidFill>
                <a:latin typeface="Roboto"/>
              </a:rPr>
              <a:t>En la </a:t>
            </a:r>
            <a:r>
              <a:rPr lang="es-CO" altLang="es-CO" dirty="0">
                <a:solidFill>
                  <a:srgbClr val="454545"/>
                </a:solidFill>
                <a:latin typeface="Roboto"/>
              </a:rPr>
              <a:t>anatomía</a:t>
            </a:r>
            <a:r>
              <a:rPr lang="es-CO" altLang="es-CO" b="0" dirty="0">
                <a:solidFill>
                  <a:srgbClr val="010101"/>
                </a:solidFill>
                <a:latin typeface="Roboto"/>
              </a:rPr>
              <a:t> de este hueso, encontramos que superiormente se observan diversos surcos y celdas (agujero etmoidal, surco etmoidal, canal olfatorio y los conductos etmoidales), destinados al tránsito de diferentes estructuras. </a:t>
            </a:r>
            <a:endParaRPr lang="es-CO" altLang="es-CO" sz="2000" b="0" dirty="0"/>
          </a:p>
          <a:p>
            <a:endParaRPr lang="es-CO" dirty="0"/>
          </a:p>
          <a:p>
            <a:pPr algn="just"/>
            <a:endParaRPr lang="es-CO"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p:cNvSpPr>
            <a:spLocks noGrp="1"/>
          </p:cNvSpPr>
          <p:nvPr>
            <p:ph type="body" idx="1"/>
          </p:nvPr>
        </p:nvSpPr>
        <p:spPr>
          <a:xfrm>
            <a:off x="496888" y="1962149"/>
            <a:ext cx="11199812" cy="4608467"/>
          </a:xfrm>
        </p:spPr>
        <p:txBody>
          <a:bodyPr/>
          <a:lstStyle/>
          <a:p>
            <a:pPr algn="just" eaLnBrk="0" fontAlgn="base" hangingPunct="0">
              <a:lnSpc>
                <a:spcPct val="100000"/>
              </a:lnSpc>
              <a:spcBef>
                <a:spcPct val="0"/>
              </a:spcBef>
              <a:spcAft>
                <a:spcPct val="0"/>
              </a:spcAft>
            </a:pPr>
            <a:r>
              <a:rPr lang="es-CO" altLang="es-CO" b="0" dirty="0">
                <a:solidFill>
                  <a:srgbClr val="010101"/>
                </a:solidFill>
                <a:latin typeface="Roboto"/>
              </a:rPr>
              <a:t>De acuerdo, a los antiguos griegos, la palabra “ethmoiedes” es lo que se utiliza para nombrar a los objetos que tienen </a:t>
            </a:r>
            <a:r>
              <a:rPr lang="es-CO" altLang="es-CO" dirty="0">
                <a:solidFill>
                  <a:srgbClr val="454545"/>
                </a:solidFill>
                <a:latin typeface="Roboto"/>
              </a:rPr>
              <a:t>forma de criba</a:t>
            </a:r>
            <a:r>
              <a:rPr lang="es-CO" altLang="es-CO" b="0" dirty="0">
                <a:solidFill>
                  <a:srgbClr val="010101"/>
                </a:solidFill>
                <a:latin typeface="Roboto"/>
              </a:rPr>
              <a:t>. </a:t>
            </a:r>
            <a:endParaRPr lang="es-CO" altLang="es-CO" b="0" dirty="0" smtClean="0">
              <a:solidFill>
                <a:srgbClr val="010101"/>
              </a:solidFill>
              <a:latin typeface="Roboto"/>
            </a:endParaRPr>
          </a:p>
          <a:p>
            <a:pPr algn="just" eaLnBrk="0" fontAlgn="base" hangingPunct="0">
              <a:lnSpc>
                <a:spcPct val="100000"/>
              </a:lnSpc>
              <a:spcBef>
                <a:spcPct val="0"/>
              </a:spcBef>
              <a:spcAft>
                <a:spcPct val="0"/>
              </a:spcAft>
            </a:pPr>
            <a:r>
              <a:rPr lang="es-CO" altLang="es-CO" b="0" dirty="0" smtClean="0">
                <a:solidFill>
                  <a:srgbClr val="010101"/>
                </a:solidFill>
                <a:latin typeface="Roboto"/>
              </a:rPr>
              <a:t>La </a:t>
            </a:r>
            <a:r>
              <a:rPr lang="es-CO" altLang="es-CO" b="0" dirty="0">
                <a:solidFill>
                  <a:srgbClr val="010101"/>
                </a:solidFill>
                <a:latin typeface="Roboto"/>
              </a:rPr>
              <a:t>criba es un instrumento que era utilizado en la antigüedad para dejar sin sucio a los diminutos alimentos, conocidos como granos, y además se compara con el </a:t>
            </a:r>
            <a:r>
              <a:rPr lang="es-CO" altLang="es-CO" dirty="0">
                <a:solidFill>
                  <a:srgbClr val="454545"/>
                </a:solidFill>
                <a:latin typeface="Roboto"/>
              </a:rPr>
              <a:t>etmoides</a:t>
            </a:r>
            <a:r>
              <a:rPr lang="es-CO" altLang="es-CO" b="0" dirty="0">
                <a:solidFill>
                  <a:srgbClr val="010101"/>
                </a:solidFill>
                <a:latin typeface="Roboto"/>
              </a:rPr>
              <a:t> debido a la forma inusual y los agujeros que presenta este </a:t>
            </a:r>
            <a:r>
              <a:rPr lang="es-CO" altLang="es-CO" dirty="0">
                <a:solidFill>
                  <a:srgbClr val="454545"/>
                </a:solidFill>
                <a:latin typeface="Roboto"/>
              </a:rPr>
              <a:t>hueso</a:t>
            </a:r>
            <a:r>
              <a:rPr lang="es-CO" altLang="es-CO" b="0" dirty="0">
                <a:solidFill>
                  <a:srgbClr val="010101"/>
                </a:solidFill>
                <a:latin typeface="Roboto"/>
              </a:rPr>
              <a:t>. </a:t>
            </a:r>
            <a:endParaRPr lang="es-CO" altLang="es-CO" sz="3600" dirty="0">
              <a:solidFill>
                <a:srgbClr val="004E56"/>
              </a:solidFill>
              <a:latin typeface="Montserrat"/>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Así </a:t>
            </a:r>
            <a:r>
              <a:rPr lang="es-CO" altLang="es-CO" b="0" dirty="0">
                <a:solidFill>
                  <a:srgbClr val="010101"/>
                </a:solidFill>
                <a:latin typeface="Roboto"/>
              </a:rPr>
              <a:t>mismo, en los bordes se presentan unas incisiones por la que se </a:t>
            </a:r>
            <a:r>
              <a:rPr lang="es-CO" altLang="es-CO" dirty="0">
                <a:solidFill>
                  <a:srgbClr val="454545"/>
                </a:solidFill>
                <a:latin typeface="Roboto"/>
              </a:rPr>
              <a:t>transporta el </a:t>
            </a:r>
            <a:r>
              <a:rPr lang="es-CO" altLang="es-CO" u="sng" dirty="0">
                <a:solidFill>
                  <a:srgbClr val="B61E1D"/>
                </a:solidFill>
                <a:latin typeface="Roboto"/>
                <a:hlinkClick r:id="rId1"/>
              </a:rPr>
              <a:t>nervio motor ocular común</a:t>
            </a:r>
            <a:r>
              <a:rPr lang="es-CO" altLang="es-CO" b="0" dirty="0">
                <a:solidFill>
                  <a:srgbClr val="010101"/>
                </a:solidFill>
                <a:latin typeface="Roboto"/>
              </a:rPr>
              <a:t>, encargado de los movimientos de los ojos y párpados.</a:t>
            </a:r>
            <a:endParaRPr lang="es-CO" altLang="es-CO" sz="3600" b="0" dirty="0">
              <a:latin typeface="Arial" panose="020B0604020202020204" pitchFamily="34" charset="0"/>
            </a:endParaRPr>
          </a:p>
          <a:p>
            <a:endParaRPr lang="es-CO" dirty="0"/>
          </a:p>
          <a:p>
            <a:endParaRPr lang="es-CO"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43153"/>
          </a:xfrm>
        </p:spPr>
        <p:txBody>
          <a:bodyPr/>
          <a:lstStyle/>
          <a:p>
            <a:pPr algn="just"/>
            <a:r>
              <a:rPr lang="es-CO" altLang="es-CO" b="0" dirty="0" smtClean="0">
                <a:solidFill>
                  <a:srgbClr val="010101"/>
                </a:solidFill>
              </a:rPr>
              <a:t>UBICACION</a:t>
            </a:r>
            <a:endParaRPr lang="es-CO" altLang="es-CO" b="0" dirty="0" smtClean="0">
              <a:solidFill>
                <a:srgbClr val="010101"/>
              </a:solidFill>
            </a:endParaRPr>
          </a:p>
          <a:p>
            <a:pPr algn="just"/>
            <a:r>
              <a:rPr lang="es-CO" altLang="es-CO" dirty="0" smtClean="0">
                <a:solidFill>
                  <a:srgbClr val="454545"/>
                </a:solidFill>
                <a:latin typeface="Roboto"/>
              </a:rPr>
              <a:t>En bebóveda </a:t>
            </a:r>
            <a:r>
              <a:rPr lang="es-CO" altLang="es-CO" dirty="0">
                <a:solidFill>
                  <a:srgbClr val="454545"/>
                </a:solidFill>
                <a:latin typeface="Roboto"/>
              </a:rPr>
              <a:t>craneal</a:t>
            </a:r>
            <a:r>
              <a:rPr lang="es-CO" altLang="es-CO" b="0" dirty="0">
                <a:solidFill>
                  <a:srgbClr val="010101"/>
                </a:solidFill>
                <a:latin typeface="Roboto"/>
              </a:rPr>
              <a:t>, está limitado por el hueso frontal por su área inferior, y por la zona de adelante se encuentra la base craneal, la cual tiene la función de unirse con las estructuras óseas de la cara. </a:t>
            </a:r>
            <a:endParaRPr lang="es-CO" altLang="es-CO" b="0" dirty="0" smtClean="0">
              <a:solidFill>
                <a:srgbClr val="010101"/>
              </a:solidFill>
              <a:latin typeface="Roboto"/>
            </a:endParaRPr>
          </a:p>
          <a:p>
            <a:pPr algn="just"/>
            <a:r>
              <a:rPr lang="es-CO" altLang="es-CO" b="0" dirty="0" smtClean="0">
                <a:solidFill>
                  <a:srgbClr val="010101"/>
                </a:solidFill>
                <a:latin typeface="Roboto"/>
              </a:rPr>
              <a:t>Además</a:t>
            </a:r>
            <a:r>
              <a:rPr lang="es-CO" altLang="es-CO" b="0" dirty="0">
                <a:solidFill>
                  <a:srgbClr val="010101"/>
                </a:solidFill>
                <a:latin typeface="Roboto"/>
              </a:rPr>
              <a:t>, por su parte superior se sitúan las órbitas oculares y el hueso lagrimal. Y finalmente, en el medio del hueso </a:t>
            </a:r>
            <a:r>
              <a:rPr lang="es-CO" altLang="es-CO" dirty="0">
                <a:solidFill>
                  <a:srgbClr val="454545"/>
                </a:solidFill>
                <a:latin typeface="Roboto"/>
              </a:rPr>
              <a:t>frontal</a:t>
            </a:r>
            <a:r>
              <a:rPr lang="es-CO" altLang="es-CO" b="0" dirty="0">
                <a:solidFill>
                  <a:srgbClr val="010101"/>
                </a:solidFill>
                <a:latin typeface="Roboto"/>
              </a:rPr>
              <a:t> y del </a:t>
            </a:r>
            <a:r>
              <a:rPr lang="es-CO" altLang="es-CO" dirty="0">
                <a:solidFill>
                  <a:srgbClr val="454545"/>
                </a:solidFill>
                <a:latin typeface="Roboto"/>
              </a:rPr>
              <a:t>etmoides</a:t>
            </a:r>
            <a:r>
              <a:rPr lang="es-CO" altLang="es-CO" b="0" dirty="0">
                <a:solidFill>
                  <a:srgbClr val="010101"/>
                </a:solidFill>
                <a:latin typeface="Roboto"/>
              </a:rPr>
              <a:t>, se puede localizar al hueso </a:t>
            </a:r>
            <a:r>
              <a:rPr lang="es-CO" altLang="es-CO" dirty="0">
                <a:solidFill>
                  <a:srgbClr val="454545"/>
                </a:solidFill>
                <a:latin typeface="Roboto"/>
              </a:rPr>
              <a:t>esfenoides</a:t>
            </a:r>
            <a:r>
              <a:rPr lang="es-CO" altLang="es-CO" b="0" dirty="0">
                <a:solidFill>
                  <a:srgbClr val="010101"/>
                </a:solidFill>
                <a:latin typeface="Roboto"/>
              </a:rPr>
              <a:t>. </a:t>
            </a:r>
            <a:endParaRPr lang="es-CO" altLang="es-CO" sz="3600" dirty="0">
              <a:solidFill>
                <a:srgbClr val="004E56"/>
              </a:solidFill>
              <a:latin typeface="Montserrat"/>
            </a:endParaRPr>
          </a:p>
          <a:p>
            <a:endParaRPr lang="es-CO"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lvl="0" algn="just" eaLnBrk="0" fontAlgn="base" hangingPunct="0">
              <a:lnSpc>
                <a:spcPct val="100000"/>
              </a:lnSpc>
              <a:spcBef>
                <a:spcPct val="0"/>
              </a:spcBef>
              <a:spcAft>
                <a:spcPct val="0"/>
              </a:spcAft>
            </a:pPr>
            <a:r>
              <a:rPr lang="es-CO" altLang="es-CO" b="0" dirty="0" smtClean="0">
                <a:solidFill>
                  <a:srgbClr val="010101"/>
                </a:solidFill>
              </a:rPr>
              <a:t>FUNCION</a:t>
            </a:r>
            <a:endParaRPr lang="es-CO" altLang="es-CO" b="0" dirty="0" smtClean="0">
              <a:solidFill>
                <a:srgbClr val="010101"/>
              </a:solidFill>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Además </a:t>
            </a:r>
            <a:r>
              <a:rPr lang="es-CO" altLang="es-CO" b="0" dirty="0">
                <a:solidFill>
                  <a:srgbClr val="010101"/>
                </a:solidFill>
                <a:latin typeface="Roboto"/>
              </a:rPr>
              <a:t>de ser parte del cráneo y de proteger al cerebro de factores externos, también permite que a través de los conductos y surcos etmoidales, transite una parte de la capa externa de las meninges (</a:t>
            </a:r>
            <a:r>
              <a:rPr lang="es-CO" altLang="es-CO" dirty="0">
                <a:solidFill>
                  <a:srgbClr val="454545"/>
                </a:solidFill>
                <a:latin typeface="Roboto"/>
              </a:rPr>
              <a:t>duramadre</a:t>
            </a:r>
            <a:r>
              <a:rPr lang="es-CO" altLang="es-CO" b="0" dirty="0">
                <a:solidFill>
                  <a:srgbClr val="010101"/>
                </a:solidFill>
                <a:latin typeface="Roboto"/>
              </a:rPr>
              <a:t>), que pase el </a:t>
            </a:r>
            <a:r>
              <a:rPr lang="es-CO" altLang="es-CO" u="sng" dirty="0">
                <a:solidFill>
                  <a:srgbClr val="B61E1D"/>
                </a:solidFill>
                <a:latin typeface="Roboto"/>
                <a:hlinkClick r:id="rId1"/>
              </a:rPr>
              <a:t>nervio olfatorio</a:t>
            </a:r>
            <a:r>
              <a:rPr lang="es-CO" altLang="es-CO" dirty="0">
                <a:solidFill>
                  <a:srgbClr val="454545"/>
                </a:solidFill>
                <a:latin typeface="Roboto"/>
              </a:rPr>
              <a:t>, el </a:t>
            </a:r>
            <a:r>
              <a:rPr lang="es-CO" altLang="es-CO" u="sng" dirty="0">
                <a:solidFill>
                  <a:srgbClr val="B61E1D"/>
                </a:solidFill>
                <a:latin typeface="Roboto"/>
                <a:hlinkClick r:id="rId2"/>
              </a:rPr>
              <a:t>nervio oftálmico</a:t>
            </a:r>
            <a:r>
              <a:rPr lang="es-CO" altLang="es-CO" dirty="0">
                <a:solidFill>
                  <a:srgbClr val="454545"/>
                </a:solidFill>
                <a:latin typeface="Roboto"/>
              </a:rPr>
              <a:t>, la arteria etmoidal, el nervio nasal</a:t>
            </a:r>
            <a:r>
              <a:rPr lang="es-CO" altLang="es-CO" b="0" dirty="0">
                <a:solidFill>
                  <a:srgbClr val="010101"/>
                </a:solidFill>
                <a:latin typeface="Roboto"/>
              </a:rPr>
              <a:t>, entre otros.</a:t>
            </a:r>
            <a:endParaRPr lang="es-CO" altLang="es-CO" sz="3600" dirty="0">
              <a:solidFill>
                <a:srgbClr val="004E56"/>
              </a:solidFill>
              <a:latin typeface="Montserrat"/>
            </a:endParaRPr>
          </a:p>
          <a:p>
            <a:endParaRPr lang="es-CO"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23840" y="2259874"/>
            <a:ext cx="4097600" cy="3735977"/>
          </a:xfrm>
          <a:prstGeom prst="rect">
            <a:avLst/>
          </a:prstGeom>
        </p:spPr>
      </p:pic>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982" y="2259874"/>
            <a:ext cx="4691743" cy="373597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48594" y="2105025"/>
            <a:ext cx="5630092" cy="360344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621530"/>
          </a:xfrm>
        </p:spPr>
        <p:txBody>
          <a:bodyPr/>
          <a:lstStyle/>
          <a:p>
            <a:pPr algn="just"/>
            <a:r>
              <a:rPr lang="es-ES" dirty="0" smtClean="0"/>
              <a:t>HIOIDES</a:t>
            </a:r>
            <a:endParaRPr lang="es-ES" dirty="0" smtClean="0"/>
          </a:p>
          <a:p>
            <a:pPr algn="just"/>
            <a:r>
              <a:rPr lang="es-ES" b="0" dirty="0" smtClean="0"/>
              <a:t>Es </a:t>
            </a:r>
            <a:r>
              <a:rPr lang="es-ES" b="0" dirty="0"/>
              <a:t>un hueso impar, medio, simétrico, ubicado en el adulto, a la altura de la tercera y cuarta vértebra cervical. </a:t>
            </a:r>
            <a:endParaRPr lang="es-ES" b="0" dirty="0"/>
          </a:p>
          <a:p>
            <a:pPr algn="just"/>
            <a:r>
              <a:rPr lang="es-ES" b="0" dirty="0"/>
              <a:t>Forma parte del complejo hio-gloso-faríngeo, prestando inserción a estructuras provenientes de la faringe, la mandíbula y el cráneo. </a:t>
            </a:r>
            <a:endParaRPr lang="es-CO" b="0" dirty="0"/>
          </a:p>
          <a:p>
            <a:endParaRPr lang="es-CO" b="0" dirty="0"/>
          </a:p>
        </p:txBody>
      </p:sp>
      <p:pic>
        <p:nvPicPr>
          <p:cNvPr id="3" name="Marcador de contenido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12034" y="4336868"/>
            <a:ext cx="2978332" cy="168060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a:t>HUESESILLOS </a:t>
            </a:r>
            <a:r>
              <a:rPr lang="es-ES" dirty="0" smtClean="0"/>
              <a:t>AUDITIVOS</a:t>
            </a:r>
            <a:endParaRPr lang="es-ES" dirty="0" smtClean="0"/>
          </a:p>
          <a:p>
            <a:r>
              <a:rPr lang="es-ES" b="0" dirty="0"/>
              <a:t>6</a:t>
            </a:r>
            <a:endParaRPr lang="es-ES" b="0" dirty="0"/>
          </a:p>
          <a:p>
            <a:pPr algn="just"/>
            <a:r>
              <a:rPr lang="es-ES" b="0" dirty="0" smtClean="0"/>
              <a:t>Sus </a:t>
            </a:r>
            <a:r>
              <a:rPr lang="es-ES" b="0" dirty="0"/>
              <a:t>nombres, en orden según están colocados desde el tímpano hasta el oído interno son martillo, yunque y estribo, debido a la apariencia de cada uno de ellos.</a:t>
            </a:r>
            <a:endParaRPr lang="es-CO" b="0" dirty="0"/>
          </a:p>
          <a:p>
            <a:endParaRPr lang="es-CO"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621530"/>
          </a:xfrm>
        </p:spPr>
        <p:txBody>
          <a:bodyPr>
            <a:normAutofit fontScale="92500"/>
          </a:bodyPr>
          <a:lstStyle/>
          <a:p>
            <a:r>
              <a:rPr lang="es-ES" b="0" dirty="0" smtClean="0"/>
              <a:t>La fusión o fijación de los huesos lleva a la pérdida de la audición, porque los huesos no se mueven o vibran en reacción a las ondas sonoras.</a:t>
            </a:r>
            <a:endParaRPr lang="es-ES" b="0" dirty="0" smtClean="0"/>
          </a:p>
          <a:p>
            <a:endParaRPr lang="es-ES" b="0" dirty="0" smtClean="0"/>
          </a:p>
          <a:p>
            <a:r>
              <a:rPr lang="es-ES" dirty="0" smtClean="0"/>
              <a:t>FUNCION</a:t>
            </a:r>
            <a:endParaRPr lang="es-ES" dirty="0" smtClean="0"/>
          </a:p>
          <a:p>
            <a:r>
              <a:rPr lang="es-ES" dirty="0" smtClean="0"/>
              <a:t>transmitir el movimiento del tímpano al oído interno a través de la ventana oval</a:t>
            </a:r>
            <a:endParaRPr lang="es-ES" dirty="0" smtClean="0"/>
          </a:p>
          <a:p>
            <a:r>
              <a:rPr lang="es-ES" dirty="0" smtClean="0"/>
              <a:t>Función del YUNGUE</a:t>
            </a:r>
            <a:endParaRPr lang="es-ES" dirty="0" smtClean="0"/>
          </a:p>
          <a:p>
            <a:r>
              <a:rPr lang="es-ES" b="0" dirty="0" smtClean="0"/>
              <a:t>Debido a </a:t>
            </a:r>
            <a:r>
              <a:rPr lang="es-ES" dirty="0" smtClean="0"/>
              <a:t>que</a:t>
            </a:r>
            <a:r>
              <a:rPr lang="es-ES" b="0" dirty="0" smtClean="0"/>
              <a:t> este pequeño hueso, </a:t>
            </a:r>
            <a:r>
              <a:rPr lang="es-ES" dirty="0" smtClean="0"/>
              <a:t>es</a:t>
            </a:r>
            <a:r>
              <a:rPr lang="es-ES" b="0" dirty="0" smtClean="0"/>
              <a:t> el </a:t>
            </a:r>
            <a:r>
              <a:rPr lang="es-ES" dirty="0" smtClean="0"/>
              <a:t>que</a:t>
            </a:r>
            <a:r>
              <a:rPr lang="es-ES" b="0" dirty="0" smtClean="0"/>
              <a:t> se encuentra entre el martillo y el estribo, </a:t>
            </a:r>
            <a:r>
              <a:rPr lang="es-ES" dirty="0" smtClean="0"/>
              <a:t>es</a:t>
            </a:r>
            <a:r>
              <a:rPr lang="es-ES" b="0" dirty="0" smtClean="0"/>
              <a:t> el encargado de </a:t>
            </a:r>
            <a:r>
              <a:rPr lang="es-ES" dirty="0" smtClean="0"/>
              <a:t>que</a:t>
            </a:r>
            <a:r>
              <a:rPr lang="es-ES" b="0" dirty="0" smtClean="0"/>
              <a:t> se mantenga la conexión entre todos, y de </a:t>
            </a:r>
            <a:r>
              <a:rPr lang="es-ES" dirty="0" smtClean="0"/>
              <a:t>que</a:t>
            </a:r>
            <a:r>
              <a:rPr lang="es-ES" b="0" dirty="0" smtClean="0"/>
              <a:t> se envíen las señales provenientes del exterior (vibraciones y ondas sonoras), a la parte interna del oído, para posteriormente ser procesado por los órganos ...</a:t>
            </a:r>
            <a:endParaRPr lang="es-CO" dirty="0" smtClean="0"/>
          </a:p>
          <a:p>
            <a:endParaRPr lang="es-ES" dirty="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UBICACIÓN</a:t>
            </a:r>
            <a:endParaRPr lang="es-ES" dirty="0" smtClean="0"/>
          </a:p>
          <a:p>
            <a:r>
              <a:rPr lang="es-ES" dirty="0" smtClean="0"/>
              <a:t>El </a:t>
            </a:r>
            <a:r>
              <a:rPr lang="es-ES" dirty="0"/>
              <a:t>oído medio</a:t>
            </a:r>
            <a:r>
              <a:rPr lang="es-ES" b="0" dirty="0"/>
              <a:t> contiene tres huesecillos -el martillo, el yunque y el estribo, llamados así por su parecido con estas tres herramientas de trabajo. </a:t>
            </a:r>
            <a:endParaRPr lang="es-ES" b="0" dirty="0" smtClean="0"/>
          </a:p>
          <a:p>
            <a:r>
              <a:rPr lang="es-ES" b="0" dirty="0" smtClean="0"/>
              <a:t>Son </a:t>
            </a:r>
            <a:r>
              <a:rPr lang="es-ES" b="0" dirty="0"/>
              <a:t>los huesos más pequeños del cuerpo humano, y su función es recoger las ondas sonoras, amplificarlas y transmitir los sonidos al fluido que contiene el oído interno.</a:t>
            </a:r>
            <a:endParaRPr lang="es-CO"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uesecillos del oído - Wikipedia, la enciclopedia libr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9245" y="2560319"/>
            <a:ext cx="7576457" cy="37098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ctr"/>
            <a:endParaRPr lang="es-ES" sz="9600" dirty="0" smtClean="0"/>
          </a:p>
          <a:p>
            <a:pPr algn="ctr"/>
            <a:r>
              <a:rPr lang="es-ES" sz="9600" dirty="0" smtClean="0"/>
              <a:t>CARA</a:t>
            </a:r>
            <a:endParaRPr lang="es-CO" sz="9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792663" y="1800225"/>
            <a:ext cx="6886575" cy="4731204"/>
          </a:xfrm>
        </p:spPr>
        <p:txBody>
          <a:bodyPr/>
          <a:lstStyle/>
          <a:p>
            <a:r>
              <a:rPr lang="es-ES" dirty="0" smtClean="0"/>
              <a:t>14 </a:t>
            </a:r>
            <a:r>
              <a:rPr lang="es-ES" dirty="0"/>
              <a:t>HUESOS</a:t>
            </a:r>
            <a:endParaRPr lang="es-ES" dirty="0"/>
          </a:p>
          <a:p>
            <a:r>
              <a:rPr lang="es-ES" dirty="0" smtClean="0"/>
              <a:t>PARES </a:t>
            </a:r>
            <a:endParaRPr lang="es-ES" dirty="0" smtClean="0"/>
          </a:p>
          <a:p>
            <a:r>
              <a:rPr lang="es-ES" dirty="0" smtClean="0"/>
              <a:t>Derecho </a:t>
            </a:r>
            <a:r>
              <a:rPr lang="es-ES" dirty="0"/>
              <a:t>e izquierdo</a:t>
            </a:r>
            <a:endParaRPr lang="es-ES" dirty="0"/>
          </a:p>
          <a:p>
            <a:r>
              <a:rPr lang="es-ES" dirty="0"/>
              <a:t>Maxilar superior.</a:t>
            </a:r>
            <a:endParaRPr lang="es-ES" dirty="0"/>
          </a:p>
          <a:p>
            <a:r>
              <a:rPr lang="es-ES" dirty="0" smtClean="0"/>
              <a:t>Malar </a:t>
            </a:r>
            <a:r>
              <a:rPr lang="es-ES" dirty="0"/>
              <a:t>o cigomático. </a:t>
            </a:r>
            <a:endParaRPr lang="es-ES" dirty="0"/>
          </a:p>
          <a:p>
            <a:r>
              <a:rPr lang="es-ES" dirty="0" smtClean="0"/>
              <a:t>Palatino</a:t>
            </a:r>
            <a:r>
              <a:rPr lang="es-ES" dirty="0"/>
              <a:t>. </a:t>
            </a:r>
            <a:endParaRPr lang="es-ES" dirty="0"/>
          </a:p>
          <a:p>
            <a:r>
              <a:rPr lang="es-ES" dirty="0" smtClean="0"/>
              <a:t>Hueso </a:t>
            </a:r>
            <a:r>
              <a:rPr lang="es-ES" dirty="0"/>
              <a:t>nasal.</a:t>
            </a:r>
            <a:endParaRPr lang="es-ES" dirty="0"/>
          </a:p>
          <a:p>
            <a:r>
              <a:rPr lang="es-ES" dirty="0" smtClean="0"/>
              <a:t>Hueso </a:t>
            </a:r>
            <a:r>
              <a:rPr lang="es-ES" dirty="0"/>
              <a:t>lagrimal. </a:t>
            </a:r>
            <a:endParaRPr lang="es-ES" dirty="0"/>
          </a:p>
          <a:p>
            <a:r>
              <a:rPr lang="es-ES" dirty="0" smtClean="0"/>
              <a:t>Cornete </a:t>
            </a:r>
            <a:r>
              <a:rPr lang="es-ES" dirty="0"/>
              <a:t>inferior.</a:t>
            </a:r>
            <a:endParaRPr lang="es-ES" dirty="0"/>
          </a:p>
          <a:p>
            <a:endParaRPr lang="es-CO"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a:t> </a:t>
            </a:r>
            <a:r>
              <a:rPr lang="es-ES" dirty="0" smtClean="0"/>
              <a:t>IMPARES</a:t>
            </a:r>
            <a:endParaRPr lang="es-ES" dirty="0" smtClean="0"/>
          </a:p>
          <a:p>
            <a:r>
              <a:rPr lang="es-ES" dirty="0" smtClean="0"/>
              <a:t>Hay </a:t>
            </a:r>
            <a:r>
              <a:rPr lang="es-ES" dirty="0"/>
              <a:t>uno solo, de ubicación central, en el eje de la cara.</a:t>
            </a:r>
            <a:endParaRPr lang="es-ES" dirty="0"/>
          </a:p>
          <a:p>
            <a:r>
              <a:rPr lang="es-ES" dirty="0"/>
              <a:t> Vómer. </a:t>
            </a:r>
            <a:endParaRPr lang="es-ES" dirty="0"/>
          </a:p>
          <a:p>
            <a:r>
              <a:rPr lang="es-ES" dirty="0"/>
              <a:t> Maxilar inferior. </a:t>
            </a:r>
            <a:endParaRPr lang="es-ES" dirty="0"/>
          </a:p>
          <a:p>
            <a:endParaRPr lang="es-CO"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MAXILAR </a:t>
            </a:r>
            <a:r>
              <a:rPr lang="es-ES" dirty="0" smtClean="0"/>
              <a:t>SUPERIOR</a:t>
            </a:r>
            <a:endParaRPr lang="es-ES" dirty="0" smtClean="0"/>
          </a:p>
          <a:p>
            <a:r>
              <a:rPr lang="es-ES" b="0" dirty="0"/>
              <a:t>El </a:t>
            </a:r>
            <a:r>
              <a:rPr lang="es-ES" dirty="0"/>
              <a:t>maxilar superior</a:t>
            </a:r>
            <a:r>
              <a:rPr lang="es-ES" b="0" dirty="0"/>
              <a:t> es un </a:t>
            </a:r>
            <a:r>
              <a:rPr lang="es-ES" dirty="0"/>
              <a:t>hueso de la cara</a:t>
            </a:r>
            <a:r>
              <a:rPr lang="es-ES" b="0" dirty="0"/>
              <a:t>, que puede considerarse robusto y con gran volumen, pero que a pesar de ser así, es conocido por ser de poco peso, debido a la intervención que realiza en la creación de las diferentes cavidades de la zona facial (</a:t>
            </a:r>
            <a:r>
              <a:rPr lang="es-ES" dirty="0"/>
              <a:t>cavidad nasal y oral</a:t>
            </a:r>
            <a:r>
              <a:rPr lang="es-ES" b="0" dirty="0"/>
              <a:t>).</a:t>
            </a:r>
            <a:endParaRPr lang="es-CO"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ph type="body" idx="1"/>
          </p:nvPr>
        </p:nvSpPr>
        <p:spPr bwMode="auto">
          <a:xfrm>
            <a:off x="4101353" y="-2278718"/>
            <a:ext cx="7577885" cy="117011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23767" rIns="91440" bIns="71415"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Cómo está formado el maxilar superior?</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Aunque al observar el maxilar, nos damos cuenta de que </a:t>
            </a:r>
            <a:r>
              <a:rPr kumimoji="0" lang="es-CO" altLang="es-CO" sz="1300" b="1" i="0" u="none" strike="noStrike" cap="none" normalizeH="0" baseline="0" smtClean="0">
                <a:ln>
                  <a:noFill/>
                </a:ln>
                <a:solidFill>
                  <a:srgbClr val="454545"/>
                </a:solidFill>
                <a:effectLst/>
                <a:latin typeface="Roboto"/>
              </a:rPr>
              <a:t>no presenta una figura regular</a:t>
            </a:r>
            <a:r>
              <a:rPr kumimoji="0" lang="es-CO" altLang="es-CO" sz="1300" b="0" i="0" u="none" strike="noStrike" cap="none" normalizeH="0" baseline="0" smtClean="0">
                <a:ln>
                  <a:noFill/>
                </a:ln>
                <a:solidFill>
                  <a:srgbClr val="010101"/>
                </a:solidFill>
                <a:effectLst/>
                <a:latin typeface="Roboto"/>
              </a:rPr>
              <a:t>, es comparable con un objeto que tenga entre forma triangular y rectangular. En este hueso se puede identificar, un área situada por la parte de afuera (cara externa) y otra ubicada internamente (cara interna); y 4 costados localizados cada uno en una superficie (arriba, inferior, por dentro y por fuera).</a:t>
            </a:r>
            <a:endParaRPr kumimoji="0" lang="es-CO" altLang="es-CO" sz="1100" b="0" i="0" u="none" strike="noStrike" cap="none" normalizeH="0" baseline="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En sus caras, podemos ubicar:</a:t>
            </a:r>
            <a:endParaRPr kumimoji="0" lang="es-CO" altLang="es-CO" sz="1100" b="0" i="0" u="none" strike="noStrike" cap="none" normalizeH="0" baseline="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s-CO" altLang="es-CO" sz="1300" b="0" i="0" u="none" strike="noStrike" cap="none" normalizeH="0" baseline="0" smtClean="0">
                <a:ln>
                  <a:noFill/>
                </a:ln>
                <a:solidFill>
                  <a:srgbClr val="010101"/>
                </a:solidFill>
                <a:effectLst/>
                <a:latin typeface="Roboto"/>
              </a:rPr>
              <a:t>Las </a:t>
            </a:r>
            <a:r>
              <a:rPr kumimoji="0" lang="es-CO" altLang="es-CO" sz="1300" b="1" i="0" u="none" strike="noStrike" cap="none" normalizeH="0" baseline="0" smtClean="0">
                <a:ln>
                  <a:noFill/>
                </a:ln>
                <a:solidFill>
                  <a:srgbClr val="454545"/>
                </a:solidFill>
                <a:effectLst/>
                <a:latin typeface="Roboto"/>
              </a:rPr>
              <a:t>raíces de los dientes.</a:t>
            </a:r>
            <a:endParaRPr kumimoji="0" lang="es-CO" altLang="es-CO" sz="1300" b="0" i="0" u="none" strike="noStrike" cap="none" normalizeH="0" baseline="0" smtClean="0">
              <a:ln>
                <a:noFill/>
              </a:ln>
              <a:solidFill>
                <a:srgbClr val="010101"/>
              </a:solidFill>
              <a:effectLst/>
              <a:latin typeface="Roboto"/>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s-CO" altLang="es-CO" sz="1300" b="0" i="0" u="none" strike="noStrike" cap="none" normalizeH="0" baseline="0" smtClean="0">
                <a:ln>
                  <a:noFill/>
                </a:ln>
                <a:solidFill>
                  <a:srgbClr val="010101"/>
                </a:solidFill>
                <a:effectLst/>
                <a:latin typeface="Roboto"/>
              </a:rPr>
              <a:t>La </a:t>
            </a:r>
            <a:r>
              <a:rPr kumimoji="0" lang="es-CO" altLang="es-CO" sz="1300" b="1" i="0" u="none" strike="noStrike" cap="none" normalizeH="0" baseline="0" smtClean="0">
                <a:ln>
                  <a:noFill/>
                </a:ln>
                <a:solidFill>
                  <a:srgbClr val="454545"/>
                </a:solidFill>
                <a:effectLst/>
                <a:latin typeface="Roboto"/>
              </a:rPr>
              <a:t>apófisis cigomática</a:t>
            </a:r>
            <a:r>
              <a:rPr kumimoji="0" lang="es-CO" altLang="es-CO" sz="1300" b="0" i="0" u="none" strike="noStrike" cap="none" normalizeH="0" baseline="0" smtClean="0">
                <a:ln>
                  <a:noFill/>
                </a:ln>
                <a:solidFill>
                  <a:srgbClr val="010101"/>
                </a:solidFill>
                <a:effectLst/>
                <a:latin typeface="Roboto"/>
              </a:rPr>
              <a:t> del maxilar donde se ubican la zona orbitaria o superior, la anterior o geniana y la posterior o cigomática.</a:t>
            </a:r>
            <a:endParaRPr kumimoji="0" lang="es-CO" altLang="es-CO" sz="1300" b="0" i="0" u="none" strike="noStrike" cap="none" normalizeH="0" baseline="0" smtClean="0">
              <a:ln>
                <a:noFill/>
              </a:ln>
              <a:solidFill>
                <a:srgbClr val="010101"/>
              </a:solidFill>
              <a:effectLst/>
              <a:latin typeface="Roboto"/>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s-CO" altLang="es-CO" sz="1300" b="0" i="0" u="none" strike="noStrike" cap="none" normalizeH="0" baseline="0" smtClean="0">
                <a:ln>
                  <a:noFill/>
                </a:ln>
                <a:solidFill>
                  <a:srgbClr val="010101"/>
                </a:solidFill>
                <a:effectLst/>
                <a:latin typeface="Roboto"/>
              </a:rPr>
              <a:t>El canal y </a:t>
            </a:r>
            <a:r>
              <a:rPr kumimoji="0" lang="es-CO" altLang="es-CO" sz="1300" b="1" i="0" u="none" strike="noStrike" cap="none" normalizeH="0" baseline="0" smtClean="0">
                <a:ln>
                  <a:noFill/>
                </a:ln>
                <a:solidFill>
                  <a:srgbClr val="454545"/>
                </a:solidFill>
                <a:effectLst/>
                <a:latin typeface="Roboto"/>
              </a:rPr>
              <a:t>conducto suborbitario</a:t>
            </a:r>
            <a:r>
              <a:rPr kumimoji="0" lang="es-CO" altLang="es-CO" sz="1300" b="0" i="0" u="none" strike="noStrike" cap="none" normalizeH="0" baseline="0" smtClean="0">
                <a:ln>
                  <a:noFill/>
                </a:ln>
                <a:solidFill>
                  <a:srgbClr val="010101"/>
                </a:solidFill>
                <a:effectLst/>
                <a:latin typeface="Roboto"/>
              </a:rPr>
              <a:t> por donde se se movilizan nervios y vasos</a:t>
            </a:r>
            <a:endParaRPr kumimoji="0" lang="es-CO" altLang="es-CO" sz="1300" b="0" i="0" u="none" strike="noStrike" cap="none" normalizeH="0" baseline="0" smtClean="0">
              <a:ln>
                <a:noFill/>
              </a:ln>
              <a:solidFill>
                <a:srgbClr val="010101"/>
              </a:solidFill>
              <a:effectLst/>
              <a:latin typeface="Roboto"/>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s-CO" altLang="es-CO" sz="1300" b="0" i="0" u="none" strike="noStrike" cap="none" normalizeH="0" baseline="0" smtClean="0">
                <a:ln>
                  <a:noFill/>
                </a:ln>
                <a:solidFill>
                  <a:srgbClr val="010101"/>
                </a:solidFill>
                <a:effectLst/>
                <a:latin typeface="Roboto"/>
              </a:rPr>
              <a:t>La </a:t>
            </a:r>
            <a:r>
              <a:rPr kumimoji="0" lang="es-CO" altLang="es-CO" sz="1300" b="1" i="0" u="none" strike="noStrike" cap="none" normalizeH="0" baseline="0" smtClean="0">
                <a:ln>
                  <a:noFill/>
                </a:ln>
                <a:solidFill>
                  <a:srgbClr val="454545"/>
                </a:solidFill>
                <a:effectLst/>
                <a:latin typeface="Roboto"/>
              </a:rPr>
              <a:t>tuberosidad del maxilar</a:t>
            </a:r>
            <a:r>
              <a:rPr kumimoji="0" lang="es-CO" altLang="es-CO" sz="1300" b="0" i="0" u="none" strike="noStrike" cap="none" normalizeH="0" baseline="0" smtClean="0">
                <a:ln>
                  <a:noFill/>
                </a:ln>
                <a:solidFill>
                  <a:srgbClr val="010101"/>
                </a:solidFill>
                <a:effectLst/>
                <a:latin typeface="Roboto"/>
              </a:rPr>
              <a:t>: se encuentran los conductos de los dientes.</a:t>
            </a:r>
            <a:endParaRPr kumimoji="0" lang="es-CO" altLang="es-CO" sz="1300" b="0" i="0" u="none" strike="noStrike" cap="none" normalizeH="0" baseline="0" smtClean="0">
              <a:ln>
                <a:noFill/>
              </a:ln>
              <a:solidFill>
                <a:srgbClr val="010101"/>
              </a:solidFill>
              <a:effectLst/>
              <a:latin typeface="Roboto"/>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s-CO" altLang="es-CO" sz="1300" b="0" i="0" u="none" strike="noStrike" cap="none" normalizeH="0" baseline="0" smtClean="0">
                <a:ln>
                  <a:noFill/>
                </a:ln>
                <a:solidFill>
                  <a:srgbClr val="010101"/>
                </a:solidFill>
                <a:effectLst/>
                <a:latin typeface="Roboto"/>
              </a:rPr>
              <a:t>La </a:t>
            </a:r>
            <a:r>
              <a:rPr kumimoji="0" lang="es-CO" altLang="es-CO" sz="1300" b="1" i="0" u="none" strike="noStrike" cap="none" normalizeH="0" baseline="0" smtClean="0">
                <a:ln>
                  <a:noFill/>
                </a:ln>
                <a:solidFill>
                  <a:srgbClr val="454545"/>
                </a:solidFill>
                <a:effectLst/>
                <a:latin typeface="Roboto"/>
              </a:rPr>
              <a:t>espina malar</a:t>
            </a:r>
            <a:r>
              <a:rPr kumimoji="0" lang="es-CO" altLang="es-CO" sz="1300" b="0" i="0" u="none" strike="noStrike" cap="none" normalizeH="0" baseline="0" smtClean="0">
                <a:ln>
                  <a:noFill/>
                </a:ln>
                <a:solidFill>
                  <a:srgbClr val="010101"/>
                </a:solidFill>
                <a:effectLst/>
                <a:latin typeface="Roboto"/>
              </a:rPr>
              <a:t> que limita con la hendidura que se crea entre el maxilar y el hueso esfenoides.</a:t>
            </a:r>
            <a:endParaRPr kumimoji="0" lang="es-CO" altLang="es-CO" sz="1300" b="0" i="0" u="none" strike="noStrike" cap="none" normalizeH="0" baseline="0" smtClean="0">
              <a:ln>
                <a:noFill/>
              </a:ln>
              <a:solidFill>
                <a:srgbClr val="010101"/>
              </a:solidFill>
              <a:effectLst/>
              <a:latin typeface="Roboto"/>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s-CO" altLang="es-CO" sz="1300" b="0" i="0" u="none" strike="noStrike" cap="none" normalizeH="0" baseline="0" smtClean="0">
                <a:ln>
                  <a:noFill/>
                </a:ln>
                <a:solidFill>
                  <a:srgbClr val="010101"/>
                </a:solidFill>
                <a:effectLst/>
                <a:latin typeface="Roboto"/>
              </a:rPr>
              <a:t>La </a:t>
            </a:r>
            <a:r>
              <a:rPr kumimoji="0" lang="es-CO" altLang="es-CO" sz="1300" b="1" i="0" u="none" strike="noStrike" cap="none" normalizeH="0" baseline="0" smtClean="0">
                <a:ln>
                  <a:noFill/>
                </a:ln>
                <a:solidFill>
                  <a:srgbClr val="454545"/>
                </a:solidFill>
                <a:effectLst/>
                <a:latin typeface="Roboto"/>
              </a:rPr>
              <a:t>apófisis o proceso palatina</a:t>
            </a:r>
            <a:r>
              <a:rPr kumimoji="0" lang="es-CO" altLang="es-CO" sz="1300" b="0" i="0" u="none" strike="noStrike" cap="none" normalizeH="0" baseline="0" smtClean="0">
                <a:ln>
                  <a:noFill/>
                </a:ln>
                <a:solidFill>
                  <a:srgbClr val="010101"/>
                </a:solidFill>
                <a:effectLst/>
                <a:latin typeface="Roboto"/>
              </a:rPr>
              <a:t>, es la que separa los tabiques de la nariz.</a:t>
            </a:r>
            <a:endParaRPr kumimoji="0" lang="es-CO" altLang="es-CO" sz="1300" b="0" i="0" u="none" strike="noStrike" cap="none" normalizeH="0" baseline="0" smtClean="0">
              <a:ln>
                <a:noFill/>
              </a:ln>
              <a:solidFill>
                <a:srgbClr val="010101"/>
              </a:solidFill>
              <a:effectLst/>
              <a:latin typeface="Roboto"/>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Ahora, en cuanto a sus costados o bordes, se ubican la </a:t>
            </a:r>
            <a:r>
              <a:rPr kumimoji="0" lang="es-CO" altLang="es-CO" sz="1300" b="1" i="0" u="none" strike="noStrike" cap="none" normalizeH="0" baseline="0" smtClean="0">
                <a:ln>
                  <a:noFill/>
                </a:ln>
                <a:solidFill>
                  <a:srgbClr val="454545"/>
                </a:solidFill>
                <a:effectLst/>
                <a:latin typeface="Roboto"/>
              </a:rPr>
              <a:t>apófisis frontal</a:t>
            </a:r>
            <a:r>
              <a:rPr kumimoji="0" lang="es-CO" altLang="es-CO" sz="1300" b="0" i="0" u="none" strike="noStrike" cap="none" normalizeH="0" baseline="0" smtClean="0">
                <a:ln>
                  <a:noFill/>
                </a:ln>
                <a:solidFill>
                  <a:srgbClr val="010101"/>
                </a:solidFill>
                <a:effectLst/>
                <a:latin typeface="Roboto"/>
              </a:rPr>
              <a:t> en la parte superior, el </a:t>
            </a:r>
            <a:r>
              <a:rPr kumimoji="0" lang="es-CO" altLang="es-CO" sz="1300" b="1" i="0" u="none" strike="noStrike" cap="none" normalizeH="0" baseline="0" smtClean="0">
                <a:ln>
                  <a:noFill/>
                </a:ln>
                <a:solidFill>
                  <a:srgbClr val="454545"/>
                </a:solidFill>
                <a:effectLst/>
                <a:latin typeface="Roboto"/>
              </a:rPr>
              <a:t>alveolar</a:t>
            </a:r>
            <a:r>
              <a:rPr kumimoji="0" lang="es-CO" altLang="es-CO" sz="1300" b="0" i="0" u="none" strike="noStrike" cap="none" normalizeH="0" baseline="0" smtClean="0">
                <a:ln>
                  <a:noFill/>
                </a:ln>
                <a:solidFill>
                  <a:srgbClr val="010101"/>
                </a:solidFill>
                <a:effectLst/>
                <a:latin typeface="Roboto"/>
              </a:rPr>
              <a:t> o borde inferior, </a:t>
            </a:r>
            <a:r>
              <a:rPr kumimoji="0" lang="es-CO" altLang="es-CO" sz="1300" b="1" i="0" u="none" strike="noStrike" cap="none" normalizeH="0" baseline="0" smtClean="0">
                <a:ln>
                  <a:noFill/>
                </a:ln>
                <a:solidFill>
                  <a:srgbClr val="454545"/>
                </a:solidFill>
                <a:effectLst/>
                <a:latin typeface="Roboto"/>
              </a:rPr>
              <a:t>costado anterior</a:t>
            </a:r>
            <a:r>
              <a:rPr kumimoji="0" lang="es-CO" altLang="es-CO" sz="1300" b="0" i="0" u="none" strike="noStrike" cap="none" normalizeH="0" baseline="0" smtClean="0">
                <a:ln>
                  <a:noFill/>
                </a:ln>
                <a:solidFill>
                  <a:srgbClr val="010101"/>
                </a:solidFill>
                <a:effectLst/>
                <a:latin typeface="Roboto"/>
              </a:rPr>
              <a:t> con la escotadura nasal y por último el borde posterior donde está el </a:t>
            </a:r>
            <a:r>
              <a:rPr kumimoji="0" lang="es-CO" altLang="es-CO" sz="1300" b="1" i="0" u="none" strike="noStrike" cap="none" normalizeH="0" baseline="0" smtClean="0">
                <a:ln>
                  <a:noFill/>
                </a:ln>
                <a:solidFill>
                  <a:srgbClr val="454545"/>
                </a:solidFill>
                <a:effectLst/>
                <a:latin typeface="Roboto"/>
              </a:rPr>
              <a:t>trígono palatino</a:t>
            </a:r>
            <a:r>
              <a:rPr kumimoji="0" lang="es-CO" altLang="es-CO" sz="1300" b="0" i="0" u="none" strike="noStrike" cap="none" normalizeH="0" baseline="0" smtClean="0">
                <a:ln>
                  <a:noFill/>
                </a:ln>
                <a:solidFill>
                  <a:srgbClr val="010101"/>
                </a:solidFill>
                <a:effectLst/>
                <a:latin typeface="Roboto"/>
              </a:rPr>
              <a:t>, importante para la unión con la apófisis orbitaria del </a:t>
            </a:r>
            <a:r>
              <a:rPr kumimoji="0" lang="es-CO" altLang="es-CO" sz="1300" b="1" i="0" u="sng" strike="noStrike" cap="none" normalizeH="0" baseline="0" smtClean="0">
                <a:ln>
                  <a:noFill/>
                </a:ln>
                <a:solidFill>
                  <a:srgbClr val="454545"/>
                </a:solidFill>
                <a:effectLst/>
                <a:latin typeface="Roboto"/>
                <a:hlinkClick r:id="rId1"/>
              </a:rPr>
              <a:t>hueso palatino</a:t>
            </a:r>
            <a:r>
              <a:rPr kumimoji="0" lang="es-CO" altLang="es-CO" sz="1300" b="0" i="0" u="none" strike="noStrike" cap="none" normalizeH="0" baseline="0" smtClean="0">
                <a:ln>
                  <a:noFill/>
                </a:ln>
                <a:solidFill>
                  <a:srgbClr val="010101"/>
                </a:solidFill>
                <a:effectLst/>
                <a:latin typeface="Roboto"/>
              </a:rPr>
              <a:t>.</a:t>
            </a:r>
            <a:endParaRPr kumimoji="0" lang="es-CO" altLang="es-CO" sz="1100" b="0" i="0" u="none" strike="noStrike" cap="none" normalizeH="0" baseline="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0" i="1" u="none" strike="noStrike" cap="none" normalizeH="0" baseline="0" smtClean="0">
                <a:ln>
                  <a:noFill/>
                </a:ln>
                <a:solidFill>
                  <a:schemeClr val="tx1"/>
                </a:solidFill>
                <a:effectLst/>
                <a:latin typeface="Arial" panose="020B0604020202020204" pitchFamily="34" charset="0"/>
              </a:rPr>
              <a:t>“Aunque todas sus partes son importantes, las que más resaltan son la apófisis o proceso palatina, la apófisis o proceso cigomática, la cavidad nasal y la oral”</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¿Qué significa la palabra maxilar superior?</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De acuerdo al diccionario, podemos encontrar que el </a:t>
            </a:r>
            <a:r>
              <a:rPr kumimoji="0" lang="es-CO" altLang="es-CO" sz="1300" b="1" i="0" u="none" strike="noStrike" cap="none" normalizeH="0" baseline="0" smtClean="0">
                <a:ln>
                  <a:noFill/>
                </a:ln>
                <a:solidFill>
                  <a:srgbClr val="454545"/>
                </a:solidFill>
                <a:effectLst/>
                <a:latin typeface="Roboto"/>
              </a:rPr>
              <a:t>maxilar </a:t>
            </a:r>
            <a:r>
              <a:rPr kumimoji="0" lang="es-CO" altLang="es-CO" sz="1300" b="0" i="0" u="none" strike="noStrike" cap="none" normalizeH="0" baseline="0" smtClean="0">
                <a:ln>
                  <a:noFill/>
                </a:ln>
                <a:solidFill>
                  <a:srgbClr val="010101"/>
                </a:solidFill>
                <a:effectLst/>
                <a:latin typeface="Roboto"/>
              </a:rPr>
              <a:t>hace total referencia a cada uno de los elementos óseos que se unen entre sí para formar lo que conocemos como </a:t>
            </a:r>
            <a:r>
              <a:rPr kumimoji="0" lang="es-CO" altLang="es-CO" sz="1300" b="1" i="0" u="none" strike="noStrike" cap="none" normalizeH="0" baseline="0" smtClean="0">
                <a:ln>
                  <a:noFill/>
                </a:ln>
                <a:solidFill>
                  <a:srgbClr val="454545"/>
                </a:solidFill>
                <a:effectLst/>
                <a:latin typeface="Roboto"/>
              </a:rPr>
              <a:t>mandíbula </a:t>
            </a:r>
            <a:r>
              <a:rPr kumimoji="0" lang="es-CO" altLang="es-CO" sz="1300" b="0" i="0" u="none" strike="noStrike" cap="none" normalizeH="0" baseline="0" smtClean="0">
                <a:ln>
                  <a:noFill/>
                </a:ln>
                <a:solidFill>
                  <a:srgbClr val="010101"/>
                </a:solidFill>
                <a:effectLst/>
                <a:latin typeface="Roboto"/>
              </a:rPr>
              <a:t>o zona</a:t>
            </a:r>
            <a:r>
              <a:rPr kumimoji="0" lang="es-CO" altLang="es-CO" sz="1300" b="1" i="0" u="none" strike="noStrike" cap="none" normalizeH="0" baseline="0" smtClean="0">
                <a:ln>
                  <a:noFill/>
                </a:ln>
                <a:solidFill>
                  <a:srgbClr val="454545"/>
                </a:solidFill>
                <a:effectLst/>
                <a:latin typeface="Roboto"/>
              </a:rPr>
              <a:t> mandibular.</a:t>
            </a:r>
            <a:r>
              <a:rPr kumimoji="0" lang="es-CO" altLang="es-CO" sz="1300" b="0" i="0" u="none" strike="noStrike" cap="none" normalizeH="0" baseline="0" smtClean="0">
                <a:ln>
                  <a:noFill/>
                </a:ln>
                <a:solidFill>
                  <a:srgbClr val="010101"/>
                </a:solidFill>
                <a:effectLst/>
                <a:latin typeface="Roboto"/>
              </a:rPr>
              <a:t> Además, cuando es analizado desde la lengua latín, ubicamos la palabra </a:t>
            </a:r>
            <a:r>
              <a:rPr kumimoji="0" lang="es-CO" altLang="es-CO" sz="1300" b="1" i="0" u="none" strike="noStrike" cap="none" normalizeH="0" baseline="0" smtClean="0">
                <a:ln>
                  <a:noFill/>
                </a:ln>
                <a:solidFill>
                  <a:srgbClr val="454545"/>
                </a:solidFill>
                <a:effectLst/>
                <a:latin typeface="Roboto"/>
              </a:rPr>
              <a:t>“maxillaris”</a:t>
            </a:r>
            <a:r>
              <a:rPr kumimoji="0" lang="es-CO" altLang="es-CO" sz="1300" b="0" i="0" u="none" strike="noStrike" cap="none" normalizeH="0" baseline="0" smtClean="0">
                <a:ln>
                  <a:noFill/>
                </a:ln>
                <a:solidFill>
                  <a:srgbClr val="010101"/>
                </a:solidFill>
                <a:effectLst/>
                <a:latin typeface="Roboto"/>
              </a:rPr>
              <a:t> que significa todo aquello que tiene cierta analogía con la zona de la quijada.</a:t>
            </a:r>
            <a:endParaRPr kumimoji="0" lang="es-CO" altLang="es-CO" sz="1100" b="0" i="0" u="none" strike="noStrike" cap="none" normalizeH="0" baseline="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Ahora bien, la palabra </a:t>
            </a:r>
            <a:r>
              <a:rPr kumimoji="0" lang="es-CO" altLang="es-CO" sz="1300" b="1" i="0" u="none" strike="noStrike" cap="none" normalizeH="0" baseline="0" smtClean="0">
                <a:ln>
                  <a:noFill/>
                </a:ln>
                <a:solidFill>
                  <a:srgbClr val="454545"/>
                </a:solidFill>
                <a:effectLst/>
                <a:latin typeface="Roboto"/>
              </a:rPr>
              <a:t>superior</a:t>
            </a:r>
            <a:r>
              <a:rPr kumimoji="0" lang="es-CO" altLang="es-CO" sz="1300" b="0" i="0" u="none" strike="noStrike" cap="none" normalizeH="0" baseline="0" smtClean="0">
                <a:ln>
                  <a:noFill/>
                </a:ln>
                <a:solidFill>
                  <a:srgbClr val="010101"/>
                </a:solidFill>
                <a:effectLst/>
                <a:latin typeface="Roboto"/>
              </a:rPr>
              <a:t>, según los europeos y de la india, es aquella que al hacer una comparación entre varias cosas, se determina cuál es la que tiene </a:t>
            </a:r>
            <a:r>
              <a:rPr kumimoji="0" lang="es-CO" altLang="es-CO" sz="1300" b="1" i="0" u="none" strike="noStrike" cap="none" normalizeH="0" baseline="0" smtClean="0">
                <a:ln>
                  <a:noFill/>
                </a:ln>
                <a:solidFill>
                  <a:srgbClr val="454545"/>
                </a:solidFill>
                <a:effectLst/>
                <a:latin typeface="Roboto"/>
              </a:rPr>
              <a:t>mayor predominio </a:t>
            </a:r>
            <a:r>
              <a:rPr kumimoji="0" lang="es-CO" altLang="es-CO" sz="1300" b="0" i="0" u="none" strike="noStrike" cap="none" normalizeH="0" baseline="0" smtClean="0">
                <a:ln>
                  <a:noFill/>
                </a:ln>
                <a:solidFill>
                  <a:srgbClr val="010101"/>
                </a:solidFill>
                <a:effectLst/>
                <a:latin typeface="Roboto"/>
              </a:rPr>
              <a:t>con respecto a las otras.</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¿Dónde se encuentra el maxilar superior?</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Está ubicado en la parte </a:t>
            </a:r>
            <a:r>
              <a:rPr kumimoji="0" lang="es-CO" altLang="es-CO" sz="1300" b="1" i="0" u="none" strike="noStrike" cap="none" normalizeH="0" baseline="0" smtClean="0">
                <a:ln>
                  <a:noFill/>
                </a:ln>
                <a:solidFill>
                  <a:srgbClr val="454545"/>
                </a:solidFill>
                <a:effectLst/>
                <a:latin typeface="Roboto"/>
              </a:rPr>
              <a:t>inferior de la cara y de los ojos</a:t>
            </a:r>
            <a:r>
              <a:rPr kumimoji="0" lang="es-CO" altLang="es-CO" sz="1300" b="0" i="0" u="none" strike="noStrike" cap="none" normalizeH="0" baseline="0" smtClean="0">
                <a:ln>
                  <a:noFill/>
                </a:ln>
                <a:solidFill>
                  <a:srgbClr val="010101"/>
                </a:solidFill>
                <a:effectLst/>
                <a:latin typeface="Roboto"/>
              </a:rPr>
              <a:t>, en la zona conocida como mandibular, por detrás de la nariz, y justo encima de la cavidad oral.</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¿Qué función cumple el maxilar superior?</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Tiene especial relevancia para la </a:t>
            </a:r>
            <a:r>
              <a:rPr kumimoji="0" lang="es-CO" altLang="es-CO" sz="1300" b="1" i="0" u="none" strike="noStrike" cap="none" normalizeH="0" baseline="0" smtClean="0">
                <a:ln>
                  <a:noFill/>
                </a:ln>
                <a:solidFill>
                  <a:srgbClr val="454545"/>
                </a:solidFill>
                <a:effectLst/>
                <a:latin typeface="Roboto"/>
              </a:rPr>
              <a:t>biomecánica y anatomía de la cara</a:t>
            </a:r>
            <a:r>
              <a:rPr kumimoji="0" lang="es-CO" altLang="es-CO" sz="1300" b="0" i="0" u="none" strike="noStrike" cap="none" normalizeH="0" baseline="0" smtClean="0">
                <a:ln>
                  <a:noFill/>
                </a:ln>
                <a:solidFill>
                  <a:srgbClr val="010101"/>
                </a:solidFill>
                <a:effectLst/>
                <a:latin typeface="Roboto"/>
              </a:rPr>
              <a:t>, ya que a través de la unión con otras estructuras, se encarga de formar las diferentes concavidades que posee el rostro, es decir, que colabora con la formación de la las cavidades oral, nasal y ocular.</a:t>
            </a:r>
            <a:endParaRPr kumimoji="0" lang="es-CO" altLang="es-CO" sz="1100" b="0" i="0" u="none" strike="noStrike" cap="none" normalizeH="0" baseline="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Además al ser una estructura que se mantiene firme y estable, sirve de anclaje para pequeños músculos de la cara, como es el caso del </a:t>
            </a:r>
            <a:r>
              <a:rPr kumimoji="0" lang="es-CO" altLang="es-CO" sz="1300" b="1" i="0" u="none" strike="noStrike" cap="none" normalizeH="0" baseline="0" smtClean="0">
                <a:ln>
                  <a:noFill/>
                </a:ln>
                <a:solidFill>
                  <a:srgbClr val="454545"/>
                </a:solidFill>
                <a:effectLst/>
                <a:latin typeface="Roboto"/>
              </a:rPr>
              <a:t>músculo canino y el mirtiforme.</a:t>
            </a:r>
            <a:endParaRPr kumimoji="0" lang="es-CO" altLang="es-CO" sz="1100" b="0" i="0" u="none" strike="noStrike" cap="none" normalizeH="0" baseline="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0" i="1" u="none" strike="noStrike" cap="none" normalizeH="0" baseline="0" smtClean="0">
                <a:ln>
                  <a:noFill/>
                </a:ln>
                <a:solidFill>
                  <a:schemeClr val="tx1"/>
                </a:solidFill>
                <a:effectLst/>
                <a:latin typeface="Arial" panose="020B0604020202020204" pitchFamily="34" charset="0"/>
              </a:rPr>
              <a:t>“Participa en la creación de las cavidades nasal, oral y ocular; y además es el sitio de inserción de dos músculos”</a:t>
            </a:r>
            <a:endParaRPr kumimoji="0" lang="es-CO" altLang="es-CO" sz="1800" b="0" i="0" u="none" strike="noStrike" cap="none" normalizeH="0" baseline="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Y finalmente, debido a la forma irregular que posee el </a:t>
            </a:r>
            <a:r>
              <a:rPr kumimoji="0" lang="es-CO" altLang="es-CO" sz="1300" b="1" i="0" u="none" strike="noStrike" cap="none" normalizeH="0" baseline="0" smtClean="0">
                <a:ln>
                  <a:noFill/>
                </a:ln>
                <a:solidFill>
                  <a:srgbClr val="454545"/>
                </a:solidFill>
                <a:effectLst/>
                <a:latin typeface="Roboto"/>
              </a:rPr>
              <a:t>maxilar</a:t>
            </a:r>
            <a:r>
              <a:rPr kumimoji="0" lang="es-CO" altLang="es-CO" sz="1300" b="0" i="0" u="none" strike="noStrike" cap="none" normalizeH="0" baseline="0" smtClean="0">
                <a:ln>
                  <a:noFill/>
                </a:ln>
                <a:solidFill>
                  <a:srgbClr val="010101"/>
                </a:solidFill>
                <a:effectLst/>
                <a:latin typeface="Roboto"/>
              </a:rPr>
              <a:t>, se encuentran numerosos canales y orificios, por los cuales </a:t>
            </a:r>
            <a:r>
              <a:rPr kumimoji="0" lang="es-CO" altLang="es-CO" sz="1300" b="1" i="0" u="none" strike="noStrike" cap="none" normalizeH="0" baseline="0" smtClean="0">
                <a:ln>
                  <a:noFill/>
                </a:ln>
                <a:solidFill>
                  <a:srgbClr val="454545"/>
                </a:solidFill>
                <a:effectLst/>
                <a:latin typeface="Roboto"/>
              </a:rPr>
              <a:t>transitan nervios y vasos</a:t>
            </a:r>
            <a:r>
              <a:rPr kumimoji="0" lang="es-CO" altLang="es-CO" sz="1300" b="0" i="0" u="none" strike="noStrike" cap="none" normalizeH="0" baseline="0" smtClean="0">
                <a:ln>
                  <a:noFill/>
                </a:ln>
                <a:solidFill>
                  <a:srgbClr val="010101"/>
                </a:solidFill>
                <a:effectLst/>
                <a:latin typeface="Roboto"/>
              </a:rPr>
              <a:t>, necesarios para la inervación y conducción de la sangre, a todas las áreas del rostro.</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¿Qué problemas afectan al maxilar superior?</a:t>
            </a:r>
            <a:endParaRPr kumimoji="0" lang="es-CO" altLang="es-CO" sz="1800" b="1" i="0" u="none" strike="noStrike" cap="none" normalizeH="0" baseline="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En el </a:t>
            </a:r>
            <a:r>
              <a:rPr kumimoji="0" lang="es-CO" altLang="es-CO" sz="1300" b="1" i="0" u="none" strike="noStrike" cap="none" normalizeH="0" baseline="0" smtClean="0">
                <a:ln>
                  <a:noFill/>
                </a:ln>
                <a:solidFill>
                  <a:srgbClr val="454545"/>
                </a:solidFill>
                <a:effectLst/>
                <a:latin typeface="Roboto"/>
              </a:rPr>
              <a:t>hueso maxilar superior</a:t>
            </a:r>
            <a:r>
              <a:rPr kumimoji="0" lang="es-CO" altLang="es-CO" sz="1300" b="0" i="0" u="none" strike="noStrike" cap="none" normalizeH="0" baseline="0" smtClean="0">
                <a:ln>
                  <a:noFill/>
                </a:ln>
                <a:solidFill>
                  <a:srgbClr val="010101"/>
                </a:solidFill>
                <a:effectLst/>
                <a:latin typeface="Roboto"/>
              </a:rPr>
              <a:t>, podemos encontrar varios tipos de alteraciones, entre las cuales nombramos como las más conocidas aquellas que implican factores genéticos, los golpes y caídas, presencia de masas (</a:t>
            </a:r>
            <a:r>
              <a:rPr kumimoji="0" lang="es-CO" altLang="es-CO" sz="1300" b="1" i="0" u="none" strike="noStrike" cap="none" normalizeH="0" baseline="0" smtClean="0">
                <a:ln>
                  <a:noFill/>
                </a:ln>
                <a:solidFill>
                  <a:srgbClr val="454545"/>
                </a:solidFill>
                <a:effectLst/>
                <a:latin typeface="Roboto"/>
              </a:rPr>
              <a:t>tumores y quistes</a:t>
            </a:r>
            <a:r>
              <a:rPr kumimoji="0" lang="es-CO" altLang="es-CO" sz="1300" b="0" i="0" u="none" strike="noStrike" cap="none" normalizeH="0" baseline="0" smtClean="0">
                <a:ln>
                  <a:noFill/>
                </a:ln>
                <a:solidFill>
                  <a:srgbClr val="010101"/>
                </a:solidFill>
                <a:effectLst/>
                <a:latin typeface="Roboto"/>
              </a:rPr>
              <a:t>) y esas que provienen de cambios en el metabolismo de los huesos.</a:t>
            </a:r>
            <a:endParaRPr kumimoji="0" lang="es-CO" altLang="es-CO" sz="1100" b="0" i="0" u="none" strike="noStrike" cap="none" normalizeH="0" baseline="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0" i="1" u="none" strike="noStrike" cap="none" normalizeH="0" baseline="0" smtClean="0">
                <a:ln>
                  <a:noFill/>
                </a:ln>
                <a:solidFill>
                  <a:schemeClr val="tx1"/>
                </a:solidFill>
                <a:effectLst/>
                <a:latin typeface="Arial" panose="020B0604020202020204" pitchFamily="34" charset="0"/>
              </a:rPr>
              <a:t>“Para poder recuperar la salud de los maxilares afectados es necesario asistir a un médico para determinar si se necesita o no una cirugía, y luego realizar el correcto tratamiento”</a:t>
            </a:r>
            <a:endParaRPr kumimoji="0" lang="es-CO" altLang="es-CO" sz="1800" b="0" i="0" u="none" strike="noStrike" cap="none" normalizeH="0" baseline="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rgbClr val="010101"/>
                </a:solidFill>
                <a:effectLst/>
                <a:latin typeface="Roboto"/>
              </a:rPr>
              <a:t>Algunas de las patologías que entran en las clasificaciones anteriores son los aumentos o deficiencias en la composición del hueso</a:t>
            </a:r>
            <a:r>
              <a:rPr kumimoji="0" lang="es-CO" altLang="es-CO" sz="1300" b="1" i="0" u="none" strike="noStrike" cap="none" normalizeH="0" baseline="0" smtClean="0">
                <a:ln>
                  <a:noFill/>
                </a:ln>
                <a:solidFill>
                  <a:srgbClr val="454545"/>
                </a:solidFill>
                <a:effectLst/>
                <a:latin typeface="Roboto"/>
              </a:rPr>
              <a:t>, fracturas, desalineaciones y </a:t>
            </a:r>
            <a:r>
              <a:rPr kumimoji="0" lang="es-CO" altLang="es-CO" sz="1300" b="1" i="0" u="sng" strike="noStrike" cap="none" normalizeH="0" baseline="0" smtClean="0">
                <a:ln>
                  <a:noFill/>
                </a:ln>
                <a:solidFill>
                  <a:srgbClr val="B61E1D"/>
                </a:solidFill>
                <a:effectLst/>
                <a:latin typeface="Roboto"/>
                <a:hlinkClick r:id="rId2"/>
              </a:rPr>
              <a:t>osteoporosis</a:t>
            </a:r>
            <a:r>
              <a:rPr kumimoji="0" lang="es-CO" altLang="es-CO" sz="1300" b="0" i="0" u="none" strike="noStrike" cap="none" normalizeH="0" baseline="0" smtClean="0">
                <a:ln>
                  <a:noFill/>
                </a:ln>
                <a:solidFill>
                  <a:srgbClr val="010101"/>
                </a:solidFill>
                <a:effectLst/>
                <a:latin typeface="Roboto"/>
              </a:rPr>
              <a:t>.</a:t>
            </a:r>
            <a:endParaRPr kumimoji="0" lang="es-CO" altLang="es-CO"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15691" y="1138776"/>
            <a:ext cx="5904411" cy="518446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fontScale="77500" lnSpcReduction="20000"/>
          </a:bodyPr>
          <a:lstStyle/>
          <a:p>
            <a:r>
              <a:rPr lang="es-ES" dirty="0" smtClean="0"/>
              <a:t>MALAR O </a:t>
            </a:r>
            <a:r>
              <a:rPr lang="es-ES" dirty="0" smtClean="0"/>
              <a:t>IGOMATICO</a:t>
            </a:r>
            <a:endParaRPr lang="es-ES" dirty="0" smtClean="0"/>
          </a:p>
          <a:p>
            <a:pPr algn="just"/>
            <a:r>
              <a:rPr lang="es-ES" b="0" dirty="0"/>
              <a:t>El hueso cigomático o malar es un hueso par, corto y compacto, situado en la parte más externa de la cara, en forma cuadrilátera que forma el pómulo de la cara y parte de la órbita y presentan un saliente o proceso cigomático que se une hacia atrás con el proceso cigomático del hueso temporal.</a:t>
            </a:r>
            <a:endParaRPr lang="es-ES" b="0" dirty="0"/>
          </a:p>
          <a:p>
            <a:pPr algn="just"/>
            <a:br>
              <a:rPr lang="es-ES" dirty="0"/>
            </a:br>
            <a:r>
              <a:rPr lang="es-ES" b="0" dirty="0"/>
              <a:t>l hueso cigomático o malar es un hueso par, corto y compacto, situado en la parte más externa de la cara, en forma cuadrilátera que forma el pómulo de la cara y parte de la órbita y presentan un saliente o proceso cigomático que se une hacia atrás con el proceso cigomático del hueso temporal. Solo se denomina así en los mamíferos y se corresponde con el hueso </a:t>
            </a:r>
            <a:r>
              <a:rPr lang="es-ES" b="0" dirty="0" err="1"/>
              <a:t>yugal</a:t>
            </a:r>
            <a:r>
              <a:rPr lang="es-ES" b="0" dirty="0"/>
              <a:t> del resto de los vertebrados. Se articula con el temporal, el maxilar, esfenoides y el frontal.</a:t>
            </a:r>
            <a:endParaRPr lang="es-CO"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72892" y="1561228"/>
            <a:ext cx="4517136" cy="3709416"/>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a:bodyPr>
          <a:lstStyle/>
          <a:p>
            <a:r>
              <a:rPr lang="es-ES" dirty="0" smtClean="0"/>
              <a:t>PALATINO</a:t>
            </a:r>
            <a:endParaRPr lang="es-ES" dirty="0" smtClean="0"/>
          </a:p>
          <a:p>
            <a:r>
              <a:rPr lang="es-ES" b="0" dirty="0"/>
              <a:t>s un </a:t>
            </a:r>
            <a:r>
              <a:rPr lang="es-ES" dirty="0"/>
              <a:t>hueso plano</a:t>
            </a:r>
            <a:r>
              <a:rPr lang="es-ES" b="0" dirty="0"/>
              <a:t>, doble, que no tiene una figura regular y que forma parte de los huesos de la cara. Debido a la forma tan irregular que tiene el </a:t>
            </a:r>
            <a:r>
              <a:rPr lang="es-ES" dirty="0"/>
              <a:t>palatino</a:t>
            </a:r>
            <a:r>
              <a:rPr lang="es-ES" b="0" dirty="0"/>
              <a:t>, al estudiar su anatomía resulta que se encuentran múltiples bordes, apófisis y crestas; pero para que estas zonas se puedan formar es necesaria la unión de otras dos porciones conocidas como </a:t>
            </a:r>
            <a:r>
              <a:rPr lang="es-ES" dirty="0"/>
              <a:t>lámina horizontal</a:t>
            </a:r>
            <a:r>
              <a:rPr lang="es-ES" b="0" dirty="0"/>
              <a:t> y otra llamada </a:t>
            </a:r>
            <a:r>
              <a:rPr lang="es-ES" dirty="0"/>
              <a:t>lámina vertical</a:t>
            </a:r>
            <a:r>
              <a:rPr lang="es-ES" b="0" dirty="0"/>
              <a:t>. </a:t>
            </a:r>
            <a:endParaRPr lang="es-ES" b="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ph type="body" idx="1"/>
          </p:nvPr>
        </p:nvSpPr>
        <p:spPr bwMode="auto">
          <a:xfrm>
            <a:off x="3926541" y="737492"/>
            <a:ext cx="7752697" cy="5668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23767" rIns="91440" bIns="71415"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Qué significa palatino?</a:t>
            </a:r>
            <a:endParaRPr kumimoji="0" lang="es-CO" altLang="es-CO" sz="1800" b="1" i="0" u="none" strike="noStrike" cap="none" normalizeH="0" baseline="0" smtClean="0">
              <a:ln>
                <a:noFill/>
              </a:ln>
              <a:solidFill>
                <a:srgbClr val="004E56"/>
              </a:solidFill>
              <a:effectLst/>
              <a:latin typeface="Montserrat"/>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chemeClr val="tx1"/>
                </a:solidFill>
                <a:effectLst/>
              </a:rPr>
              <a:t>Este término es utilizado para designar aquella zona o hueso que está relacionado directamente con el área de la cavidad bucal, conocida como</a:t>
            </a:r>
            <a:r>
              <a:rPr kumimoji="0" lang="es-CO" altLang="es-CO" sz="1300" b="0" i="0" u="none" strike="noStrike" cap="none" normalizeH="0" baseline="0" smtClean="0">
                <a:ln>
                  <a:noFill/>
                </a:ln>
                <a:solidFill>
                  <a:schemeClr val="tx1"/>
                </a:solidFill>
                <a:effectLst/>
                <a:latin typeface="Arial" panose="020B0604020202020204" pitchFamily="34" charset="0"/>
              </a:rPr>
              <a:t> </a:t>
            </a:r>
            <a:r>
              <a:rPr kumimoji="0" lang="es-CO" altLang="es-CO" sz="1300" b="1" i="0" u="none" strike="noStrike" cap="none" normalizeH="0" baseline="0" smtClean="0">
                <a:ln>
                  <a:noFill/>
                </a:ln>
                <a:solidFill>
                  <a:srgbClr val="454545"/>
                </a:solidFill>
                <a:effectLst/>
                <a:latin typeface="Arial" panose="020B0604020202020204" pitchFamily="34" charset="0"/>
              </a:rPr>
              <a:t>paladar</a:t>
            </a:r>
            <a:r>
              <a:rPr kumimoji="0" lang="es-CO" altLang="es-CO" sz="1300" b="0" i="0" u="none" strike="noStrike" cap="none" normalizeH="0" baseline="0" smtClean="0">
                <a:ln>
                  <a:noFill/>
                </a:ln>
                <a:solidFill>
                  <a:schemeClr val="tx1"/>
                </a:solidFill>
                <a:effectLst/>
                <a:latin typeface="Arial" panose="020B0604020202020204" pitchFamily="34" charset="0"/>
              </a:rPr>
              <a:t>, lo que algunos llaman el cielo de la boca. </a:t>
            </a:r>
            <a:endParaRPr kumimoji="0" lang="es-CO" altLang="es-CO" sz="1800" b="1" i="0" u="none" strike="noStrike" cap="none" normalizeH="0" baseline="0" smtClean="0">
              <a:ln>
                <a:noFill/>
              </a:ln>
              <a:solidFill>
                <a:srgbClr val="004E56"/>
              </a:solidFill>
              <a:effectLst/>
              <a:latin typeface="Montserrat"/>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¿Dónde está el palatino?</a:t>
            </a:r>
            <a:endParaRPr kumimoji="0" lang="es-CO" altLang="es-CO" sz="1800" b="1" i="0" u="none" strike="noStrike" cap="none" normalizeH="0" baseline="0" smtClean="0">
              <a:ln>
                <a:noFill/>
              </a:ln>
              <a:solidFill>
                <a:srgbClr val="004E56"/>
              </a:solidFill>
              <a:effectLst/>
              <a:latin typeface="Montserrat"/>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chemeClr val="tx1"/>
                </a:solidFill>
                <a:effectLst/>
              </a:rPr>
              <a:t>Esta estructura se puede encontrar al observar internamente al macizo óseo, exactamente a cada lado de la</a:t>
            </a:r>
            <a:r>
              <a:rPr kumimoji="0" lang="es-CO" altLang="es-CO" sz="1300" b="0" i="0" u="none" strike="noStrike" cap="none" normalizeH="0" baseline="0" smtClean="0">
                <a:ln>
                  <a:noFill/>
                </a:ln>
                <a:solidFill>
                  <a:schemeClr val="tx1"/>
                </a:solidFill>
                <a:effectLst/>
                <a:latin typeface="Arial" panose="020B0604020202020204" pitchFamily="34" charset="0"/>
              </a:rPr>
              <a:t> </a:t>
            </a:r>
            <a:r>
              <a:rPr kumimoji="0" lang="es-CO" altLang="es-CO" sz="1300" b="1" i="0" u="none" strike="noStrike" cap="none" normalizeH="0" baseline="0" smtClean="0">
                <a:ln>
                  <a:noFill/>
                </a:ln>
                <a:solidFill>
                  <a:srgbClr val="454545"/>
                </a:solidFill>
                <a:effectLst/>
                <a:latin typeface="Arial" panose="020B0604020202020204" pitchFamily="34" charset="0"/>
              </a:rPr>
              <a:t>zona superior del </a:t>
            </a:r>
            <a:r>
              <a:rPr kumimoji="0" lang="es-CO" altLang="es-CO" sz="1300" b="1" i="0" u="sng" strike="noStrike" cap="none" normalizeH="0" baseline="0" smtClean="0">
                <a:ln>
                  <a:noFill/>
                </a:ln>
                <a:solidFill>
                  <a:srgbClr val="B61E1D"/>
                </a:solidFill>
                <a:effectLst/>
                <a:latin typeface="Roboto"/>
                <a:hlinkClick r:id="rId1"/>
              </a:rPr>
              <a:t>maxilar superior</a:t>
            </a:r>
            <a:r>
              <a:rPr kumimoji="0" lang="es-CO" altLang="es-CO" sz="1300" b="0" i="0" u="none" strike="noStrike" cap="none" normalizeH="0" baseline="0" smtClean="0">
                <a:ln>
                  <a:noFill/>
                </a:ln>
                <a:solidFill>
                  <a:schemeClr val="tx1"/>
                </a:solidFill>
                <a:effectLst/>
              </a:rPr>
              <a:t>, es decir, que en la cara encontramos dos palatinos exactamente iguales.</a:t>
            </a:r>
            <a:endParaRPr kumimoji="0" lang="es-CO" altLang="es-CO" sz="1300" b="0" i="0" u="none" strike="noStrike" cap="none" normalizeH="0" baseline="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300" b="0" i="1" u="none" strike="noStrike" cap="none" normalizeH="0" baseline="0" smtClean="0">
                <a:ln>
                  <a:noFill/>
                </a:ln>
                <a:solidFill>
                  <a:schemeClr val="tx1"/>
                </a:solidFill>
                <a:effectLst/>
                <a:latin typeface="Arial" panose="020B0604020202020204" pitchFamily="34" charset="0"/>
              </a:rPr>
              <a:t>“Se sitúa por encima del maxilar superior”</a:t>
            </a:r>
            <a:endParaRPr kumimoji="0" lang="es-CO" altLang="es-CO" sz="1800" b="1" i="0" u="none" strike="noStrike" cap="none" normalizeH="0" baseline="0" smtClean="0">
              <a:ln>
                <a:noFill/>
              </a:ln>
              <a:solidFill>
                <a:srgbClr val="004E56"/>
              </a:solidFill>
              <a:effectLst/>
              <a:latin typeface="Montserrat"/>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¿Para qué sirve el hueso palatino?</a:t>
            </a:r>
            <a:endParaRPr kumimoji="0" lang="es-CO" altLang="es-CO" sz="1800" b="1" i="0" u="none" strike="noStrike" cap="none" normalizeH="0" baseline="0" smtClean="0">
              <a:ln>
                <a:noFill/>
              </a:ln>
              <a:solidFill>
                <a:srgbClr val="004E56"/>
              </a:solidFill>
              <a:effectLst/>
              <a:latin typeface="Montserrat"/>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chemeClr val="tx1"/>
                </a:solidFill>
                <a:effectLst/>
              </a:rPr>
              <a:t>Además de articularse con el esfenoides y las cavidades orbitarias, como se mencionó anteriormente, también se relaciona con el hueso vómer, el cornete inferior y con el etmoides. Y es debido a que se encuentra pegado a las</a:t>
            </a:r>
            <a:r>
              <a:rPr kumimoji="0" lang="es-CO" altLang="es-CO" sz="1300" b="0" i="0" u="none" strike="noStrike" cap="none" normalizeH="0" baseline="0" smtClean="0">
                <a:ln>
                  <a:noFill/>
                </a:ln>
                <a:solidFill>
                  <a:schemeClr val="tx1"/>
                </a:solidFill>
                <a:effectLst/>
                <a:latin typeface="Arial" panose="020B0604020202020204" pitchFamily="34" charset="0"/>
              </a:rPr>
              <a:t> </a:t>
            </a:r>
            <a:r>
              <a:rPr kumimoji="0" lang="es-CO" altLang="es-CO" sz="1300" b="1" i="0" u="none" strike="noStrike" cap="none" normalizeH="0" baseline="0" smtClean="0">
                <a:ln>
                  <a:noFill/>
                </a:ln>
                <a:solidFill>
                  <a:srgbClr val="454545"/>
                </a:solidFill>
                <a:effectLst/>
                <a:latin typeface="Arial" panose="020B0604020202020204" pitchFamily="34" charset="0"/>
              </a:rPr>
              <a:t>fosas nasales</a:t>
            </a:r>
            <a:r>
              <a:rPr kumimoji="0" lang="es-CO" altLang="es-CO" sz="1300" b="0" i="0" u="none" strike="noStrike" cap="none" normalizeH="0" baseline="0" smtClean="0">
                <a:ln>
                  <a:noFill/>
                </a:ln>
                <a:solidFill>
                  <a:schemeClr val="tx1"/>
                </a:solidFill>
                <a:effectLst/>
                <a:latin typeface="Arial" panose="020B0604020202020204" pitchFamily="34" charset="0"/>
              </a:rPr>
              <a:t> que participa en la creación de estas estructuras, y funciona como una caja de resonancia en el momento que hablamos.</a:t>
            </a:r>
            <a:endParaRPr kumimoji="0" lang="es-CO" altLang="es-CO" sz="1300" b="0" i="0" u="none" strike="noStrike" cap="none" normalizeH="0" baseline="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chemeClr val="tx1"/>
                </a:solidFill>
                <a:effectLst/>
                <a:latin typeface="Arial" panose="020B0604020202020204" pitchFamily="34" charset="0"/>
              </a:rPr>
              <a:t>Y finalmente, tenemos que es un </a:t>
            </a:r>
            <a:r>
              <a:rPr kumimoji="0" lang="es-CO" altLang="es-CO" sz="1300" b="1" i="0" u="none" strike="noStrike" cap="none" normalizeH="0" baseline="0" smtClean="0">
                <a:ln>
                  <a:noFill/>
                </a:ln>
                <a:solidFill>
                  <a:srgbClr val="454545"/>
                </a:solidFill>
                <a:effectLst/>
                <a:latin typeface="Arial" panose="020B0604020202020204" pitchFamily="34" charset="0"/>
              </a:rPr>
              <a:t>punto de inserción</a:t>
            </a:r>
            <a:r>
              <a:rPr kumimoji="0" lang="es-CO" altLang="es-CO" sz="1300" b="0" i="0" u="none" strike="noStrike" cap="none" normalizeH="0" baseline="0" smtClean="0">
                <a:ln>
                  <a:noFill/>
                </a:ln>
                <a:solidFill>
                  <a:schemeClr val="tx1"/>
                </a:solidFill>
                <a:effectLst/>
                <a:latin typeface="Arial" panose="020B0604020202020204" pitchFamily="34" charset="0"/>
              </a:rPr>
              <a:t> de algunos músculos que vienen de la úvula, faringe y de la fosa del pterigoideo. Estos son el músculo palatoestafilino, faringoestafilino, periestafilino, los pterigoideos (</a:t>
            </a:r>
            <a:r>
              <a:rPr kumimoji="0" lang="es-CO" altLang="es-CO" sz="1300" b="1" i="0" u="sng" strike="noStrike" cap="none" normalizeH="0" baseline="0" smtClean="0">
                <a:ln>
                  <a:noFill/>
                </a:ln>
                <a:solidFill>
                  <a:srgbClr val="B61E1D"/>
                </a:solidFill>
                <a:effectLst/>
                <a:latin typeface="Roboto"/>
                <a:hlinkClick r:id="rId2"/>
              </a:rPr>
              <a:t>externo</a:t>
            </a:r>
            <a:r>
              <a:rPr kumimoji="0" lang="es-CO" altLang="es-CO" sz="1300" b="0" i="0" u="none" strike="noStrike" cap="none" normalizeH="0" baseline="0" smtClean="0">
                <a:ln>
                  <a:noFill/>
                </a:ln>
                <a:solidFill>
                  <a:schemeClr val="tx1"/>
                </a:solidFill>
                <a:effectLst/>
              </a:rPr>
              <a:t> </a:t>
            </a:r>
            <a:r>
              <a:rPr kumimoji="0" lang="es-CO" altLang="es-CO" sz="1300" b="0" i="0" u="none" strike="noStrike" cap="none" normalizeH="0" baseline="0" smtClean="0">
                <a:ln>
                  <a:noFill/>
                </a:ln>
                <a:solidFill>
                  <a:schemeClr val="tx1"/>
                </a:solidFill>
                <a:effectLst/>
                <a:latin typeface="Arial" panose="020B0604020202020204" pitchFamily="34" charset="0"/>
              </a:rPr>
              <a:t>e </a:t>
            </a:r>
            <a:r>
              <a:rPr kumimoji="0" lang="es-CO" altLang="es-CO" sz="1300" b="1" i="0" u="sng" strike="noStrike" cap="none" normalizeH="0" baseline="0" smtClean="0">
                <a:ln>
                  <a:noFill/>
                </a:ln>
                <a:solidFill>
                  <a:srgbClr val="B61E1D"/>
                </a:solidFill>
                <a:effectLst/>
                <a:latin typeface="Roboto"/>
                <a:hlinkClick r:id="rId3"/>
              </a:rPr>
              <a:t>interno</a:t>
            </a:r>
            <a:r>
              <a:rPr kumimoji="0" lang="es-CO" altLang="es-CO" sz="1300" b="0" i="0" u="none" strike="noStrike" cap="none" normalizeH="0" baseline="0" smtClean="0">
                <a:ln>
                  <a:noFill/>
                </a:ln>
                <a:solidFill>
                  <a:schemeClr val="tx1"/>
                </a:solidFill>
                <a:effectLst/>
              </a:rPr>
              <a:t>) y el constrictor de la faringe. </a:t>
            </a:r>
            <a:endParaRPr kumimoji="0" lang="es-CO" altLang="es-CO" sz="1800" b="1" i="0" u="none" strike="noStrike" cap="none" normalizeH="0" baseline="0" smtClean="0">
              <a:ln>
                <a:noFill/>
              </a:ln>
              <a:solidFill>
                <a:srgbClr val="004E56"/>
              </a:solidFill>
              <a:effectLst/>
              <a:latin typeface="Montserrat"/>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smtClean="0">
                <a:ln>
                  <a:noFill/>
                </a:ln>
                <a:solidFill>
                  <a:srgbClr val="004E56"/>
                </a:solidFill>
                <a:effectLst/>
                <a:latin typeface="Montserrat"/>
              </a:rPr>
              <a:t>¿Cuáles lesiones afectan al palatino?</a:t>
            </a:r>
            <a:endParaRPr kumimoji="0" lang="es-CO" altLang="es-CO" sz="1800" b="1" i="0" u="none" strike="noStrike" cap="none" normalizeH="0" baseline="0" smtClean="0">
              <a:ln>
                <a:noFill/>
              </a:ln>
              <a:solidFill>
                <a:srgbClr val="004E56"/>
              </a:solidFill>
              <a:effectLst/>
              <a:latin typeface="Montserrat"/>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chemeClr val="tx1"/>
                </a:solidFill>
                <a:effectLst/>
              </a:rPr>
              <a:t>Una de las patologías o lesiones que afectan a la zona del paladar, es la</a:t>
            </a:r>
            <a:r>
              <a:rPr kumimoji="0" lang="es-CO" altLang="es-CO" sz="1300" b="0" i="0" u="none" strike="noStrike" cap="none" normalizeH="0" baseline="0" smtClean="0">
                <a:ln>
                  <a:noFill/>
                </a:ln>
                <a:solidFill>
                  <a:schemeClr val="tx1"/>
                </a:solidFill>
                <a:effectLst/>
                <a:latin typeface="Arial" panose="020B0604020202020204" pitchFamily="34" charset="0"/>
              </a:rPr>
              <a:t> </a:t>
            </a:r>
            <a:r>
              <a:rPr kumimoji="0" lang="es-CO" altLang="es-CO" sz="1300" b="1" i="0" u="none" strike="noStrike" cap="none" normalizeH="0" baseline="0" smtClean="0">
                <a:ln>
                  <a:noFill/>
                </a:ln>
                <a:solidFill>
                  <a:srgbClr val="454545"/>
                </a:solidFill>
                <a:effectLst/>
                <a:latin typeface="Arial" panose="020B0604020202020204" pitchFamily="34" charset="0"/>
              </a:rPr>
              <a:t>fisura palatina</a:t>
            </a:r>
            <a:r>
              <a:rPr kumimoji="0" lang="es-CO" altLang="es-CO" sz="1300" b="0" i="0" u="none" strike="noStrike" cap="none" normalizeH="0" baseline="0" smtClean="0">
                <a:ln>
                  <a:noFill/>
                </a:ln>
                <a:solidFill>
                  <a:schemeClr val="tx1"/>
                </a:solidFill>
                <a:effectLst/>
                <a:latin typeface="Arial" panose="020B0604020202020204" pitchFamily="34" charset="0"/>
              </a:rPr>
              <a:t>, este es un defecto que ocurre desde el nacimiento y que ocasiona una división en el área blanda del paladar que puede llegar a fragmentar incluso a la zona dura del mismo. </a:t>
            </a:r>
            <a:endParaRPr kumimoji="0" lang="es-CO" altLang="es-CO" sz="1300" b="0" i="0" u="none" strike="noStrike" cap="none" normalizeH="0" baseline="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smtClean="0">
                <a:ln>
                  <a:noFill/>
                </a:ln>
                <a:solidFill>
                  <a:schemeClr val="tx1"/>
                </a:solidFill>
                <a:effectLst/>
                <a:latin typeface="Arial" panose="020B0604020202020204" pitchFamily="34" charset="0"/>
              </a:rPr>
              <a:t>En estos casos, los bebés pueden presentar con el tiempo dificultades del habla y </a:t>
            </a:r>
            <a:r>
              <a:rPr kumimoji="0" lang="es-CO" altLang="es-CO" sz="1300" b="1" i="0" u="sng" strike="noStrike" cap="none" normalizeH="0" baseline="0" smtClean="0">
                <a:ln>
                  <a:noFill/>
                </a:ln>
                <a:solidFill>
                  <a:srgbClr val="B61E1D"/>
                </a:solidFill>
                <a:effectLst/>
                <a:latin typeface="Roboto"/>
                <a:hlinkClick r:id="rId4"/>
              </a:rPr>
              <a:t>dificultades para tragar</a:t>
            </a:r>
            <a:r>
              <a:rPr kumimoji="0" lang="es-CO" altLang="es-CO" sz="1300" b="0" i="0" u="none" strike="noStrike" cap="none" normalizeH="0" baseline="0" smtClean="0">
                <a:ln>
                  <a:noFill/>
                </a:ln>
                <a:solidFill>
                  <a:schemeClr val="tx1"/>
                </a:solidFill>
                <a:effectLst/>
              </a:rPr>
              <a:t> </a:t>
            </a:r>
            <a:r>
              <a:rPr kumimoji="0" lang="es-CO" altLang="es-CO" sz="1300" b="0" i="0" u="none" strike="noStrike" cap="none" normalizeH="0" baseline="0" smtClean="0">
                <a:ln>
                  <a:noFill/>
                </a:ln>
                <a:solidFill>
                  <a:schemeClr val="tx1"/>
                </a:solidFill>
                <a:effectLst/>
                <a:latin typeface="Arial" panose="020B0604020202020204" pitchFamily="34" charset="0"/>
              </a:rPr>
              <a:t>debido a que la cavidad oral y la zona nasal no se encuentran divididos por una pared, como sucede normalmente. </a:t>
            </a:r>
            <a:endParaRPr kumimoji="0" lang="es-CO" altLang="es-CO" sz="1100" b="0" i="0" u="none" strike="noStrike" cap="none" normalizeH="0" baseline="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s-CO" altLang="es-CO" sz="1200" b="0" i="0" u="none" strike="noStrike" cap="none" normalizeH="0" baseline="0" smtClean="0">
                <a:ln>
                  <a:noFill/>
                </a:ln>
                <a:solidFill>
                  <a:srgbClr val="010101"/>
                </a:solidFill>
                <a:effectLst/>
                <a:latin typeface="Roboto"/>
              </a:rPr>
              <a:t>Compartir:</a:t>
            </a:r>
            <a:br>
              <a:rPr kumimoji="0" lang="es-CO" altLang="es-CO" sz="1100" b="0" i="0" u="none" strike="noStrike" cap="none" normalizeH="0" baseline="0" smtClean="0">
                <a:ln>
                  <a:noFill/>
                </a:ln>
                <a:solidFill>
                  <a:schemeClr val="tx1"/>
                </a:solidFill>
                <a:effectLst/>
              </a:rPr>
            </a:br>
            <a:endParaRPr kumimoji="0" lang="es-CO" altLang="es-CO"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91115" y="1561154"/>
            <a:ext cx="3587572" cy="497469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fontScale="55000" lnSpcReduction="20000"/>
          </a:bodyPr>
          <a:lstStyle/>
          <a:p>
            <a:r>
              <a:rPr lang="es-ES" dirty="0" smtClean="0"/>
              <a:t>HUESO </a:t>
            </a:r>
            <a:r>
              <a:rPr lang="es-ES" dirty="0" smtClean="0"/>
              <a:t>NASAL</a:t>
            </a:r>
            <a:endParaRPr lang="es-CO" dirty="0"/>
          </a:p>
          <a:p>
            <a:r>
              <a:rPr lang="es-ES" b="0" dirty="0"/>
              <a:t>El </a:t>
            </a:r>
            <a:r>
              <a:rPr lang="es-ES" dirty="0"/>
              <a:t>hueso nasal</a:t>
            </a:r>
            <a:r>
              <a:rPr lang="es-ES" b="0" dirty="0"/>
              <a:t> o también llamado h</a:t>
            </a:r>
            <a:r>
              <a:rPr lang="es-ES" dirty="0"/>
              <a:t>uesos propios de la nariz</a:t>
            </a:r>
            <a:r>
              <a:rPr lang="es-ES" b="0" dirty="0"/>
              <a:t>, son dos estructuras óseas pequeñas que se sitúan en la parte más superior de la nariz. Por lo tanto, forman parte del macizo facial</a:t>
            </a:r>
            <a:r>
              <a:rPr lang="es-ES" b="0" dirty="0" smtClean="0"/>
              <a:t>.</a:t>
            </a:r>
            <a:endParaRPr lang="es-ES" b="0" dirty="0" smtClean="0"/>
          </a:p>
          <a:p>
            <a:r>
              <a:rPr lang="es-ES" dirty="0"/>
              <a:t>Dónde está el hueso nasal?</a:t>
            </a:r>
            <a:endParaRPr lang="es-ES" dirty="0"/>
          </a:p>
          <a:p>
            <a:r>
              <a:rPr lang="es-ES" b="0" dirty="0"/>
              <a:t>Estos dos huesos se sitúan en la </a:t>
            </a:r>
            <a:r>
              <a:rPr lang="es-ES" dirty="0"/>
              <a:t>parte media de la cara</a:t>
            </a:r>
            <a:r>
              <a:rPr lang="es-ES" b="0" dirty="0"/>
              <a:t>, justo por encima de las expansiones del cartílago nasal.</a:t>
            </a:r>
            <a:endParaRPr lang="es-ES" b="0" dirty="0"/>
          </a:p>
          <a:p>
            <a:r>
              <a:rPr lang="es-ES" dirty="0"/>
              <a:t>¿Para qué sirve el hueso nasal?</a:t>
            </a:r>
            <a:endParaRPr lang="es-ES" dirty="0"/>
          </a:p>
          <a:p>
            <a:r>
              <a:rPr lang="es-ES" b="0" dirty="0"/>
              <a:t>Además de ser importante para la </a:t>
            </a:r>
            <a:r>
              <a:rPr lang="es-ES" dirty="0"/>
              <a:t>anatomía de la cara</a:t>
            </a:r>
            <a:r>
              <a:rPr lang="es-ES" b="0" dirty="0"/>
              <a:t>, cada hueso nasal es necesario para que se desarrolle adecuadamente la forma de la nariz, debido a que son las estructuras donde se conectan los </a:t>
            </a:r>
            <a:r>
              <a:rPr lang="es-ES" dirty="0"/>
              <a:t>cartílagos nasales</a:t>
            </a:r>
            <a:r>
              <a:rPr lang="es-ES" b="0" dirty="0"/>
              <a:t>.</a:t>
            </a:r>
            <a:endParaRPr lang="es-ES" b="0" dirty="0"/>
          </a:p>
          <a:p>
            <a:r>
              <a:rPr lang="es-ES" dirty="0"/>
              <a:t>¿Qué pasa si un bebé no tiene hueso nasal?</a:t>
            </a:r>
            <a:endParaRPr lang="es-ES" dirty="0"/>
          </a:p>
          <a:p>
            <a:r>
              <a:rPr lang="es-ES" b="0" dirty="0"/>
              <a:t>Cuando los </a:t>
            </a:r>
            <a:r>
              <a:rPr lang="es-ES" dirty="0"/>
              <a:t>huesos nasales</a:t>
            </a:r>
            <a:r>
              <a:rPr lang="es-ES" b="0" dirty="0"/>
              <a:t> no se desarrollan adecuadamente, encontraremos una condición conocida como </a:t>
            </a:r>
            <a:r>
              <a:rPr lang="es-ES" dirty="0"/>
              <a:t>hipoplasia nasal</a:t>
            </a:r>
            <a:r>
              <a:rPr lang="es-ES" b="0" dirty="0"/>
              <a:t>. Esta alteración puede ser ocasionada por posturas inadecuadas en el útero o por anomalías congénitas.</a:t>
            </a:r>
            <a:endParaRPr lang="es-ES" b="0" dirty="0"/>
          </a:p>
          <a:p>
            <a:r>
              <a:rPr lang="es-ES" b="0" dirty="0"/>
              <a:t>Dependiendo, del grado de</a:t>
            </a:r>
            <a:r>
              <a:rPr lang="es-ES" dirty="0"/>
              <a:t> hipoplasia</a:t>
            </a:r>
            <a:r>
              <a:rPr lang="es-ES" b="0" dirty="0"/>
              <a:t> es que se debe realizar el tratamiento que sea más idóneo para el bebé</a:t>
            </a:r>
            <a:r>
              <a:rPr lang="es-ES" b="0" dirty="0" smtClean="0"/>
              <a:t>.</a:t>
            </a:r>
            <a:endParaRPr lang="es-ES" b="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fontScale="62500" lnSpcReduction="20000"/>
          </a:bodyPr>
          <a:lstStyle/>
          <a:p>
            <a:r>
              <a:rPr lang="es-ES" b="0" dirty="0"/>
              <a:t>Los huesos nasales son predominantemente de tipo compacto y están cubiertos por una capa delgada de tejido conectivo y piel.</a:t>
            </a:r>
            <a:endParaRPr lang="es-ES" b="0" dirty="0"/>
          </a:p>
          <a:p>
            <a:r>
              <a:rPr lang="es-ES" b="0" dirty="0"/>
              <a:t>Su estructura sólida pero relativamente flexible permite que cumplan su función protectora mientras ofrecen soporte para la forma general de la nariz.</a:t>
            </a:r>
            <a:endParaRPr lang="es-ES" b="0" dirty="0"/>
          </a:p>
          <a:p>
            <a:r>
              <a:rPr lang="es-ES" b="0" cap="all" dirty="0"/>
              <a:t>FUNCIONES DEL HUESO NASAL</a:t>
            </a:r>
            <a:endParaRPr lang="es-ES" b="0" cap="all" dirty="0"/>
          </a:p>
          <a:p>
            <a:r>
              <a:rPr lang="es-ES" b="0" dirty="0"/>
              <a:t>Soporte estructural</a:t>
            </a:r>
            <a:endParaRPr lang="es-ES" b="0" dirty="0"/>
          </a:p>
          <a:p>
            <a:r>
              <a:rPr lang="es-ES" b="0" dirty="0"/>
              <a:t>Los huesos nasales proporcionan</a:t>
            </a:r>
            <a:r>
              <a:rPr lang="es-ES" dirty="0"/>
              <a:t> el soporte estructural primario</a:t>
            </a:r>
            <a:r>
              <a:rPr lang="es-ES" b="0" dirty="0"/>
              <a:t> para la parte superior de la nariz y juegan un papel crucial en la definición de la apariencia del puente nasal.</a:t>
            </a:r>
            <a:endParaRPr lang="es-ES" b="0" dirty="0"/>
          </a:p>
          <a:p>
            <a:r>
              <a:rPr lang="es-ES" b="0" dirty="0"/>
              <a:t>Esta área es frecuentemente modificada en procedimientos de rinoplastia para mejorar la estética facial.</a:t>
            </a:r>
            <a:endParaRPr lang="es-ES" b="0" dirty="0"/>
          </a:p>
          <a:p>
            <a:r>
              <a:rPr lang="es-ES" b="0" dirty="0"/>
              <a:t>Protección</a:t>
            </a:r>
            <a:endParaRPr lang="es-ES" b="0" dirty="0"/>
          </a:p>
          <a:p>
            <a:r>
              <a:rPr lang="es-ES" b="0" dirty="0"/>
              <a:t>Además de su rol estético, estos huesos protegen las cavidades nasales y, por ende, el sistema respiratorio inferior, de impactos físicos que podrían causar lesiones internas.</a:t>
            </a:r>
            <a:endParaRPr lang="es-ES" b="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sebastianmoya.es/wp-content/uploads/2024/07/hueso-nasal-500x500.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85113" y="1701135"/>
            <a:ext cx="4233545" cy="44277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fontScale="70000" lnSpcReduction="20000"/>
          </a:bodyPr>
          <a:lstStyle/>
          <a:p>
            <a:r>
              <a:rPr lang="es-ES" dirty="0" smtClean="0"/>
              <a:t>HUESO </a:t>
            </a:r>
            <a:r>
              <a:rPr lang="es-ES" dirty="0" smtClean="0"/>
              <a:t>LAGRIMAL</a:t>
            </a:r>
            <a:endParaRPr lang="es-ES" dirty="0" smtClean="0"/>
          </a:p>
          <a:p>
            <a:r>
              <a:rPr lang="es-ES" b="0" dirty="0"/>
              <a:t>El </a:t>
            </a:r>
            <a:r>
              <a:rPr lang="es-ES" dirty="0"/>
              <a:t>hueso lagrimal</a:t>
            </a:r>
            <a:r>
              <a:rPr lang="es-ES" b="0" dirty="0"/>
              <a:t> o también llamado </a:t>
            </a:r>
            <a:r>
              <a:rPr lang="es-ES" dirty="0"/>
              <a:t>unguis</a:t>
            </a:r>
            <a:r>
              <a:rPr lang="es-ES" b="0" dirty="0"/>
              <a:t> es una estructura ósea irregular que se sitúa en la parte interna de la cara, por lo que está clasificado dentro del macizo óseo. Este además, gracias a sus caras y bordes permite la creación del </a:t>
            </a:r>
            <a:r>
              <a:rPr lang="es-ES" dirty="0"/>
              <a:t>conducto </a:t>
            </a:r>
            <a:r>
              <a:rPr lang="es-ES" dirty="0" err="1"/>
              <a:t>lacrimonasal</a:t>
            </a:r>
            <a:r>
              <a:rPr lang="es-ES" b="0" dirty="0" smtClean="0"/>
              <a:t>.</a:t>
            </a:r>
            <a:endParaRPr lang="es-ES" b="0" dirty="0" smtClean="0"/>
          </a:p>
          <a:p>
            <a:r>
              <a:rPr lang="es-ES" b="0" dirty="0"/>
              <a:t>La </a:t>
            </a:r>
            <a:r>
              <a:rPr lang="es-ES" dirty="0"/>
              <a:t>cara y la cabeza</a:t>
            </a:r>
            <a:r>
              <a:rPr lang="es-ES" b="0" dirty="0"/>
              <a:t> para poder proteger a las partes blandas del encéfalo y a los pares craneales, necesita de un sistema óseo especial que también mantenga a las estructuras en su correcta posición. Y ese sistema está conformado por el </a:t>
            </a:r>
            <a:r>
              <a:rPr lang="es-ES" dirty="0"/>
              <a:t>cráneo y por el macizo óseo</a:t>
            </a:r>
            <a:r>
              <a:rPr lang="es-ES" b="0" dirty="0"/>
              <a:t>, que a su vez se forman por otros huesos más pequeños.</a:t>
            </a:r>
            <a:endParaRPr lang="es-ES" b="0" dirty="0"/>
          </a:p>
          <a:p>
            <a:r>
              <a:rPr lang="es-ES" b="0" dirty="0"/>
              <a:t>De acuerdo a la </a:t>
            </a:r>
            <a:r>
              <a:rPr lang="es-ES" dirty="0"/>
              <a:t>anatomía</a:t>
            </a:r>
            <a:r>
              <a:rPr lang="es-ES" b="0" dirty="0"/>
              <a:t>, también es un </a:t>
            </a:r>
            <a:r>
              <a:rPr lang="es-ES" dirty="0"/>
              <a:t>hueso</a:t>
            </a:r>
            <a:r>
              <a:rPr lang="es-ES" b="0" dirty="0"/>
              <a:t> que presenta un surco que se relaciona con una </a:t>
            </a:r>
            <a:r>
              <a:rPr lang="es-ES" dirty="0"/>
              <a:t>cresta lagrimal </a:t>
            </a:r>
            <a:r>
              <a:rPr lang="es-ES" b="0" dirty="0"/>
              <a:t>y una apófisis que se une con el </a:t>
            </a:r>
            <a:r>
              <a:rPr lang="es-ES" u="sng" dirty="0">
                <a:hlinkClick r:id="rId1"/>
              </a:rPr>
              <a:t>maxilar</a:t>
            </a:r>
            <a:r>
              <a:rPr lang="es-ES" b="0" dirty="0"/>
              <a:t>.</a:t>
            </a:r>
            <a:endParaRPr lang="es-ES" b="0" dirty="0"/>
          </a:p>
          <a:p>
            <a:r>
              <a:rPr lang="es-ES" dirty="0" smtClean="0"/>
              <a:t> </a:t>
            </a:r>
            <a:endParaRPr lang="es-CO"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ph type="body" idx="1"/>
          </p:nvPr>
        </p:nvSpPr>
        <p:spPr bwMode="auto">
          <a:xfrm>
            <a:off x="3765177" y="929853"/>
            <a:ext cx="7914062" cy="52840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23767" rIns="91440" bIns="71415"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dirty="0" smtClean="0">
                <a:ln>
                  <a:noFill/>
                </a:ln>
                <a:solidFill>
                  <a:srgbClr val="004E56"/>
                </a:solidFill>
                <a:effectLst/>
                <a:latin typeface="Montserrat"/>
              </a:rPr>
              <a:t>Qué significa lagrimal?</a:t>
            </a:r>
            <a:endParaRPr kumimoji="0" lang="es-CO" altLang="es-CO" sz="1800" b="1" i="0" u="none" strike="noStrike" cap="none" normalizeH="0" baseline="0" dirty="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1" i="0" u="none" strike="noStrike" cap="none" normalizeH="0" baseline="0" dirty="0" smtClean="0">
                <a:ln>
                  <a:noFill/>
                </a:ln>
                <a:solidFill>
                  <a:srgbClr val="454545"/>
                </a:solidFill>
                <a:effectLst/>
                <a:latin typeface="Roboto"/>
              </a:rPr>
              <a:t>Lagrimal</a:t>
            </a:r>
            <a:r>
              <a:rPr kumimoji="0" lang="es-CO" altLang="es-CO" sz="1300" b="0" i="0" u="none" strike="noStrike" cap="none" normalizeH="0" baseline="0" dirty="0" smtClean="0">
                <a:ln>
                  <a:noFill/>
                </a:ln>
                <a:solidFill>
                  <a:srgbClr val="010101"/>
                </a:solidFill>
                <a:effectLst/>
                <a:latin typeface="Roboto"/>
              </a:rPr>
              <a:t> es un término utilizado en anatomía para nombrar a todas aquellas estructuras que tienen relación con la región del ojo que libera una sustancia que lubrica el ojo, y que es conocida como lágrima.</a:t>
            </a:r>
            <a:endParaRPr kumimoji="0" lang="es-CO" altLang="es-CO" sz="1800" b="1" i="0" u="none" strike="noStrike" cap="none" normalizeH="0" baseline="0" dirty="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dirty="0" smtClean="0">
                <a:ln>
                  <a:noFill/>
                </a:ln>
                <a:solidFill>
                  <a:srgbClr val="004E56"/>
                </a:solidFill>
                <a:effectLst/>
                <a:latin typeface="Montserrat"/>
              </a:rPr>
              <a:t>¿Dónde queda el hueso lagrimal?</a:t>
            </a:r>
            <a:endParaRPr kumimoji="0" lang="es-CO" altLang="es-CO" sz="1800" b="1" i="0" u="none" strike="noStrike" cap="none" normalizeH="0" baseline="0" dirty="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dirty="0" smtClean="0">
                <a:ln>
                  <a:noFill/>
                </a:ln>
                <a:solidFill>
                  <a:srgbClr val="010101"/>
                </a:solidFill>
                <a:effectLst/>
                <a:latin typeface="Roboto"/>
              </a:rPr>
              <a:t>El</a:t>
            </a:r>
            <a:r>
              <a:rPr kumimoji="0" lang="es-CO" altLang="es-CO" sz="1300" b="1" i="0" u="none" strike="noStrike" cap="none" normalizeH="0" baseline="0" dirty="0" smtClean="0">
                <a:ln>
                  <a:noFill/>
                </a:ln>
                <a:solidFill>
                  <a:srgbClr val="454545"/>
                </a:solidFill>
                <a:effectLst/>
                <a:latin typeface="Roboto"/>
              </a:rPr>
              <a:t> hueso lagrimal</a:t>
            </a:r>
            <a:r>
              <a:rPr kumimoji="0" lang="es-CO" altLang="es-CO" sz="1300" b="0" i="0" u="none" strike="noStrike" cap="none" normalizeH="0" baseline="0" dirty="0" smtClean="0">
                <a:ln>
                  <a:noFill/>
                </a:ln>
                <a:solidFill>
                  <a:srgbClr val="010101"/>
                </a:solidFill>
                <a:effectLst/>
                <a:latin typeface="Roboto"/>
              </a:rPr>
              <a:t> con su forma característica se localiza en la cara en una parte interna de la órbita, muy cercano a una protuberancia que presenta el hueso maxilar</a:t>
            </a:r>
            <a:endParaRPr kumimoji="0" lang="es-CO" altLang="es-CO" sz="1800" b="1" i="0" u="none" strike="noStrike" cap="none" normalizeH="0" baseline="0" dirty="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dirty="0" smtClean="0">
                <a:ln>
                  <a:noFill/>
                </a:ln>
                <a:solidFill>
                  <a:srgbClr val="004E56"/>
                </a:solidFill>
                <a:effectLst/>
                <a:latin typeface="Montserrat"/>
              </a:rPr>
              <a:t>¿Cómo funciona el hueso lagrimal?</a:t>
            </a:r>
            <a:endParaRPr kumimoji="0" lang="es-CO" altLang="es-CO" sz="1800" b="1" i="0" u="none" strike="noStrike" cap="none" normalizeH="0" baseline="0" dirty="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dirty="0" smtClean="0">
                <a:ln>
                  <a:noFill/>
                </a:ln>
                <a:solidFill>
                  <a:srgbClr val="010101"/>
                </a:solidFill>
                <a:effectLst/>
                <a:latin typeface="Roboto"/>
              </a:rPr>
              <a:t>Al igual que los otros huesos de la región, el </a:t>
            </a:r>
            <a:r>
              <a:rPr kumimoji="0" lang="es-CO" altLang="es-CO" sz="1300" b="1" i="0" u="none" strike="noStrike" cap="none" normalizeH="0" baseline="0" dirty="0" smtClean="0">
                <a:ln>
                  <a:noFill/>
                </a:ln>
                <a:solidFill>
                  <a:srgbClr val="454545"/>
                </a:solidFill>
                <a:effectLst/>
                <a:latin typeface="Roboto"/>
              </a:rPr>
              <a:t>lagrimal </a:t>
            </a:r>
            <a:r>
              <a:rPr kumimoji="0" lang="es-CO" altLang="es-CO" sz="1300" b="0" i="0" u="none" strike="noStrike" cap="none" normalizeH="0" baseline="0" dirty="0" smtClean="0">
                <a:ln>
                  <a:noFill/>
                </a:ln>
                <a:solidFill>
                  <a:srgbClr val="010101"/>
                </a:solidFill>
                <a:effectLst/>
                <a:latin typeface="Roboto"/>
              </a:rPr>
              <a:t>funciona permitiendo que se formen varias articulaciones, y al mismo tiempo surcos por donde transitan los nervios y arterias necesarios para que se activen los movimientos y la sensibilidad de la cara.</a:t>
            </a:r>
            <a:endParaRPr kumimoji="0" lang="es-CO" altLang="es-CO" sz="11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dirty="0" smtClean="0">
                <a:ln>
                  <a:noFill/>
                </a:ln>
                <a:solidFill>
                  <a:srgbClr val="010101"/>
                </a:solidFill>
                <a:effectLst/>
                <a:latin typeface="Roboto"/>
              </a:rPr>
              <a:t>Entonces, los </a:t>
            </a:r>
            <a:r>
              <a:rPr kumimoji="0" lang="es-CO" altLang="es-CO" sz="1300" b="1" i="0" u="none" strike="noStrike" cap="none" normalizeH="0" baseline="0" dirty="0" smtClean="0">
                <a:ln>
                  <a:noFill/>
                </a:ln>
                <a:solidFill>
                  <a:srgbClr val="454545"/>
                </a:solidFill>
                <a:effectLst/>
                <a:latin typeface="Roboto"/>
              </a:rPr>
              <a:t>huesos del macizo facial</a:t>
            </a:r>
            <a:r>
              <a:rPr kumimoji="0" lang="es-CO" altLang="es-CO" sz="1300" b="0" i="0" u="none" strike="noStrike" cap="none" normalizeH="0" baseline="0" dirty="0" smtClean="0">
                <a:ln>
                  <a:noFill/>
                </a:ln>
                <a:solidFill>
                  <a:srgbClr val="010101"/>
                </a:solidFill>
                <a:effectLst/>
                <a:latin typeface="Roboto"/>
              </a:rPr>
              <a:t> y del </a:t>
            </a:r>
            <a:r>
              <a:rPr kumimoji="0" lang="es-CO" altLang="es-CO" sz="1300" b="1" i="0" u="sng" strike="noStrike" cap="none" normalizeH="0" baseline="0" dirty="0" smtClean="0">
                <a:ln>
                  <a:noFill/>
                </a:ln>
                <a:solidFill>
                  <a:srgbClr val="B61E1D"/>
                </a:solidFill>
                <a:effectLst/>
                <a:latin typeface="Roboto"/>
                <a:hlinkClick r:id="rId1"/>
              </a:rPr>
              <a:t>cráneo</a:t>
            </a:r>
            <a:r>
              <a:rPr kumimoji="0" lang="es-CO" altLang="es-CO" sz="1300" b="0" i="0" u="none" strike="noStrike" cap="none" normalizeH="0" baseline="0" dirty="0" smtClean="0">
                <a:ln>
                  <a:noFill/>
                </a:ln>
                <a:solidFill>
                  <a:srgbClr val="010101"/>
                </a:solidFill>
                <a:effectLst/>
                <a:latin typeface="Roboto"/>
              </a:rPr>
              <a:t> que se articulan con el lagrimal gracias a su pared superior, inferior, posterior y anterior, son el cornete inferior, el frontal, el maxilar y la parte lateral del etmoides. Y además, debido a la cara externa que presenta una cresta lagrimal posterior permite y contribuye al canal del saco lagrimal y del conducto </a:t>
            </a:r>
            <a:r>
              <a:rPr kumimoji="0" lang="es-CO" altLang="es-CO" sz="1300" b="0" i="0" u="none" strike="noStrike" cap="none" normalizeH="0" baseline="0" dirty="0" err="1" smtClean="0">
                <a:ln>
                  <a:noFill/>
                </a:ln>
                <a:solidFill>
                  <a:srgbClr val="010101"/>
                </a:solidFill>
                <a:effectLst/>
                <a:latin typeface="Roboto"/>
              </a:rPr>
              <a:t>lagrimonasal</a:t>
            </a:r>
            <a:r>
              <a:rPr kumimoji="0" lang="es-CO" altLang="es-CO" sz="1300" b="0" i="0" u="none" strike="noStrike" cap="none" normalizeH="0" baseline="0" dirty="0" smtClean="0">
                <a:ln>
                  <a:noFill/>
                </a:ln>
                <a:solidFill>
                  <a:srgbClr val="010101"/>
                </a:solidFill>
                <a:effectLst/>
                <a:latin typeface="Roboto"/>
              </a:rPr>
              <a:t>.</a:t>
            </a:r>
            <a:endParaRPr kumimoji="0" lang="es-CO" altLang="es-CO" sz="11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dirty="0" smtClean="0">
                <a:ln>
                  <a:noFill/>
                </a:ln>
                <a:solidFill>
                  <a:srgbClr val="010101"/>
                </a:solidFill>
                <a:effectLst/>
                <a:latin typeface="Roboto"/>
              </a:rPr>
              <a:t>Finalmente, su cara interna se relaciona con el hueso etmoides y con la </a:t>
            </a:r>
            <a:r>
              <a:rPr kumimoji="0" lang="es-CO" altLang="es-CO" sz="1300" b="1" i="0" u="sng" strike="noStrike" cap="none" normalizeH="0" baseline="0" dirty="0" smtClean="0">
                <a:ln>
                  <a:noFill/>
                </a:ln>
                <a:solidFill>
                  <a:srgbClr val="B61E1D"/>
                </a:solidFill>
                <a:effectLst/>
                <a:latin typeface="Roboto"/>
                <a:hlinkClick r:id="rId2"/>
              </a:rPr>
              <a:t>mucosa</a:t>
            </a:r>
            <a:r>
              <a:rPr kumimoji="0" lang="es-CO" altLang="es-CO" sz="1300" b="0" i="0" u="none" strike="noStrike" cap="none" normalizeH="0" baseline="0" dirty="0" smtClean="0">
                <a:ln>
                  <a:noFill/>
                </a:ln>
                <a:solidFill>
                  <a:srgbClr val="010101"/>
                </a:solidFill>
                <a:effectLst/>
                <a:latin typeface="Roboto"/>
              </a:rPr>
              <a:t> de la fosa nasal.</a:t>
            </a:r>
            <a:endParaRPr kumimoji="0" lang="es-CO" altLang="es-CO" sz="11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0" i="0" u="none" strike="noStrike" cap="none" normalizeH="0" baseline="0" dirty="0" smtClean="0">
                <a:ln>
                  <a:noFill/>
                </a:ln>
                <a:solidFill>
                  <a:schemeClr val="tx1"/>
                </a:solidFill>
                <a:effectLst/>
                <a:latin typeface="Arial" panose="020B0604020202020204" pitchFamily="34" charset="0"/>
              </a:rPr>
              <a:t>"Se articula con el maxilar, cornete, frontal y el etmoides"</a:t>
            </a:r>
            <a:endParaRPr kumimoji="0" lang="es-CO" altLang="es-CO" sz="1800" b="1" i="0" u="none" strike="noStrike" cap="none" normalizeH="0" baseline="0" dirty="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800" b="1" i="0" u="none" strike="noStrike" cap="none" normalizeH="0" baseline="0" dirty="0" smtClean="0">
                <a:ln>
                  <a:noFill/>
                </a:ln>
                <a:solidFill>
                  <a:srgbClr val="004E56"/>
                </a:solidFill>
                <a:effectLst/>
                <a:latin typeface="Montserrat"/>
              </a:rPr>
              <a:t>Lesiones que alteran al hueso lagrimal</a:t>
            </a:r>
            <a:endParaRPr kumimoji="0" lang="es-CO" altLang="es-CO" sz="1800" b="1" i="0" u="none" strike="noStrike" cap="none" normalizeH="0" baseline="0" dirty="0" smtClean="0">
              <a:ln>
                <a:noFill/>
              </a:ln>
              <a:solidFill>
                <a:srgbClr val="004E56"/>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dirty="0" smtClean="0">
                <a:ln>
                  <a:noFill/>
                </a:ln>
                <a:solidFill>
                  <a:srgbClr val="010101"/>
                </a:solidFill>
                <a:effectLst/>
                <a:latin typeface="Roboto"/>
              </a:rPr>
              <a:t>El </a:t>
            </a:r>
            <a:r>
              <a:rPr kumimoji="0" lang="es-CO" altLang="es-CO" sz="1300" b="1" i="0" u="none" strike="noStrike" cap="none" normalizeH="0" baseline="0" dirty="0" smtClean="0">
                <a:ln>
                  <a:noFill/>
                </a:ln>
                <a:solidFill>
                  <a:srgbClr val="454545"/>
                </a:solidFill>
                <a:effectLst/>
                <a:latin typeface="Roboto"/>
              </a:rPr>
              <a:t>hueso lagrimal</a:t>
            </a:r>
            <a:r>
              <a:rPr kumimoji="0" lang="es-CO" altLang="es-CO" sz="1300" b="0" i="0" u="none" strike="noStrike" cap="none" normalizeH="0" baseline="0" dirty="0" smtClean="0">
                <a:ln>
                  <a:noFill/>
                </a:ln>
                <a:solidFill>
                  <a:srgbClr val="010101"/>
                </a:solidFill>
                <a:effectLst/>
                <a:latin typeface="Roboto"/>
              </a:rPr>
              <a:t>, el nasal y el frontal, suelen ser afectados durante aquellos traumatismos y lesiones en las cuales la cara es la región del cuerpo que contacta con una superficie dura.</a:t>
            </a:r>
            <a:endParaRPr kumimoji="0" lang="es-CO" altLang="es-CO" sz="11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CO" altLang="es-CO" sz="1300" b="0" i="0" u="none" strike="noStrike" cap="none" normalizeH="0" baseline="0" dirty="0" smtClean="0">
                <a:ln>
                  <a:noFill/>
                </a:ln>
                <a:solidFill>
                  <a:srgbClr val="010101"/>
                </a:solidFill>
                <a:effectLst/>
                <a:latin typeface="Roboto"/>
              </a:rPr>
              <a:t>Entonces, se comienzan a producir </a:t>
            </a:r>
            <a:r>
              <a:rPr kumimoji="0" lang="es-CO" altLang="es-CO" sz="1300" b="1" i="0" u="none" strike="noStrike" cap="none" normalizeH="0" baseline="0" dirty="0" smtClean="0">
                <a:ln>
                  <a:noFill/>
                </a:ln>
                <a:solidFill>
                  <a:srgbClr val="454545"/>
                </a:solidFill>
                <a:effectLst/>
                <a:latin typeface="Roboto"/>
              </a:rPr>
              <a:t>síntomas y signos</a:t>
            </a:r>
            <a:r>
              <a:rPr kumimoji="0" lang="es-CO" altLang="es-CO" sz="1300" b="0" i="0" u="none" strike="noStrike" cap="none" normalizeH="0" baseline="0" dirty="0" smtClean="0">
                <a:ln>
                  <a:noFill/>
                </a:ln>
                <a:solidFill>
                  <a:srgbClr val="010101"/>
                </a:solidFill>
                <a:effectLst/>
                <a:latin typeface="Roboto"/>
              </a:rPr>
              <a:t> que pueden llegar a ser severos si también se afectaron partes del sistema nervioso central. Por lo que resulta necesario que el paciente sea evaluado por un médico. </a:t>
            </a:r>
            <a:endParaRPr kumimoji="0" lang="es-CO" altLang="es-CO"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73879" y="1460594"/>
            <a:ext cx="6411539" cy="445688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fontScale="85000" lnSpcReduction="20000"/>
          </a:bodyPr>
          <a:lstStyle/>
          <a:p>
            <a:r>
              <a:rPr lang="es-ES" dirty="0" smtClean="0"/>
              <a:t>CORNETE</a:t>
            </a:r>
            <a:endParaRPr lang="es-CO" dirty="0"/>
          </a:p>
          <a:p>
            <a:pPr algn="just"/>
            <a:r>
              <a:rPr lang="es-ES" b="0" dirty="0"/>
              <a:t>Los cornetes nasales (también conocidos como conchas nasales) son láminas óseas ubicadas en la pared lateral de la </a:t>
            </a:r>
            <a:r>
              <a:rPr lang="es-ES" b="0" u="sng" dirty="0">
                <a:hlinkClick r:id="rId1"/>
              </a:rPr>
              <a:t>cavidad nasal</a:t>
            </a:r>
            <a:r>
              <a:rPr lang="es-ES" b="0" dirty="0"/>
              <a:t>. </a:t>
            </a:r>
            <a:endParaRPr lang="es-ES" b="0" dirty="0" smtClean="0"/>
          </a:p>
          <a:p>
            <a:pPr algn="just"/>
            <a:r>
              <a:rPr lang="es-ES" b="0" dirty="0" smtClean="0"/>
              <a:t>Existen </a:t>
            </a:r>
            <a:r>
              <a:rPr lang="es-ES" b="0" dirty="0"/>
              <a:t>tres cornetes nasales en cada cavidad nasal, denominados superior, medio e inferior. </a:t>
            </a:r>
            <a:endParaRPr lang="es-ES" b="0" dirty="0" smtClean="0"/>
          </a:p>
          <a:p>
            <a:pPr algn="just"/>
            <a:r>
              <a:rPr lang="es-ES" b="0" dirty="0" smtClean="0"/>
              <a:t>Estas </a:t>
            </a:r>
            <a:r>
              <a:rPr lang="es-ES" b="0" dirty="0"/>
              <a:t>láminas se proyectan </a:t>
            </a:r>
            <a:r>
              <a:rPr lang="es-ES" b="0" dirty="0" err="1"/>
              <a:t>inferomedialmente</a:t>
            </a:r>
            <a:r>
              <a:rPr lang="es-ES" b="0" dirty="0"/>
              <a:t> y dividen estas en cinco conductos diferentes incluyendo al receso </a:t>
            </a:r>
            <a:r>
              <a:rPr lang="es-ES" b="0" dirty="0" err="1"/>
              <a:t>esfenoetmoidal</a:t>
            </a:r>
            <a:r>
              <a:rPr lang="es-ES" b="0" dirty="0"/>
              <a:t>, tres meatos nasales (superior, medio e inferior) y un meato nasal común donde se abren los cuatro conductos laterales.</a:t>
            </a:r>
            <a:endParaRPr lang="es-ES" b="0" dirty="0"/>
          </a:p>
          <a:p>
            <a:pPr algn="just"/>
            <a:r>
              <a:rPr lang="es-ES" b="0" dirty="0"/>
              <a:t>Los cornetes nasales superior y medio son procesos del hueso etmoides, mientras que el cornete nasal inferior está formado por un hueso craneal independiente (del mismo nombre</a:t>
            </a:r>
            <a:r>
              <a:rPr lang="es-ES" b="0" dirty="0" smtClean="0"/>
              <a:t>).</a:t>
            </a:r>
            <a:endParaRPr lang="es-ES" b="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ES" b="0" dirty="0" smtClean="0"/>
              <a:t>FUNCION</a:t>
            </a:r>
            <a:endParaRPr lang="es-ES" b="0" dirty="0" smtClean="0"/>
          </a:p>
          <a:p>
            <a:pPr algn="just"/>
            <a:r>
              <a:rPr lang="es-ES" b="0" dirty="0" smtClean="0"/>
              <a:t>Aumentar </a:t>
            </a:r>
            <a:r>
              <a:rPr lang="es-ES" b="0" dirty="0"/>
              <a:t>el área de superficie de las cavidades nasales para proporcionar calor y humidificar el aire a medida que pasa a los pulmones. Esta función es posible gracias a la forma “en pergamino” (enrollada sobre sí misma) que </a:t>
            </a:r>
            <a:r>
              <a:rPr lang="es-ES" b="0" dirty="0" err="1"/>
              <a:t>ca</a:t>
            </a:r>
            <a:endParaRPr lang="es-ES" b="0" dirty="0"/>
          </a:p>
          <a:p>
            <a:endParaRPr lang="es-CO"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ES" b="0" dirty="0" smtClean="0"/>
              <a:t>Los</a:t>
            </a:r>
            <a:r>
              <a:rPr lang="es-ES" b="0" dirty="0"/>
              <a:t> cornetes nasales superior y medio son proyecciones óseas mediales de los laberintos (masas laterales) del </a:t>
            </a:r>
            <a:r>
              <a:rPr lang="es-ES" b="0" u="sng" dirty="0">
                <a:hlinkClick r:id="rId1"/>
              </a:rPr>
              <a:t>hueso etmoides</a:t>
            </a:r>
            <a:r>
              <a:rPr lang="es-ES" b="0" dirty="0"/>
              <a:t>. Estas dos láminas óseas se proyectan en dirección </a:t>
            </a:r>
            <a:r>
              <a:rPr lang="es-ES" b="0" dirty="0" err="1"/>
              <a:t>inferomedial</a:t>
            </a:r>
            <a:r>
              <a:rPr lang="es-ES" b="0" dirty="0"/>
              <a:t> hacia la cavidad nasal y participan en la formación de tres espacios:</a:t>
            </a:r>
            <a:endParaRPr lang="es-CO"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fontScale="55000" lnSpcReduction="20000"/>
          </a:bodyPr>
          <a:lstStyle/>
          <a:p>
            <a:pPr algn="just"/>
            <a:r>
              <a:rPr lang="es-ES" b="0" dirty="0"/>
              <a:t>Receso </a:t>
            </a:r>
            <a:r>
              <a:rPr lang="es-ES" b="0" dirty="0" err="1"/>
              <a:t>esfenoetmoidal</a:t>
            </a:r>
            <a:endParaRPr lang="es-ES" b="0" dirty="0"/>
          </a:p>
          <a:p>
            <a:pPr algn="just"/>
            <a:r>
              <a:rPr lang="es-ES" b="0" dirty="0"/>
              <a:t>Meato nasal superior</a:t>
            </a:r>
            <a:endParaRPr lang="es-ES" b="0" dirty="0"/>
          </a:p>
          <a:p>
            <a:pPr algn="just"/>
            <a:r>
              <a:rPr lang="es-ES" b="0" dirty="0"/>
              <a:t>Meato nasal medio</a:t>
            </a:r>
            <a:endParaRPr lang="es-ES" b="0" dirty="0"/>
          </a:p>
          <a:p>
            <a:pPr algn="just"/>
            <a:r>
              <a:rPr lang="es-ES" b="0" dirty="0"/>
              <a:t>El receso </a:t>
            </a:r>
            <a:r>
              <a:rPr lang="es-ES" b="0" dirty="0" err="1"/>
              <a:t>esfenoetmoidal</a:t>
            </a:r>
            <a:r>
              <a:rPr lang="es-ES" b="0" dirty="0"/>
              <a:t> es una pequeña depresión en forma de hendidura ubicada sobre el cornete nasal superior. Este receso drena el seno esfenoidal (una cavidad llena de aire ubicada en el hueso esfenoides).</a:t>
            </a:r>
            <a:endParaRPr lang="es-ES" b="0" dirty="0"/>
          </a:p>
          <a:p>
            <a:pPr algn="just"/>
            <a:r>
              <a:rPr lang="es-ES" b="0" dirty="0"/>
              <a:t>El meato nasal superior está ubicado entre los cornetes nasales superior y medio. El meato superior se comunica con las celdillas etmoidales posteriores (estructuras llenas de aire ubicada en el hueso etmoides).</a:t>
            </a:r>
            <a:endParaRPr lang="es-ES" b="0" dirty="0"/>
          </a:p>
          <a:p>
            <a:pPr algn="just"/>
            <a:r>
              <a:rPr lang="es-ES" b="0" dirty="0"/>
              <a:t>El meato nasal medio está formado superiormente por el cornete nasal medio e inferiormente por el cornete nasal inferior. El meato medio es más largo y profundo que su contraparte superior. Este conducto se comunica con el seno frontal (una estructura llena de aire ubicada dentro del </a:t>
            </a:r>
            <a:r>
              <a:rPr lang="es-ES" b="0" u="sng" dirty="0">
                <a:hlinkClick r:id="rId1"/>
              </a:rPr>
              <a:t>hueso frontal</a:t>
            </a:r>
            <a:r>
              <a:rPr lang="es-ES" b="0" dirty="0"/>
              <a:t>) a través de un orificio en forma de embudo denominado infundíbulo etmoidal. Además, drena el </a:t>
            </a:r>
            <a:r>
              <a:rPr lang="es-ES" b="0" u="sng" dirty="0">
                <a:hlinkClick r:id="rId2"/>
              </a:rPr>
              <a:t>seno maxilar</a:t>
            </a:r>
            <a:r>
              <a:rPr lang="es-ES" b="0" dirty="0"/>
              <a:t> y las celdillas etmoidales anteriores</a:t>
            </a:r>
            <a:r>
              <a:rPr lang="es-ES" b="0" dirty="0" smtClean="0"/>
              <a:t>.</a:t>
            </a:r>
            <a:endParaRPr lang="es-ES" b="0" dirty="0" smtClean="0"/>
          </a:p>
          <a:p>
            <a:pPr algn="just"/>
            <a:r>
              <a:rPr lang="es-ES" b="0" dirty="0"/>
              <a:t>en </a:t>
            </a:r>
            <a:r>
              <a:rPr lang="es-ES" b="0" dirty="0" err="1"/>
              <a:t>en</a:t>
            </a:r>
            <a:r>
              <a:rPr lang="es-ES" b="0" dirty="0"/>
              <a:t> cuenta que todos los conductos formados se conectan en el meato nasal común. El meato nasal común es un espacio longitudinal entre los aspectos mediales de los cornetes y el tabique nasal.</a:t>
            </a:r>
            <a:endParaRPr lang="es-ES" b="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normAutofit fontScale="70000" lnSpcReduction="20000"/>
          </a:bodyPr>
          <a:lstStyle/>
          <a:p>
            <a:r>
              <a:rPr lang="es-CO" b="0" dirty="0"/>
              <a:t>Cornete nasal inferior</a:t>
            </a:r>
            <a:endParaRPr lang="es-CO" b="0" dirty="0"/>
          </a:p>
          <a:p>
            <a:pPr algn="just"/>
            <a:r>
              <a:rPr lang="es-CO" dirty="0" smtClean="0"/>
              <a:t>Es </a:t>
            </a:r>
            <a:r>
              <a:rPr lang="es-CO" dirty="0"/>
              <a:t>el más largo y ancho de los tres cornetes. A diferencia de los cornetes nasales superior y medio, el cornete nasal inferior está formado por un hueso independiente que recibe el mismo nombre. La superficie interna del cornete está cubierto por una membrana mucosa que contiene grandes espacios vasculares que pueden cambiar de tamaño para controlar la amplitud de la cavidad nasal.</a:t>
            </a:r>
            <a:endParaRPr lang="es-CO" dirty="0"/>
          </a:p>
          <a:p>
            <a:pPr algn="just"/>
            <a:r>
              <a:rPr lang="es-CO" dirty="0"/>
              <a:t>El cornete nasal inferior participa en la formación de dos espacios: los meatos nasales medio e inferior.</a:t>
            </a:r>
            <a:endParaRPr lang="es-CO" dirty="0"/>
          </a:p>
          <a:p>
            <a:pPr algn="just"/>
            <a:r>
              <a:rPr lang="es-CO" dirty="0"/>
              <a:t>El meato nasal inferior corresponde al espacio más grande de la cavidad nasal, este se ubica debajo del cornete nasal inferior y de la pared lateral de la cavidad nasal. Es responsable por la mayor parte de la dirección del flujo de aire, la humidificación, calentamiento y filtrado del aire inhalado a través de la nariz. El meato nasal inferior también recibe lágrimas desde el conducto </a:t>
            </a:r>
            <a:r>
              <a:rPr lang="es-CO" dirty="0" err="1"/>
              <a:t>nasolagrimal</a:t>
            </a:r>
            <a:r>
              <a:rPr lang="es-CO" dirty="0"/>
              <a:t> a través de un orificio denominado pliegue lagrimal o válvula de </a:t>
            </a:r>
            <a:r>
              <a:rPr lang="es-CO" dirty="0" err="1"/>
              <a:t>Hasner</a:t>
            </a:r>
            <a:r>
              <a:rPr lang="es-CO" dirty="0"/>
              <a:t>.</a:t>
            </a:r>
            <a:endParaRPr lang="es-CO"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sso Concha Nasal Inferior associado aos Ossos do Crânio"/>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93335" y="1449977"/>
            <a:ext cx="5353050" cy="46634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ES" sz="3200" b="0" dirty="0"/>
              <a:t>Los  cuales a su vez guardan relación directa con dos huesos del cráneo: el frontal y el etmoides. </a:t>
            </a:r>
            <a:endParaRPr lang="es-ES" sz="3200" b="0" dirty="0" smtClean="0"/>
          </a:p>
          <a:p>
            <a:pPr algn="just"/>
            <a:r>
              <a:rPr lang="es-ES" sz="3200" b="0" dirty="0" smtClean="0"/>
              <a:t>De </a:t>
            </a:r>
            <a:r>
              <a:rPr lang="es-ES" sz="3200" b="0" dirty="0"/>
              <a:t>allí viene el nombre de macizo fronto-facil, denominación que se le otorga a este conjunto de estructuras.</a:t>
            </a:r>
            <a:endParaRPr lang="es-ES" sz="3200" b="0" dirty="0"/>
          </a:p>
          <a:p>
            <a:pPr algn="just"/>
            <a:endParaRPr lang="es-ES" sz="3200" b="0" dirty="0"/>
          </a:p>
          <a:p>
            <a:endParaRPr lang="es-CO" b="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ctr"/>
            <a:r>
              <a:rPr lang="es-ES" sz="6000" dirty="0" smtClean="0"/>
              <a:t>HUESOS COLUMNA VERTEBRAL</a:t>
            </a:r>
            <a:endParaRPr lang="es-CO" sz="6000"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030663" y="1809749"/>
            <a:ext cx="7580312" cy="4760867"/>
          </a:xfrm>
        </p:spPr>
        <p:txBody>
          <a:bodyPr/>
          <a:lstStyle/>
          <a:p>
            <a:pPr fontAlgn="base"/>
            <a:r>
              <a:rPr lang="es-ES" b="0" dirty="0"/>
              <a:t>33</a:t>
            </a:r>
            <a:endParaRPr lang="es-CO" b="0" dirty="0"/>
          </a:p>
          <a:p>
            <a:pPr algn="just" fontAlgn="base"/>
            <a:r>
              <a:rPr lang="es-ES" b="0" dirty="0"/>
              <a:t>Parte superior. Tiene una curvatura cóncava que se denomina lordosis cervical. Consta de 7 vértebras que forman la región cervical (de C-1 a C-7). Atlas y Axis</a:t>
            </a:r>
            <a:endParaRPr lang="es-ES" b="0" dirty="0"/>
          </a:p>
          <a:p>
            <a:pPr algn="just" fontAlgn="base"/>
            <a:r>
              <a:rPr lang="es-ES" b="0" dirty="0"/>
              <a:t>Parte media. Está formada por 12 vertebral (de D1 a D12 o T1 a T12) y se denomina región dorsal. Tiene una curvatura convexa llamada cifosis dorsal.</a:t>
            </a:r>
            <a:endParaRPr lang="es-ES" b="0" dirty="0"/>
          </a:p>
          <a:p>
            <a:pPr algn="just" fontAlgn="base"/>
            <a:r>
              <a:rPr lang="es-ES" b="0" dirty="0"/>
              <a:t>Parte baja. Recibe el nombre de región lumbar y consta de 5 vértebras (de L-1 a L-5). Tiene una curvatura cóncava que recibe el nombre de Lordosis lumbar </a:t>
            </a:r>
            <a:endParaRPr lang="es-ES" b="0" dirty="0"/>
          </a:p>
          <a:p>
            <a:pPr algn="just" fontAlgn="base"/>
            <a:endParaRPr lang="es-CO" b="0" dirty="0"/>
          </a:p>
          <a:p>
            <a:endParaRPr lang="es-CO" b="0" dirty="0"/>
          </a:p>
        </p:txBody>
      </p:sp>
      <p:sp>
        <p:nvSpPr>
          <p:cNvPr id="3" name="Marcador de texto 2"/>
          <p:cNvSpPr>
            <a:spLocks noGrp="1"/>
          </p:cNvSpPr>
          <p:nvPr>
            <p:ph type="body" idx="13"/>
          </p:nvPr>
        </p:nvSpPr>
        <p:spPr>
          <a:xfrm>
            <a:off x="216581" y="1809749"/>
            <a:ext cx="3545522" cy="4251416"/>
          </a:xfrm>
        </p:spPr>
        <p:txBody>
          <a:bodyPr/>
          <a:lstStyle/>
          <a:p>
            <a:endParaRPr lang="es-CO" dirty="0"/>
          </a:p>
        </p:txBody>
      </p:sp>
      <p:pic>
        <p:nvPicPr>
          <p:cNvPr id="4" name="Marcador de contenido 4"/>
          <p:cNvPicPr>
            <a:picLocks noGrp="1" noChangeAspect="1"/>
          </p:cNvPicPr>
          <p:nvPr>
            <p:ph sz="half" idx="4294967295"/>
          </p:nvPr>
        </p:nvPicPr>
        <p:blipFill>
          <a:blip r:embed="rId1">
            <a:extLst>
              <a:ext uri="{28A0092B-C50C-407E-A947-70E740481C1C}">
                <a14:useLocalDpi xmlns:a14="http://schemas.microsoft.com/office/drawing/2010/main" val="0"/>
              </a:ext>
            </a:extLst>
          </a:blip>
          <a:stretch>
            <a:fillRect/>
          </a:stretch>
        </p:blipFill>
        <p:spPr>
          <a:xfrm>
            <a:off x="0" y="2166938"/>
            <a:ext cx="3762375" cy="3727450"/>
          </a:xfr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3"/>
          </p:nvPr>
        </p:nvSpPr>
        <p:spPr/>
        <p:txBody>
          <a:bodyPr/>
          <a:lstStyle/>
          <a:p>
            <a:pPr algn="just"/>
            <a:r>
              <a:rPr lang="es-ES" b="0" dirty="0"/>
              <a:t>Estas tres zonas antes mencionadas suman 24 vértebras móviles.</a:t>
            </a:r>
            <a:endParaRPr lang="es-ES" b="0" dirty="0"/>
          </a:p>
          <a:p>
            <a:pPr algn="just"/>
            <a:r>
              <a:rPr lang="es-ES" b="0" dirty="0"/>
              <a:t> </a:t>
            </a:r>
            <a:endParaRPr lang="es-CO" b="0" dirty="0"/>
          </a:p>
          <a:p>
            <a:endParaRPr lang="es-CO" dirty="0"/>
          </a:p>
        </p:txBody>
      </p:sp>
      <p:pic>
        <p:nvPicPr>
          <p:cNvPr id="4" name="Marcador de contenido 4"/>
          <p:cNvPicPr>
            <a:picLocks noGrp="1" noChangeAspect="1"/>
          </p:cNvPicPr>
          <p:nvPr>
            <p:ph sz="half" idx="4294967295"/>
          </p:nvPr>
        </p:nvPicPr>
        <p:blipFill>
          <a:blip r:embed="rId1">
            <a:extLst>
              <a:ext uri="{28A0092B-C50C-407E-A947-70E740481C1C}">
                <a14:useLocalDpi xmlns:a14="http://schemas.microsoft.com/office/drawing/2010/main" val="0"/>
              </a:ext>
            </a:extLst>
          </a:blip>
          <a:stretch>
            <a:fillRect/>
          </a:stretch>
        </p:blipFill>
        <p:spPr>
          <a:xfrm>
            <a:off x="5047116" y="1986370"/>
            <a:ext cx="5903912" cy="3852863"/>
          </a:xfr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030663" y="1809750"/>
            <a:ext cx="7580312" cy="4133850"/>
          </a:xfrm>
        </p:spPr>
        <p:txBody>
          <a:bodyPr/>
          <a:lstStyle/>
          <a:p>
            <a:pPr algn="just"/>
            <a:r>
              <a:rPr lang="es-ES" b="0" dirty="0"/>
              <a:t>En la parte baja de la columna, existen dos partes más, compuestas por vértebras fijas que no tienen movilidad entre ellas.</a:t>
            </a:r>
            <a:endParaRPr lang="es-ES" b="0" dirty="0"/>
          </a:p>
          <a:p>
            <a:pPr algn="just"/>
            <a:r>
              <a:rPr lang="es-ES" b="0" dirty="0"/>
              <a:t> Son cinco vértebras que están en la región sacra (de S-1 a S-5)Fusionadas que lo cuentan por 1</a:t>
            </a:r>
            <a:endParaRPr lang="es-ES" b="0" dirty="0"/>
          </a:p>
          <a:p>
            <a:pPr algn="just"/>
            <a:r>
              <a:rPr lang="es-ES" b="0" dirty="0"/>
              <a:t>tres o cuatro vértebras en la zona coxígea (de Cx-1 a Cx-4). Fusionadas</a:t>
            </a:r>
            <a:endParaRPr lang="es-ES" b="0" dirty="0"/>
          </a:p>
          <a:p>
            <a:endParaRPr lang="es-CO" b="0" dirty="0"/>
          </a:p>
        </p:txBody>
      </p:sp>
      <p:pic>
        <p:nvPicPr>
          <p:cNvPr id="4" name="Marcador de contenido 4"/>
          <p:cNvPicPr>
            <a:picLocks noGrp="1" noChangeAspect="1"/>
          </p:cNvPicPr>
          <p:nvPr>
            <p:ph sz="half" idx="4294967295"/>
          </p:nvPr>
        </p:nvPicPr>
        <p:blipFill>
          <a:blip r:embed="rId1">
            <a:extLst>
              <a:ext uri="{28A0092B-C50C-407E-A947-70E740481C1C}">
                <a14:useLocalDpi xmlns:a14="http://schemas.microsoft.com/office/drawing/2010/main" val="0"/>
              </a:ext>
            </a:extLst>
          </a:blip>
          <a:stretch>
            <a:fillRect/>
          </a:stretch>
        </p:blipFill>
        <p:spPr>
          <a:xfrm>
            <a:off x="522514" y="1992630"/>
            <a:ext cx="3344863" cy="3549650"/>
          </a:xfr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dirty="0"/>
              <a:t>PARTES DE UNA VERTEBRA TÍPICA </a:t>
            </a:r>
            <a:endParaRPr lang="es-CO" dirty="0"/>
          </a:p>
          <a:p>
            <a:pPr algn="just"/>
            <a:r>
              <a:rPr lang="es-CO" b="0" dirty="0"/>
              <a:t>Las vértebras de las diversas regiones de la columna vertebral presentan distintos tamaños, formas y características, pero son lo suficientemente similares como para poder analizar las estructuras (y las funciones) de una vértebra típica</a:t>
            </a:r>
            <a:endParaRPr lang="es-CO" b="0" dirty="0"/>
          </a:p>
          <a:p>
            <a:endParaRPr lang="es-CO" b="0" dirty="0"/>
          </a:p>
        </p:txBody>
      </p:sp>
      <p:pic>
        <p:nvPicPr>
          <p:cNvPr id="4" name="Marcador de contenido 4"/>
          <p:cNvPicPr>
            <a:picLocks noGrp="1" noChangeAspect="1"/>
          </p:cNvPicPr>
          <p:nvPr>
            <p:ph sz="half" idx="4294967295"/>
          </p:nvPr>
        </p:nvPicPr>
        <p:blipFill>
          <a:blip r:embed="rId1" cstate="print">
            <a:extLst>
              <a:ext uri="{28A0092B-C50C-407E-A947-70E740481C1C}">
                <a14:useLocalDpi xmlns:a14="http://schemas.microsoft.com/office/drawing/2010/main" val="0"/>
              </a:ext>
            </a:extLst>
          </a:blip>
          <a:stretch>
            <a:fillRect/>
          </a:stretch>
        </p:blipFill>
        <p:spPr>
          <a:xfrm>
            <a:off x="548641" y="1809750"/>
            <a:ext cx="3330575" cy="3825875"/>
          </a:xfr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082914" y="1496240"/>
            <a:ext cx="7580312" cy="4329793"/>
          </a:xfrm>
        </p:spPr>
        <p:txBody>
          <a:bodyPr/>
          <a:lstStyle/>
          <a:p>
            <a:r>
              <a:rPr lang="es-CO" dirty="0"/>
              <a:t>CUERPO VERTEBRAL</a:t>
            </a:r>
            <a:endParaRPr lang="es-CO" dirty="0"/>
          </a:p>
          <a:p>
            <a:pPr algn="just"/>
            <a:r>
              <a:rPr lang="es-CO" b="0" dirty="0" smtClean="0"/>
              <a:t>La </a:t>
            </a:r>
            <a:r>
              <a:rPr lang="es-CO" b="0" dirty="0"/>
              <a:t>porción anterior gruesa y con forma de disco, es la parte de la vértebra que soporta el peso. </a:t>
            </a:r>
            <a:endParaRPr lang="es-CO" b="0" dirty="0"/>
          </a:p>
          <a:p>
            <a:pPr algn="just"/>
            <a:r>
              <a:rPr lang="es-CO" b="0" dirty="0"/>
              <a:t>Sus superficies superior e inferior presentan rugosidades para la inserción de los discos intervertebrales cartilaginosos. </a:t>
            </a:r>
            <a:endParaRPr lang="es-CO" b="0" dirty="0"/>
          </a:p>
          <a:p>
            <a:pPr algn="just"/>
            <a:r>
              <a:rPr lang="es-CO" b="0" dirty="0"/>
              <a:t>La superficie anterior y las superficies laterales contienen forámenes nutricios; es decir, aberturas a través de las cuales los vasos sanguíneos aportan nutrientes y oxígeno al tejido óseo y remueven dióxido de carbono y desechos de él.</a:t>
            </a:r>
            <a:endParaRPr lang="es-CO" b="0" dirty="0"/>
          </a:p>
          <a:p>
            <a:endParaRPr lang="es-CO" dirty="0"/>
          </a:p>
        </p:txBody>
      </p:sp>
      <p:pic>
        <p:nvPicPr>
          <p:cNvPr id="4" name="Marcador de contenido 6"/>
          <p:cNvPicPr>
            <a:picLocks noGrp="1" noChangeAspect="1"/>
          </p:cNvPicPr>
          <p:nvPr>
            <p:ph sz="half" idx="4294967295"/>
          </p:nvPr>
        </p:nvPicPr>
        <p:blipFill>
          <a:blip r:embed="rId1">
            <a:extLst>
              <a:ext uri="{28A0092B-C50C-407E-A947-70E740481C1C}">
                <a14:useLocalDpi xmlns:a14="http://schemas.microsoft.com/office/drawing/2010/main" val="0"/>
              </a:ext>
            </a:extLst>
          </a:blip>
          <a:stretch>
            <a:fillRect/>
          </a:stretch>
        </p:blipFill>
        <p:spPr>
          <a:xfrm>
            <a:off x="274320" y="1857736"/>
            <a:ext cx="3370263" cy="3606800"/>
          </a:xfr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558937" y="1809749"/>
            <a:ext cx="7052038" cy="3960859"/>
          </a:xfrm>
        </p:spPr>
        <p:txBody>
          <a:bodyPr>
            <a:normAutofit fontScale="92500" lnSpcReduction="10000"/>
          </a:bodyPr>
          <a:lstStyle/>
          <a:p>
            <a:r>
              <a:rPr lang="es-CO" dirty="0"/>
              <a:t>ARCOS VERTEBRALES</a:t>
            </a:r>
            <a:endParaRPr lang="es-CO" dirty="0"/>
          </a:p>
          <a:p>
            <a:pPr algn="just"/>
            <a:r>
              <a:rPr lang="es-CO" b="0" dirty="0"/>
              <a:t>Desde el cuerpo vertebral, se proyectan hacia atrás dos apófisis gruesas y cortas, los pedículos (pedi-, como piecitos), que se unen con las delgadas láminas para formar el arco vertebral.</a:t>
            </a:r>
            <a:endParaRPr lang="es-CO" b="0" dirty="0"/>
          </a:p>
          <a:p>
            <a:pPr algn="just"/>
            <a:r>
              <a:rPr lang="es-CO" b="0" dirty="0"/>
              <a:t>El arco vertebral se extiendehacia atrás del cuerpo de la vértebra; juntos, el cuerpo vertebral y el arco vertebral rodean la columna para formar el foramen vertebral.</a:t>
            </a:r>
            <a:endParaRPr lang="es-CO" b="0" dirty="0"/>
          </a:p>
          <a:p>
            <a:pPr algn="just"/>
            <a:r>
              <a:rPr lang="es-CO" b="0" dirty="0"/>
              <a:t>Este foramen contiene la médula espinal, tejido adiposo, tejido conectivo areolar y vasos sanguíneos. En conjunto, los forámenes vertebrales de todas las vértebras forman el conducto vertebral (espinal). </a:t>
            </a:r>
            <a:endParaRPr lang="es-CO" b="0" dirty="0"/>
          </a:p>
          <a:p>
            <a:endParaRPr lang="es-CO" b="0" dirty="0"/>
          </a:p>
        </p:txBody>
      </p:sp>
      <p:pic>
        <p:nvPicPr>
          <p:cNvPr id="4" name="Marcador de contenido 4"/>
          <p:cNvPicPr>
            <a:picLocks noGrp="1" noChangeAspect="1"/>
          </p:cNvPicPr>
          <p:nvPr>
            <p:ph sz="half" idx="4294967295"/>
          </p:nvPr>
        </p:nvPicPr>
        <p:blipFill>
          <a:blip r:embed="rId1">
            <a:extLst>
              <a:ext uri="{28A0092B-C50C-407E-A947-70E740481C1C}">
                <a14:useLocalDpi xmlns:a14="http://schemas.microsoft.com/office/drawing/2010/main" val="0"/>
              </a:ext>
            </a:extLst>
          </a:blip>
          <a:stretch>
            <a:fillRect/>
          </a:stretch>
        </p:blipFill>
        <p:spPr>
          <a:xfrm>
            <a:off x="501333" y="1647847"/>
            <a:ext cx="3803650" cy="4284662"/>
          </a:xfr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796834" y="1809750"/>
            <a:ext cx="10814141" cy="4094662"/>
          </a:xfrm>
        </p:spPr>
        <p:txBody>
          <a:bodyPr/>
          <a:lstStyle/>
          <a:p>
            <a:pPr algn="just"/>
            <a:r>
              <a:rPr lang="es-CO" b="0" dirty="0"/>
              <a:t>En conjunto, los forámenes vertebrales de todas las vértebras forman el conducto vertebral (espinal).</a:t>
            </a:r>
            <a:endParaRPr lang="es-CO" b="0" dirty="0"/>
          </a:p>
          <a:p>
            <a:pPr algn="just"/>
            <a:r>
              <a:rPr lang="es-CO" b="0" dirty="0"/>
              <a:t>Los pedículos muestran una concavidad superior y otra inferior, que se denominan escotaduras vertebrales.</a:t>
            </a:r>
            <a:endParaRPr lang="es-CO" b="0" dirty="0"/>
          </a:p>
          <a:p>
            <a:pPr algn="just"/>
            <a:r>
              <a:rPr lang="es-CO" b="0" dirty="0"/>
              <a:t>Cuando las escotaduras vertebrales están apiladas, forman aberturas entre vértebras adyacentes a ambos lados de la columna.</a:t>
            </a:r>
            <a:endParaRPr lang="es-CO" b="0" dirty="0"/>
          </a:p>
          <a:p>
            <a:pPr algn="just"/>
            <a:r>
              <a:rPr lang="es-CO" b="0" dirty="0"/>
              <a:t>Cada abertura, llamada foramen intervertebral, deja pasar un único nervio raquídeo que transmite información desde la médula espinal y hacia ella.</a:t>
            </a:r>
            <a:endParaRPr lang="es-CO" b="0" dirty="0"/>
          </a:p>
          <a:p>
            <a:endParaRPr lang="es-CO" b="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030663" y="1809750"/>
            <a:ext cx="7580312" cy="4747804"/>
          </a:xfrm>
        </p:spPr>
        <p:txBody>
          <a:bodyPr/>
          <a:lstStyle/>
          <a:p>
            <a:r>
              <a:rPr lang="es-CO" dirty="0"/>
              <a:t>APÓFISIS</a:t>
            </a:r>
            <a:endParaRPr lang="es-CO" dirty="0"/>
          </a:p>
          <a:p>
            <a:pPr algn="just"/>
            <a:r>
              <a:rPr lang="es-CO" sz="2000" b="0" dirty="0"/>
              <a:t>Desde el arco vertebral, se proyectan siete apófisis. </a:t>
            </a:r>
            <a:endParaRPr lang="es-CO" sz="2000" b="0" dirty="0"/>
          </a:p>
          <a:p>
            <a:pPr algn="just"/>
            <a:r>
              <a:rPr lang="es-CO" sz="2000" b="0" dirty="0"/>
              <a:t>El punto en el cual se unen la lámina y el pedículo, de cada lado, se extiende hacia afuera una apófisis transversa. </a:t>
            </a:r>
            <a:endParaRPr lang="es-CO" sz="2000" b="0" dirty="0"/>
          </a:p>
          <a:p>
            <a:pPr algn="just"/>
            <a:r>
              <a:rPr lang="es-CO" sz="2000" b="0" dirty="0"/>
              <a:t>De la unión entre las láminas, se proyecta hacia atrás una única apófisis espinosa. </a:t>
            </a:r>
            <a:endParaRPr lang="es-CO" sz="2000" b="0" dirty="0"/>
          </a:p>
          <a:p>
            <a:pPr algn="just"/>
            <a:r>
              <a:rPr lang="es-CO" sz="2000" b="0" dirty="0"/>
              <a:t>Estas tres apófisis actúan como puntos de inserción muscular. </a:t>
            </a:r>
            <a:endParaRPr lang="es-CO" sz="2000" b="0" dirty="0"/>
          </a:p>
          <a:p>
            <a:pPr algn="just"/>
            <a:r>
              <a:rPr lang="es-CO" sz="2000" b="0" dirty="0"/>
              <a:t>Las otras cuatro apófisis vertebrales se articulan con otras vértebras, por encima o por debajo.</a:t>
            </a:r>
            <a:endParaRPr lang="es-CO" sz="2000" b="0" dirty="0"/>
          </a:p>
          <a:p>
            <a:pPr algn="just"/>
            <a:r>
              <a:rPr lang="es-CO" sz="2000" b="0" dirty="0"/>
              <a:t>Las dos apófisis articulares superiores de una vértebra se articulan con las dos apofisi articulares  inferiores de la vertebra por encima de ella a su vez</a:t>
            </a:r>
            <a:endParaRPr lang="es-CO" sz="2000" b="0" dirty="0"/>
          </a:p>
          <a:p>
            <a:endParaRPr lang="es-CO" dirty="0"/>
          </a:p>
        </p:txBody>
      </p:sp>
      <p:pic>
        <p:nvPicPr>
          <p:cNvPr id="4" name="Marcador de contenido 6"/>
          <p:cNvPicPr>
            <a:picLocks noGrp="1" noChangeAspect="1"/>
          </p:cNvPicPr>
          <p:nvPr>
            <p:ph sz="half" idx="4294967295"/>
          </p:nvPr>
        </p:nvPicPr>
        <p:blipFill>
          <a:blip r:embed="rId1">
            <a:extLst>
              <a:ext uri="{28A0092B-C50C-407E-A947-70E740481C1C}">
                <a14:useLocalDpi xmlns:a14="http://schemas.microsoft.com/office/drawing/2010/main" val="0"/>
              </a:ext>
            </a:extLst>
          </a:blip>
          <a:stretch>
            <a:fillRect/>
          </a:stretch>
        </p:blipFill>
        <p:spPr>
          <a:xfrm>
            <a:off x="425586" y="1809750"/>
            <a:ext cx="3162300" cy="4111625"/>
          </a:xfr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6023" y="1809750"/>
            <a:ext cx="10774952" cy="4173038"/>
          </a:xfrm>
        </p:spPr>
        <p:txBody>
          <a:bodyPr/>
          <a:lstStyle/>
          <a:p>
            <a:pPr algn="just"/>
            <a:r>
              <a:rPr lang="es-CO" b="0" dirty="0"/>
              <a:t>A su vez, las dos apófisis articulares inferiores de esa vértebra se articulan con las dos apófisis articulares superiores de la vértebra que se encuentra inmediatamente por debajo de ella, y así sucesivamente. </a:t>
            </a:r>
            <a:endParaRPr lang="es-CO" b="0" dirty="0"/>
          </a:p>
          <a:p>
            <a:pPr algn="just"/>
            <a:r>
              <a:rPr lang="es-CO" b="0" dirty="0"/>
              <a:t>Las superficies articulares de las apófisis articulares, conocidas como facetas (carillas) están cubiertas por cartílago hialino. Las articulaciones formadas entre los cuerpos vertebrales y las facetas articulares de las vértebras sucesivas se denominan articulaciones intervertebrales.</a:t>
            </a:r>
            <a:endParaRPr lang="es-CO" b="0" dirty="0"/>
          </a:p>
          <a:p>
            <a:endParaRPr lang="es-CO" b="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Marcador de posición de texto 1"/>
          <p:cNvSpPr>
            <a:spLocks noGrp="1"/>
          </p:cNvSpPr>
          <p:nvPr>
            <p:ph type="body" idx="1"/>
          </p:nvPr>
        </p:nvSpPr>
        <p:spPr/>
        <p:txBody>
          <a:bodyPr>
            <a:normAutofit lnSpcReduction="20000"/>
          </a:bodyPr>
          <a:p>
            <a:r>
              <a:rPr lang="es-ES" altLang="en-US"/>
              <a:t>APLICACION DEPORTIVA</a:t>
            </a:r>
            <a:endParaRPr lang="es-ES" altLang="en-US"/>
          </a:p>
          <a:p>
            <a:r>
              <a:rPr lang="en-US" altLang="es-ES"/>
              <a:t>Relacionar con:</a:t>
            </a:r>
            <a:endParaRPr lang="en-US" altLang="es-ES"/>
          </a:p>
          <a:p>
            <a:endParaRPr lang="en-US" altLang="es-ES"/>
          </a:p>
          <a:p>
            <a:r>
              <a:rPr lang="en-US" altLang="es-ES"/>
              <a:t>postura;</a:t>
            </a:r>
            <a:endParaRPr lang="en-US" altLang="es-ES"/>
          </a:p>
          <a:p>
            <a:r>
              <a:rPr lang="en-US" altLang="es-ES"/>
              <a:t>levantamiento de cargas;</a:t>
            </a:r>
            <a:endParaRPr lang="en-US" altLang="es-ES"/>
          </a:p>
          <a:p>
            <a:r>
              <a:rPr lang="en-US" altLang="es-ES"/>
              <a:t>carrera;</a:t>
            </a:r>
            <a:endParaRPr lang="en-US" altLang="es-ES"/>
          </a:p>
          <a:p>
            <a:r>
              <a:rPr lang="en-US" altLang="es-ES"/>
              <a:t>saltos;</a:t>
            </a:r>
            <a:endParaRPr lang="en-US" altLang="es-ES"/>
          </a:p>
          <a:p>
            <a:r>
              <a:rPr lang="en-US" altLang="es-ES"/>
              <a:t>movimientos de flexi</a:t>
            </a:r>
            <a:r>
              <a:rPr lang="en-US" altLang="en-US"/>
              <a:t>ó</a:t>
            </a:r>
            <a:r>
              <a:rPr lang="en-US" altLang="es-ES"/>
              <a:t>n y extensi</a:t>
            </a:r>
            <a:r>
              <a:rPr lang="en-US" altLang="en-US"/>
              <a:t>ó</a:t>
            </a:r>
            <a:r>
              <a:rPr lang="en-US" altLang="es-ES"/>
              <a:t>n;</a:t>
            </a:r>
            <a:endParaRPr lang="en-US" altLang="es-ES"/>
          </a:p>
          <a:p>
            <a:r>
              <a:rPr lang="en-US" altLang="es-ES"/>
              <a:t>lesiones de columna.</a:t>
            </a:r>
            <a:endParaRPr lang="en-US" altLang="es-ES"/>
          </a:p>
        </p:txBody>
      </p:sp>
      <p:sp>
        <p:nvSpPr>
          <p:cNvPr id="3" name="Marcador de posición de texto 2"/>
          <p:cNvSpPr>
            <a:spLocks noGrp="1"/>
          </p:cNvSpPr>
          <p:nvPr>
            <p:ph type="body" idx="13"/>
          </p:nvPr>
        </p:nvSpPr>
        <p:spPr/>
        <p:txBody>
          <a:bodyPr/>
          <a:p>
            <a:r>
              <a:rPr lang="en-US" altLang="es-ES"/>
              <a:t>“La columna vertebral solamente sirve para sostener el cuerpo”.</a:t>
            </a:r>
            <a:endParaRPr lang="en-US" altLang="es-ES"/>
          </a:p>
          <a:p>
            <a:r>
              <a:rPr lang="en-US" altLang="es-ES"/>
              <a:t>¿Est</a:t>
            </a:r>
            <a:r>
              <a:rPr lang="en-US" altLang="en-US"/>
              <a:t>á</a:t>
            </a:r>
            <a:r>
              <a:rPr lang="en-US" altLang="es-ES"/>
              <a:t>s de acuerdo? Justifica anat</a:t>
            </a:r>
            <a:r>
              <a:rPr lang="en-US" altLang="en-US"/>
              <a:t>ó</a:t>
            </a:r>
            <a:r>
              <a:rPr lang="en-US" altLang="es-ES"/>
              <a:t>micamente tu respuesta.</a:t>
            </a:r>
            <a:endParaRPr lang="en-US" altLang="es-E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TORAX</a:t>
            </a:r>
            <a:endParaRPr lang="es-CO" dirty="0"/>
          </a:p>
        </p:txBody>
      </p:sp>
      <p:sp>
        <p:nvSpPr>
          <p:cNvPr id="3" name="Marcador de contenido 2"/>
          <p:cNvSpPr>
            <a:spLocks noGrp="1"/>
          </p:cNvSpPr>
          <p:nvPr>
            <p:ph sz="half" idx="1"/>
          </p:nvPr>
        </p:nvSpPr>
        <p:spPr/>
        <p:txBody>
          <a:bodyPr/>
          <a:lstStyle/>
          <a:p>
            <a:r>
              <a:rPr lang="es-ES" b="1" dirty="0" smtClean="0"/>
              <a:t>ESTERNON</a:t>
            </a:r>
            <a:endParaRPr lang="es-ES" b="1" dirty="0" smtClean="0"/>
          </a:p>
          <a:p>
            <a:endParaRPr lang="es-CO" b="1" dirty="0"/>
          </a:p>
        </p:txBody>
      </p:sp>
      <p:pic>
        <p:nvPicPr>
          <p:cNvPr id="5" name="Marcador de contenido 4"/>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253656" y="1825625"/>
            <a:ext cx="4340772" cy="4217823"/>
          </a:xfrm>
        </p:spPr>
      </p:pic>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035" y="2259723"/>
            <a:ext cx="4393324" cy="3689131"/>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COSTILLAS</a:t>
            </a:r>
            <a:endParaRPr lang="es-CO" dirty="0"/>
          </a:p>
        </p:txBody>
      </p:sp>
      <p:sp>
        <p:nvSpPr>
          <p:cNvPr id="3" name="Marcador de contenido 2"/>
          <p:cNvSpPr>
            <a:spLocks noGrp="1"/>
          </p:cNvSpPr>
          <p:nvPr>
            <p:ph sz="half" idx="1"/>
          </p:nvPr>
        </p:nvSpPr>
        <p:spPr/>
        <p:txBody>
          <a:bodyPr>
            <a:normAutofit fontScale="77500" lnSpcReduction="20000"/>
          </a:bodyPr>
          <a:lstStyle/>
          <a:p>
            <a:r>
              <a:rPr lang="es-ES" b="1" dirty="0" smtClean="0"/>
              <a:t>COSTILLAS VERDADERAS</a:t>
            </a:r>
            <a:endParaRPr lang="es-ES" b="1" dirty="0" smtClean="0"/>
          </a:p>
          <a:p>
            <a:pPr marL="0" indent="0" algn="just">
              <a:buNone/>
            </a:pPr>
            <a:r>
              <a:rPr lang="es-ES" dirty="0" smtClean="0"/>
              <a:t>Primeros </a:t>
            </a:r>
            <a:r>
              <a:rPr lang="es-ES" dirty="0"/>
              <a:t>ocho pares, que son los que articulan con el esternón mediante un cartílago. </a:t>
            </a:r>
            <a:endParaRPr lang="es-ES" dirty="0" smtClean="0"/>
          </a:p>
          <a:p>
            <a:pPr marL="0" indent="0" algn="just">
              <a:buNone/>
            </a:pPr>
            <a:r>
              <a:rPr lang="es-ES" dirty="0" smtClean="0"/>
              <a:t>Los </a:t>
            </a:r>
            <a:r>
              <a:rPr lang="es-ES" dirty="0"/>
              <a:t>pares 9 y 10 también tienen un cartílago en su extremo anterior, pero éste no articula con el esternón, sino que lo hace con el cartílago costal de costilla inmediata superior. </a:t>
            </a:r>
            <a:endParaRPr lang="es-ES" dirty="0" smtClean="0"/>
          </a:p>
          <a:p>
            <a:pPr marL="0" indent="0" algn="just">
              <a:buNone/>
            </a:pPr>
            <a:r>
              <a:rPr lang="es-ES" dirty="0" smtClean="0"/>
              <a:t>Los </a:t>
            </a:r>
            <a:r>
              <a:rPr lang="es-ES" dirty="0"/>
              <a:t> extremos anteriores de los últimos dos pares  se insertan directamente en la musculatura de la pared abdominal</a:t>
            </a:r>
            <a:r>
              <a:rPr lang="es-ES" dirty="0" smtClean="0"/>
              <a:t>.</a:t>
            </a:r>
            <a:endParaRPr lang="es-ES" dirty="0" smtClean="0"/>
          </a:p>
          <a:p>
            <a:pPr marL="0" indent="0" algn="just">
              <a:buNone/>
            </a:pPr>
            <a:r>
              <a:rPr lang="es-ES" dirty="0" smtClean="0"/>
              <a:t>Las </a:t>
            </a:r>
            <a:r>
              <a:rPr lang="es-ES" dirty="0"/>
              <a:t>costillas verdaderas articulan mediante un cartílago hialino, con el esternón.</a:t>
            </a:r>
            <a:endParaRPr lang="es-CO" dirty="0"/>
          </a:p>
        </p:txBody>
      </p:sp>
      <p:pic>
        <p:nvPicPr>
          <p:cNvPr id="7" name="Marcador de contenido 6"/>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2060029"/>
            <a:ext cx="5181600" cy="3880030"/>
          </a:xfr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COSTILLAS</a:t>
            </a:r>
            <a:endParaRPr lang="es-CO" dirty="0"/>
          </a:p>
        </p:txBody>
      </p:sp>
      <p:sp>
        <p:nvSpPr>
          <p:cNvPr id="3" name="Marcador de contenido 2"/>
          <p:cNvSpPr>
            <a:spLocks noGrp="1"/>
          </p:cNvSpPr>
          <p:nvPr>
            <p:ph sz="half" idx="1"/>
          </p:nvPr>
        </p:nvSpPr>
        <p:spPr/>
        <p:txBody>
          <a:bodyPr>
            <a:normAutofit fontScale="62500" lnSpcReduction="20000"/>
          </a:bodyPr>
          <a:lstStyle/>
          <a:p>
            <a:pPr marL="0" indent="0">
              <a:buNone/>
            </a:pPr>
            <a:endParaRPr lang="es-ES" dirty="0"/>
          </a:p>
          <a:p>
            <a:pPr marL="0" indent="0" algn="just">
              <a:buNone/>
            </a:pPr>
            <a:r>
              <a:rPr lang="es-ES" b="1" dirty="0" smtClean="0"/>
              <a:t>TIPICAS </a:t>
            </a:r>
            <a:r>
              <a:rPr lang="es-ES" dirty="0"/>
              <a:t>las que forman los pares del tercero al noveno (éste último par es costilla falsa)</a:t>
            </a:r>
            <a:endParaRPr lang="es-ES" dirty="0"/>
          </a:p>
          <a:p>
            <a:pPr algn="just" fontAlgn="base"/>
            <a:r>
              <a:rPr lang="es-ES" dirty="0"/>
              <a:t>Las costillas verdaderas, típicas, tienen en su parte anterior, un ensanchamiento, llamado cabeza, que articula con la zona lateral de dos vértebras de la columna. Cerca de la cabeza, se encuentra una protuberancia llamada tubérculo, que articula con la apófisis transversa de la vértebra correspondiente.</a:t>
            </a:r>
            <a:endParaRPr lang="es-ES" dirty="0"/>
          </a:p>
          <a:p>
            <a:pPr algn="just" fontAlgn="base"/>
            <a:r>
              <a:rPr lang="es-ES" dirty="0"/>
              <a:t>La cabeza de cada costilla típica, articula con una depresión (llamada </a:t>
            </a:r>
            <a:r>
              <a:rPr lang="es-ES" dirty="0" err="1"/>
              <a:t>semifosita</a:t>
            </a:r>
            <a:r>
              <a:rPr lang="es-ES" dirty="0"/>
              <a:t>) en la pared lateral de dos vértebras. La cresta de la cabeza costal también articula con el disco intervertebral, uniéndose a éste por un ligamento que se encuentra dentro de la propia articulación. Cada una de estas articulaciones está protegida por una cápsula articular.</a:t>
            </a:r>
            <a:endParaRPr lang="es-ES" dirty="0"/>
          </a:p>
          <a:p>
            <a:pPr algn="just"/>
            <a:endParaRPr lang="es-ES" dirty="0"/>
          </a:p>
          <a:p>
            <a:endParaRPr lang="es-CO" dirty="0"/>
          </a:p>
        </p:txBody>
      </p:sp>
      <p:sp>
        <p:nvSpPr>
          <p:cNvPr id="4" name="Marcador de contenido 3"/>
          <p:cNvSpPr>
            <a:spLocks noGrp="1"/>
          </p:cNvSpPr>
          <p:nvPr>
            <p:ph sz="half" idx="2"/>
          </p:nvPr>
        </p:nvSpPr>
        <p:spPr/>
        <p:txBody>
          <a:bodyPr>
            <a:normAutofit fontScale="62500" lnSpcReduction="20000"/>
          </a:bodyPr>
          <a:lstStyle/>
          <a:p>
            <a:pPr algn="just" fontAlgn="base"/>
            <a:r>
              <a:rPr lang="es-ES" dirty="0"/>
              <a:t>El tubérculo de las costillas típicas articula con una fosita ubicada en la apófisis transversa de la vértebra que corresponda. Existen varios ligamentos que refuerzan esta articulación. Uno se posiciona lateralmente, desde el tubérculo hacia el extremo de la apófisis. Otro ligamento une la cresta del cuello costal con la apófisis transversa de la vértebra siguiente superior. Queda un espacio entre éste ligamento y la columna vertebral, donde pasan nervios y arterias.</a:t>
            </a:r>
            <a:endParaRPr lang="es-ES" dirty="0"/>
          </a:p>
          <a:p>
            <a:pPr marL="0" indent="0" algn="just">
              <a:buNone/>
            </a:pPr>
            <a:br>
              <a:rPr lang="es-ES" dirty="0"/>
            </a:br>
            <a:endParaRPr lang="es-ES" dirty="0"/>
          </a:p>
          <a:p>
            <a:pPr algn="just"/>
            <a:endParaRPr lang="es-ES" dirty="0" smtClean="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COSTILLAS</a:t>
            </a:r>
            <a:endParaRPr lang="es-CO" dirty="0"/>
          </a:p>
        </p:txBody>
      </p:sp>
      <p:pic>
        <p:nvPicPr>
          <p:cNvPr id="5" name="Marcador de contenido 4"/>
          <p:cNvPicPr>
            <a:picLocks noGrp="1" noChangeAspect="1"/>
          </p:cNvPicPr>
          <p:nvPr>
            <p:ph sz="half" idx="1"/>
          </p:nvPr>
        </p:nvPicPr>
        <p:blipFill>
          <a:blip r:embed="rId1">
            <a:extLst>
              <a:ext uri="{28A0092B-C50C-407E-A947-70E740481C1C}">
                <a14:useLocalDpi xmlns:a14="http://schemas.microsoft.com/office/drawing/2010/main" val="0"/>
              </a:ext>
            </a:extLst>
          </a:blip>
          <a:stretch>
            <a:fillRect/>
          </a:stretch>
        </p:blipFill>
        <p:spPr>
          <a:xfrm>
            <a:off x="838200" y="1629104"/>
            <a:ext cx="10407869" cy="4547860"/>
          </a:xfr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COSTILLAS</a:t>
            </a:r>
            <a:endParaRPr lang="es-CO" dirty="0"/>
          </a:p>
        </p:txBody>
      </p:sp>
      <p:sp>
        <p:nvSpPr>
          <p:cNvPr id="3" name="Marcador de contenido 2"/>
          <p:cNvSpPr>
            <a:spLocks noGrp="1"/>
          </p:cNvSpPr>
          <p:nvPr>
            <p:ph sz="half" idx="1"/>
          </p:nvPr>
        </p:nvSpPr>
        <p:spPr/>
        <p:txBody>
          <a:bodyPr>
            <a:normAutofit fontScale="85000" lnSpcReduction="10000"/>
          </a:bodyPr>
          <a:lstStyle/>
          <a:p>
            <a:r>
              <a:rPr lang="es-ES" dirty="0" smtClean="0"/>
              <a:t> </a:t>
            </a:r>
            <a:r>
              <a:rPr lang="es-ES" dirty="0" err="1"/>
              <a:t>Atipicas</a:t>
            </a:r>
            <a:endParaRPr lang="es-ES" dirty="0"/>
          </a:p>
          <a:p>
            <a:pPr marL="0" indent="0" algn="just">
              <a:buNone/>
            </a:pPr>
            <a:r>
              <a:rPr lang="es-ES" dirty="0"/>
              <a:t>El primer par de costillas se considera atípico porque estas costillas son más cortas, más anchas y con mayor curvatura que las demás. </a:t>
            </a:r>
            <a:endParaRPr lang="es-ES" dirty="0"/>
          </a:p>
          <a:p>
            <a:pPr marL="0" indent="0" algn="just">
              <a:buNone/>
            </a:pPr>
            <a:r>
              <a:rPr lang="es-ES" dirty="0"/>
              <a:t>Además, la posición de estas costillas también difiere de las otras, ya que se encuentran en posición horizontal. Sus bordes se posicionan interna y externamente y tienen una cara superior y otra inferior. </a:t>
            </a:r>
            <a:endParaRPr lang="es-ES" dirty="0"/>
          </a:p>
          <a:p>
            <a:pPr marL="0" indent="0" algn="just">
              <a:buNone/>
            </a:pPr>
            <a:r>
              <a:rPr lang="es-ES" dirty="0"/>
              <a:t>El segundo par de costillas es similar al primero, pero más largo.</a:t>
            </a:r>
            <a:endParaRPr lang="es-CO" dirty="0"/>
          </a:p>
          <a:p>
            <a:endParaRPr lang="es-CO" dirty="0"/>
          </a:p>
        </p:txBody>
      </p:sp>
      <p:pic>
        <p:nvPicPr>
          <p:cNvPr id="5" name="Marcador de contenido 4"/>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1825625"/>
            <a:ext cx="5181600" cy="4024463"/>
          </a:xfr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half" idx="1"/>
          </p:nvPr>
        </p:nvSpPr>
        <p:spPr>
          <a:xfrm>
            <a:off x="838200" y="940526"/>
            <a:ext cx="5181600" cy="5236437"/>
          </a:xfrm>
        </p:spPr>
        <p:txBody>
          <a:bodyPr>
            <a:normAutofit/>
          </a:bodyPr>
          <a:lstStyle/>
          <a:p>
            <a:pPr algn="just"/>
            <a:r>
              <a:rPr lang="es-ES" dirty="0"/>
              <a:t>Dicho en pocas palabras, las costillas verdaderas son los primeros ocho pares, y las falsas los pares del nueve al doce. Son típicas las costillas del tercer par al noveno, y  se consideran atípicas los pares primero, segundo, décimo, undécimo y duodécimo.</a:t>
            </a:r>
            <a:endParaRPr lang="es-CO" dirty="0"/>
          </a:p>
        </p:txBody>
      </p:sp>
      <p:pic>
        <p:nvPicPr>
          <p:cNvPr id="5" name="Marcador de contenido 4"/>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662056" y="1825625"/>
            <a:ext cx="4691743" cy="4351338"/>
          </a:xfr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ESQUELETO AXIAL</a:t>
            </a:r>
            <a:endParaRPr lang="es-CO" dirty="0"/>
          </a:p>
        </p:txBody>
      </p:sp>
      <p:sp>
        <p:nvSpPr>
          <p:cNvPr id="3" name="Marcador de contenido 2"/>
          <p:cNvSpPr>
            <a:spLocks noGrp="1"/>
          </p:cNvSpPr>
          <p:nvPr>
            <p:ph sz="half" idx="1"/>
          </p:nvPr>
        </p:nvSpPr>
        <p:spPr/>
        <p:txBody>
          <a:bodyPr/>
          <a:lstStyle/>
          <a:p>
            <a:r>
              <a:rPr lang="es-ES" sz="3200" b="1" dirty="0" smtClean="0"/>
              <a:t>CABEZA</a:t>
            </a:r>
            <a:endParaRPr lang="es-ES" sz="3200" b="1" dirty="0" smtClean="0"/>
          </a:p>
          <a:p>
            <a:pPr marL="0" indent="0">
              <a:buNone/>
            </a:pPr>
            <a:r>
              <a:rPr lang="es-ES" dirty="0" smtClean="0"/>
              <a:t>Cráneo 8</a:t>
            </a:r>
            <a:endParaRPr lang="es-ES" dirty="0" smtClean="0"/>
          </a:p>
          <a:p>
            <a:pPr marL="0" indent="0">
              <a:buNone/>
            </a:pPr>
            <a:r>
              <a:rPr lang="es-ES" dirty="0" smtClean="0"/>
              <a:t>Cara 14</a:t>
            </a:r>
            <a:endParaRPr lang="es-ES" dirty="0" smtClean="0"/>
          </a:p>
          <a:p>
            <a:r>
              <a:rPr lang="es-ES" sz="3200" b="1" dirty="0" smtClean="0"/>
              <a:t>HIOIDES 1</a:t>
            </a:r>
            <a:endParaRPr lang="es-ES" sz="3200" b="1" dirty="0" smtClean="0"/>
          </a:p>
          <a:p>
            <a:r>
              <a:rPr lang="es-ES" sz="3200" b="1" dirty="0" smtClean="0"/>
              <a:t>HUESESILLOS AUDITIVOS </a:t>
            </a:r>
            <a:r>
              <a:rPr lang="es-ES" b="1" dirty="0" smtClean="0"/>
              <a:t>6</a:t>
            </a:r>
            <a:endParaRPr lang="es-ES" b="1" dirty="0" smtClean="0"/>
          </a:p>
        </p:txBody>
      </p:sp>
      <p:sp>
        <p:nvSpPr>
          <p:cNvPr id="4" name="Marcador de contenido 3"/>
          <p:cNvSpPr>
            <a:spLocks noGrp="1"/>
          </p:cNvSpPr>
          <p:nvPr>
            <p:ph sz="half" idx="2"/>
          </p:nvPr>
        </p:nvSpPr>
        <p:spPr/>
        <p:txBody>
          <a:bodyPr/>
          <a:lstStyle/>
          <a:p>
            <a:r>
              <a:rPr lang="es-ES" sz="3200" b="1" dirty="0" smtClean="0"/>
              <a:t>COLUMNA </a:t>
            </a:r>
            <a:r>
              <a:rPr lang="es-ES" sz="3200" b="1" dirty="0"/>
              <a:t>VERTEBRAL </a:t>
            </a:r>
            <a:r>
              <a:rPr lang="es-ES" sz="3200" b="1" dirty="0" smtClean="0"/>
              <a:t>33</a:t>
            </a:r>
            <a:endParaRPr lang="es-ES" sz="3200" b="1" dirty="0" smtClean="0"/>
          </a:p>
          <a:p>
            <a:r>
              <a:rPr lang="es-ES" sz="3200" b="1" dirty="0" smtClean="0"/>
              <a:t>TORAX</a:t>
            </a:r>
            <a:endParaRPr lang="es-ES" sz="3200" b="1" dirty="0"/>
          </a:p>
          <a:p>
            <a:pPr marL="0" indent="0">
              <a:buNone/>
            </a:pPr>
            <a:r>
              <a:rPr lang="es-ES" dirty="0" smtClean="0"/>
              <a:t>Esternón 1</a:t>
            </a:r>
            <a:endParaRPr lang="es-ES" dirty="0"/>
          </a:p>
          <a:p>
            <a:pPr marL="0" indent="0">
              <a:buNone/>
            </a:pPr>
            <a:r>
              <a:rPr lang="es-ES" dirty="0" smtClean="0"/>
              <a:t>Costillas 24</a:t>
            </a:r>
            <a:endParaRPr lang="es-CO" dirty="0"/>
          </a:p>
          <a:p>
            <a:r>
              <a:rPr lang="es-ES" sz="3600" b="1" dirty="0" smtClean="0"/>
              <a:t>TOTAL 87</a:t>
            </a:r>
            <a:endParaRPr lang="es-ES" sz="3600" b="1" dirty="0" smtClean="0"/>
          </a:p>
          <a:p>
            <a:endParaRPr lang="es-CO" sz="3600" b="1"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Marcador de posición de contenido 2"/>
          <p:cNvSpPr>
            <a:spLocks noGrp="1"/>
          </p:cNvSpPr>
          <p:nvPr>
            <p:ph sz="half" idx="1"/>
          </p:nvPr>
        </p:nvSpPr>
        <p:spPr>
          <a:xfrm>
            <a:off x="838200" y="602615"/>
            <a:ext cx="10259060" cy="5574665"/>
          </a:xfrm>
        </p:spPr>
        <p:txBody>
          <a:bodyPr>
            <a:normAutofit fontScale="25000"/>
          </a:bodyPr>
          <a:p>
            <a:r>
              <a:rPr lang="en-US" altLang="es-ES"/>
              <a:t>9. Actividad pr</a:t>
            </a:r>
            <a:r>
              <a:rPr lang="en-US" altLang="en-US"/>
              <a:t>á</a:t>
            </a:r>
            <a:r>
              <a:rPr lang="en-US" altLang="es-ES"/>
              <a:t>ctica: "Mapa corporal </a:t>
            </a:r>
            <a:r>
              <a:rPr lang="en-US" altLang="en-US"/>
              <a:t>ó</a:t>
            </a:r>
            <a:r>
              <a:rPr lang="en-US" altLang="es-ES"/>
              <a:t>seo"</a:t>
            </a:r>
            <a:endParaRPr lang="en-US" altLang="es-ES"/>
          </a:p>
          <a:p>
            <a:r>
              <a:rPr lang="en-US" altLang="es-ES" sz="6400"/>
              <a:t>Tiempo</a:t>
            </a:r>
            <a:endParaRPr lang="en-US" altLang="es-ES" sz="6400"/>
          </a:p>
          <a:p>
            <a:r>
              <a:rPr lang="en-US" altLang="es-ES" sz="6400"/>
              <a:t>20–25 minutos.</a:t>
            </a:r>
            <a:endParaRPr lang="en-US" altLang="es-ES" sz="6400"/>
          </a:p>
          <a:p>
            <a:r>
              <a:rPr lang="en-US" altLang="es-ES" sz="6400"/>
              <a:t>Organizaci</a:t>
            </a:r>
            <a:r>
              <a:rPr lang="en-US" altLang="en-US" sz="6400"/>
              <a:t>ó</a:t>
            </a:r>
            <a:r>
              <a:rPr lang="en-US" altLang="es-ES" sz="6400"/>
              <a:t>n</a:t>
            </a:r>
            <a:endParaRPr lang="en-US" altLang="es-ES" sz="6400"/>
          </a:p>
          <a:p>
            <a:r>
              <a:rPr lang="en-US" altLang="es-ES" sz="6400"/>
              <a:t>Grupos de 3–4 estudiantes.</a:t>
            </a:r>
            <a:endParaRPr lang="en-US" altLang="es-ES" sz="6400"/>
          </a:p>
          <a:p>
            <a:r>
              <a:rPr lang="en-US" altLang="es-ES" sz="6400"/>
              <a:t>Entrega a cada grupo una silueta del cuerpo humano.</a:t>
            </a:r>
            <a:endParaRPr lang="en-US" altLang="es-ES" sz="6400"/>
          </a:p>
          <a:p>
            <a:r>
              <a:rPr lang="en-US" altLang="es-ES" sz="6400"/>
              <a:t>Los estudiantes deben:</a:t>
            </a:r>
            <a:endParaRPr lang="en-US" altLang="es-ES" sz="6400"/>
          </a:p>
          <a:p>
            <a:r>
              <a:rPr lang="en-US" altLang="es-ES" sz="6400"/>
              <a:t>Identificar el esqueleto axial.</a:t>
            </a:r>
            <a:endParaRPr lang="en-US" altLang="es-ES" sz="6400"/>
          </a:p>
          <a:p>
            <a:r>
              <a:rPr lang="en-US" altLang="es-ES" sz="6400"/>
              <a:t>Identificar el esqueleto apendicular.</a:t>
            </a:r>
            <a:endParaRPr lang="en-US" altLang="es-ES" sz="6400"/>
          </a:p>
          <a:p>
            <a:r>
              <a:rPr lang="en-US" altLang="es-ES" sz="6400"/>
              <a:t>Ubicar al menos 20 huesos.</a:t>
            </a:r>
            <a:endParaRPr lang="en-US" altLang="es-ES" sz="6400"/>
          </a:p>
          <a:p>
            <a:r>
              <a:rPr lang="en-US" altLang="es-ES" sz="6400"/>
              <a:t>Utilizar m</a:t>
            </a:r>
            <a:r>
              <a:rPr lang="en-US" altLang="en-US" sz="6400"/>
              <a:t>í</a:t>
            </a:r>
            <a:r>
              <a:rPr lang="en-US" altLang="es-ES" sz="6400"/>
              <a:t>nimo 10 t</a:t>
            </a:r>
            <a:r>
              <a:rPr lang="en-US" altLang="en-US" sz="6400"/>
              <a:t>é</a:t>
            </a:r>
            <a:r>
              <a:rPr lang="en-US" altLang="es-ES" sz="6400"/>
              <a:t>rminos anat</a:t>
            </a:r>
            <a:r>
              <a:rPr lang="en-US" altLang="en-US" sz="6400"/>
              <a:t>ó</a:t>
            </a:r>
            <a:r>
              <a:rPr lang="en-US" altLang="es-ES" sz="6400"/>
              <a:t>micos de ubicaci</a:t>
            </a:r>
            <a:r>
              <a:rPr lang="en-US" altLang="en-US" sz="6400"/>
              <a:t>ó</a:t>
            </a:r>
            <a:r>
              <a:rPr lang="en-US" altLang="es-ES" sz="6400"/>
              <a:t>n.</a:t>
            </a:r>
            <a:endParaRPr lang="en-US" altLang="es-ES" sz="6400"/>
          </a:p>
          <a:p>
            <a:r>
              <a:rPr lang="en-US" altLang="es-ES" sz="6400"/>
              <a:t>Se</a:t>
            </a:r>
            <a:r>
              <a:rPr lang="en-US" altLang="en-US" sz="6400"/>
              <a:t>ñ</a:t>
            </a:r>
            <a:r>
              <a:rPr lang="en-US" altLang="es-ES" sz="6400"/>
              <a:t>alar tres regiones corporales.</a:t>
            </a:r>
            <a:endParaRPr lang="en-US" altLang="es-ES" sz="6400"/>
          </a:p>
          <a:p>
            <a:r>
              <a:rPr lang="en-US" altLang="es-ES" sz="6400"/>
              <a:t>Identificar qu</a:t>
            </a:r>
            <a:r>
              <a:rPr lang="en-US" altLang="en-US" sz="6400"/>
              <a:t>é </a:t>
            </a:r>
            <a:r>
              <a:rPr lang="en-US" altLang="es-ES" sz="6400"/>
              <a:t>estructuras </a:t>
            </a:r>
            <a:r>
              <a:rPr lang="en-US" altLang="en-US" sz="6400"/>
              <a:t>ó</a:t>
            </a:r>
            <a:r>
              <a:rPr lang="en-US" altLang="es-ES" sz="6400"/>
              <a:t>seas est</a:t>
            </a:r>
            <a:r>
              <a:rPr lang="en-US" altLang="en-US" sz="6400"/>
              <a:t>á</a:t>
            </a:r>
            <a:r>
              <a:rPr lang="en-US" altLang="es-ES" sz="6400"/>
              <a:t>n relacionadas con alguna cavidad corporal.</a:t>
            </a:r>
            <a:endParaRPr lang="en-US" altLang="es-ES" sz="6400"/>
          </a:p>
          <a:p>
            <a:r>
              <a:rPr lang="en-US" altLang="es-ES" sz="6400"/>
              <a:t>Producto</a:t>
            </a:r>
            <a:endParaRPr lang="en-US" altLang="es-ES" sz="6400"/>
          </a:p>
          <a:p>
            <a:endParaRPr lang="en-US" altLang="es-ES" sz="6400"/>
          </a:p>
          <a:p>
            <a:r>
              <a:rPr lang="en-US" altLang="es-ES" sz="6400"/>
              <a:t>Un mapa anat</a:t>
            </a:r>
            <a:r>
              <a:rPr lang="en-US" altLang="en-US" sz="6400"/>
              <a:t>ó</a:t>
            </a:r>
            <a:r>
              <a:rPr lang="en-US" altLang="es-ES" sz="6400"/>
              <a:t>mico del esqueleto humano, elaborado f</a:t>
            </a:r>
            <a:r>
              <a:rPr lang="en-US" altLang="en-US" sz="6400"/>
              <a:t>í</a:t>
            </a:r>
            <a:r>
              <a:rPr lang="en-US" altLang="es-ES" sz="6400"/>
              <a:t>sicamente o mediante una herramienta digital.</a:t>
            </a:r>
            <a:endParaRPr lang="en-US" altLang="es-ES" sz="640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34676</Words>
  <Application>WPS Presentation</Application>
  <PresentationFormat>Panorámica</PresentationFormat>
  <Paragraphs>465</Paragraphs>
  <Slides>91</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91</vt:i4>
      </vt:variant>
    </vt:vector>
  </HeadingPairs>
  <TitlesOfParts>
    <vt:vector size="103" baseType="lpstr">
      <vt:lpstr>Arial</vt:lpstr>
      <vt:lpstr>SimSun</vt:lpstr>
      <vt:lpstr>Wingdings</vt:lpstr>
      <vt:lpstr>Calibri Light</vt:lpstr>
      <vt:lpstr>Microsoft YaHei</vt:lpstr>
      <vt:lpstr>Arial Unicode MS</vt:lpstr>
      <vt:lpstr>Calibri</vt:lpstr>
      <vt:lpstr>Roboto</vt:lpstr>
      <vt:lpstr>Times New Roman</vt:lpstr>
      <vt:lpstr>Montserrat</vt:lpstr>
      <vt:lpstr>Segoe Print</vt:lpstr>
      <vt:lpstr>Tema de Office</vt:lpstr>
      <vt:lpstr>HUESOS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TORAX</vt:lpstr>
      <vt:lpstr>COSTILLAS</vt:lpstr>
      <vt:lpstr>COSTILLAS</vt:lpstr>
      <vt:lpstr>COSTILLAS</vt:lpstr>
      <vt:lpstr>COSTILLAS</vt:lpstr>
      <vt:lpstr>PowerPoint 演示文稿</vt:lpstr>
      <vt:lpstr>ESQUELETO AXIAL</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Ana Maria Moreno Ordosgoitia</dc:creator>
  <cp:lastModifiedBy>rosana.martinez</cp:lastModifiedBy>
  <cp:revision>46</cp:revision>
  <dcterms:created xsi:type="dcterms:W3CDTF">2022-01-26T20:40:00Z</dcterms:created>
  <dcterms:modified xsi:type="dcterms:W3CDTF">2026-08-29T12:37:09Z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3082-12.1.0.28485</vt:lpwstr>
  </property>
  <property fmtid="{D5CDD505-2E9C-101B-9397-08002B2CF9AE}" pid="3" name="ICV">
    <vt:lpwstr>F10D1C4DA1CD48A3A42A5D759FEEA659_12</vt:lpwstr>
  </property>
</Properties>
</file>